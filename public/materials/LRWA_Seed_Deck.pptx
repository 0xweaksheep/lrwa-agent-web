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cd65b2b2eb4c56" /><Relationship Type="http://schemas.openxmlformats.org/officeDocument/2006/relationships/extended-properties" Target="/docProps/app.xml" Id="R6967d83c52f0447a" /><Relationship Type="http://schemas.openxmlformats.org/officeDocument/2006/relationships/officeDocument" Target="/ppt/presentation.xml" Id="Rc204d2b86acc48a1" /></Relationships>
</file>

<file path=ppt/presentation.xml><?xml version="1.0" encoding="utf-8"?>
<p:presentation xmlns:p="http://schemas.openxmlformats.org/presentationml/2006/main">
  <p:sldMasterIdLst>
    <p:sldMasterId xmlns:r="http://schemas.openxmlformats.org/officeDocument/2006/relationships" id="2147483648" r:id="Rf6c49d6f4bc94110"/>
  </p:sldMasterIdLst>
  <p:notesMasterIdLst>
    <p:notesMasterId xmlns:r="http://schemas.openxmlformats.org/officeDocument/2006/relationships" r:id="R292172a5e22e458f"/>
  </p:notesMasterIdLst>
  <p:sldIdLst>
    <p:sldId xmlns:r="http://schemas.openxmlformats.org/officeDocument/2006/relationships" id="256" r:id="R0892eb5c6bb94e51"/>
    <p:sldId xmlns:r="http://schemas.openxmlformats.org/officeDocument/2006/relationships" id="257" r:id="R01b787d52992438b"/>
    <p:sldId xmlns:r="http://schemas.openxmlformats.org/officeDocument/2006/relationships" id="258" r:id="R680c6c2645a6470a"/>
    <p:sldId xmlns:r="http://schemas.openxmlformats.org/officeDocument/2006/relationships" id="259" r:id="R6439be000c54466a"/>
    <p:sldId xmlns:r="http://schemas.openxmlformats.org/officeDocument/2006/relationships" id="260" r:id="R05ca9dc5267e455c"/>
    <p:sldId xmlns:r="http://schemas.openxmlformats.org/officeDocument/2006/relationships" id="261" r:id="R137504ffabca4d5f"/>
    <p:sldId xmlns:r="http://schemas.openxmlformats.org/officeDocument/2006/relationships" id="262" r:id="Re6bdac126bb54b20"/>
    <p:sldId xmlns:r="http://schemas.openxmlformats.org/officeDocument/2006/relationships" id="263" r:id="R478c6e79d54948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6b0a32fed74475" /><Relationship Type="http://schemas.openxmlformats.org/officeDocument/2006/relationships/slideMaster" Target="/ppt/slideMasters/slideMaster1.xml" Id="Rf6c49d6f4bc94110" /><Relationship Type="http://schemas.openxmlformats.org/officeDocument/2006/relationships/notesMaster" Target="/ppt/notesMasters/notesMaster1.xml" Id="R292172a5e22e458f" /><Relationship Type="http://schemas.openxmlformats.org/officeDocument/2006/relationships/presProps" Target="/ppt/presProps.xml" Id="Re396eaf578a641c3" /><Relationship Type="http://schemas.openxmlformats.org/officeDocument/2006/relationships/tableStyles" Target="/ppt/tableStyles.xml" Id="Rc4e15857cb784112" /><Relationship Type="http://schemas.openxmlformats.org/officeDocument/2006/relationships/slide" Target="/ppt/slides/slide1.xml" Id="R0892eb5c6bb94e51" /><Relationship Type="http://schemas.openxmlformats.org/officeDocument/2006/relationships/slide" Target="/ppt/slides/slide2.xml" Id="R01b787d52992438b" /><Relationship Type="http://schemas.openxmlformats.org/officeDocument/2006/relationships/slide" Target="/ppt/slides/slide3.xml" Id="R680c6c2645a6470a" /><Relationship Type="http://schemas.openxmlformats.org/officeDocument/2006/relationships/slide" Target="/ppt/slides/slide4.xml" Id="R6439be000c54466a" /><Relationship Type="http://schemas.openxmlformats.org/officeDocument/2006/relationships/slide" Target="/ppt/slides/slide5.xml" Id="R05ca9dc5267e455c" /><Relationship Type="http://schemas.openxmlformats.org/officeDocument/2006/relationships/slide" Target="/ppt/slides/slide6.xml" Id="R137504ffabca4d5f" /><Relationship Type="http://schemas.openxmlformats.org/officeDocument/2006/relationships/slide" Target="/ppt/slides/slide7.xml" Id="Re6bdac126bb54b20" /><Relationship Type="http://schemas.openxmlformats.org/officeDocument/2006/relationships/slide" Target="/ppt/slides/slide8.xml" Id="R478c6e79d54948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3bf69d77aa40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f512e03a304a65" /><Relationship Type="http://schemas.openxmlformats.org/officeDocument/2006/relationships/notesMaster" Target="/ppt/notesMasters/notesMaster1.xml" Id="R4a2fb47e2c3c46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c6c0ac34bc4ff7" /><Relationship Type="http://schemas.openxmlformats.org/officeDocument/2006/relationships/notesMaster" Target="/ppt/notesMasters/notesMaster1.xml" Id="Re04c247661ab41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26abb2203c48e2" /><Relationship Type="http://schemas.openxmlformats.org/officeDocument/2006/relationships/notesMaster" Target="/ppt/notesMasters/notesMaster1.xml" Id="R65a97c07407549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4314dacb984183" /><Relationship Type="http://schemas.openxmlformats.org/officeDocument/2006/relationships/notesMaster" Target="/ppt/notesMasters/notesMaster1.xml" Id="Rcfdb3fe7ad7644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e133510b504c00" /><Relationship Type="http://schemas.openxmlformats.org/officeDocument/2006/relationships/notesMaster" Target="/ppt/notesMasters/notesMaster1.xml" Id="R83163bedeb2b4f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91072ddd344a41" /><Relationship Type="http://schemas.openxmlformats.org/officeDocument/2006/relationships/notesMaster" Target="/ppt/notesMasters/notesMaster1.xml" Id="R7cf4762c7bb94e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44186bf99b44ca" /><Relationship Type="http://schemas.openxmlformats.org/officeDocument/2006/relationships/notesMaster" Target="/ppt/notesMasters/notesMaster1.xml" Id="R51391ac438ee4b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9b961cad404725" /><Relationship Type="http://schemas.openxmlformats.org/officeDocument/2006/relationships/notesMaster" Target="/ppt/notesMasters/notesMaster1.xml" Id="R5e81e6b602e749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investment starts with a story and a set of numbers. LRWA is built for the moment when a decision maker asks whether the reality outside the data room supports that story. We turn a commercial claim into a governed verification mission executed by a coordinated fleet of agents.</a:t>
            </a:r>
          </a:p>
          <a:p xmlns:a="http://schemas.openxmlformats.org/drawingml/2006/main">
            <a:r>
              <a:t/>
            </a:r>
          </a:p>
          <a:p xmlns:a="http://schemas.openxmlformats.org/drawingml/2006/main">
            <a:r>
              <a:t>[Sources]</a:t>
            </a:r>
          </a:p>
          <a:p xmlns:a="http://schemas.openxmlformats.org/drawingml/2006/main">
            <a:r>
              <a:t>- Internal brand asset: lrwa-agent-web/public/og.png</a:t>
            </a:r>
          </a:p>
          <a:p xmlns:a="http://schemas.openxmlformats.org/drawingml/2006/main">
            <a:r>
              <a:t>- Product positioning: outputs/PITCH_DECK_OUTLINE.md</a:t>
            </a:r>
          </a:p>
          <a:p xmlns:a="http://schemas.openxmlformats.org/drawingml/2006/main">
            <a:r>
              <a:t>- Founder and financing details intentionally omitted from this public deck.</a:t>
            </a:r>
          </a:p>
          <a:p xmlns:a="http://schemas.openxmlformats.org/drawingml/2006/main">
            <a:r>
              <a:t>- User-provided LRWA brand asset: favicon.svg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financial model can test whether numbers are internally consistent. It cannot establish whether stores are operating, customers are buying, suppliers are replenishing, or field behavior matches management's narrative. Teams assemble those outside signals manually under deal pressure, and the reasoning is difficult to rerun when a new question appears.</a:t>
            </a:r>
          </a:p>
          <a:p xmlns:a="http://schemas.openxmlformats.org/drawingml/2006/main">
            <a:r>
              <a:t/>
            </a:r>
          </a:p>
          <a:p xmlns:a="http://schemas.openxmlformats.org/drawingml/2006/main">
            <a:r>
              <a:t>[Sources]</a:t>
            </a:r>
          </a:p>
          <a:p xmlns:a="http://schemas.openxmlformats.org/drawingml/2006/main">
            <a:r>
              <a:t>- Problem framing and claim discipline: outputs/PITCH_DECK_OUTLINE.md</a:t>
            </a:r>
          </a:p>
          <a:p xmlns:a="http://schemas.openxmlformats.org/drawingml/2006/main">
            <a:r>
              <a:t>- No market-size, time-saved, or cost-saved statistics are asserted.</a:t>
            </a:r>
          </a:p>
          <a:p xmlns:a="http://schemas.openxmlformats.org/drawingml/2006/main">
            <a:r>
              <a:t>- User-provided LRWA brand asset: favicon.svg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LRWA compiles four declared operating metrics into a planned aggregate quota of 1,024 parameterized probes across five logical evidence categories. The current synthetic demo produces five aggregate evidence receipts, one per category; it does not persist 1,024 raw observations, and the categories' statistical independence has not been established. The initial fixed scenario band is ¥1.72m to ¥2.14m with a heuristic policy score of 0.88. A separate unauthenticated UI/API interaction gate applies the preconfigured 20% corporate-order counterfactual; it is not identity-verified compliance approval. The fixed replay band is ¥2.12m to ¥2.72m with a heuristic policy score of 0.82. The result remains unsupported after the gap narrows from 42.3% to 27.9%.</a:t>
            </a:r>
          </a:p>
          <a:p xmlns:a="http://schemas.openxmlformats.org/drawingml/2006/main">
            <a:r>
              <a:t/>
            </a:r>
          </a:p>
          <a:p xmlns:a="http://schemas.openxmlformats.org/drawingml/2006/main">
            <a:r>
              <a:t>[Sources]</a:t>
            </a:r>
          </a:p>
          <a:p xmlns:a="http://schemas.openxmlformats.org/drawingml/2006/main">
            <a:r>
              <a:t>- Canonical metrics: outputs/PITCH_DECK_OUTLINE.md</a:t>
            </a:r>
          </a:p>
          <a:p xmlns:a="http://schemas.openxmlformats.org/drawingml/2006/main">
            <a:r>
              <a:t>- Working product screenshots: lrwa-agent-video/public/screens/plan.png, live-final.png, findings.png</a:t>
            </a:r>
          </a:p>
          <a:p xmlns:a="http://schemas.openxmlformats.org/drawingml/2006/main">
            <a:r>
              <a:t>- All displayed Morrow Coffee data is synthetic and illustrative.</a:t>
            </a:r>
          </a:p>
          <a:p xmlns:a="http://schemas.openxmlformats.org/drawingml/2006/main">
            <a:r>
              <a:t>- User-provided LRWA brand asset: favicon.svg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not the moat. The current demo maps a business claim into a declared aggregate sampling quota and preserves methodology and content hashes across five aggregate receipts. Five logical evidence categories feed the deterministic fixture; their statistical independence has not been established. The Skeptic presents a preconfigured missing-channel counterfactual, and a separate unauthenticated UI/API interaction starts the deterministic replay. Identity-verified approval remains a production requirement.</a:t>
            </a:r>
          </a:p>
          <a:p xmlns:a="http://schemas.openxmlformats.org/drawingml/2006/main">
            <a:r>
              <a:t/>
            </a:r>
          </a:p>
          <a:p xmlns:a="http://schemas.openxmlformats.org/drawingml/2006/main">
            <a:r>
              <a:t>[Sources]</a:t>
            </a:r>
          </a:p>
          <a:p xmlns:a="http://schemas.openxmlformats.org/drawingml/2006/main">
            <a:r>
              <a:t>- System description and five evidence categories: outputs/PITCH_DECK_OUTLINE.md</a:t>
            </a:r>
          </a:p>
          <a:p xmlns:a="http://schemas.openxmlformats.org/drawingml/2006/main">
            <a:r>
              <a:t>- Replay screenshot: lrwa-agent-video/public/screens/replay.png</a:t>
            </a:r>
          </a:p>
          <a:p xmlns:a="http://schemas.openxmlformats.org/drawingml/2006/main">
            <a:r>
              <a:t>- Backend behavior and audit events: lrwa-agent source repository.</a:t>
            </a:r>
          </a:p>
          <a:p xmlns:a="http://schemas.openxmlformats.org/drawingml/2006/main">
            <a:r>
              <a:t>- User-provided LRWA brand asset: favicon.svg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wedge is not a universal market-intelligence platform. It is one material operating claim in one deal, starting with location-based or omnichannel businesses. A fund can be the buyer for the first mission and the distribution channel into portfolio companies. This creates repeated questions and a path to recurring workflows without claiming customers or revenue before they exist.</a:t>
            </a:r>
          </a:p>
          <a:p xmlns:a="http://schemas.openxmlformats.org/drawingml/2006/main">
            <a:r>
              <a:t/>
            </a:r>
          </a:p>
          <a:p xmlns:a="http://schemas.openxmlformats.org/drawingml/2006/main">
            <a:r>
              <a:t>[Sources]</a:t>
            </a:r>
          </a:p>
          <a:p xmlns:a="http://schemas.openxmlformats.org/drawingml/2006/main">
            <a:r>
              <a:t>- Initial wedge and target milestones: outputs/PITCH_DECK_OUTLINE.md</a:t>
            </a:r>
          </a:p>
          <a:p xmlns:a="http://schemas.openxmlformats.org/drawingml/2006/main">
            <a:r>
              <a:t>- Action queue screenshot: lrwa-agent-video/public/screens/actions.png</a:t>
            </a:r>
          </a:p>
          <a:p xmlns:a="http://schemas.openxmlformats.org/drawingml/2006/main">
            <a:r>
              <a:t>- Design partner, paid mission, and portfolio expansion are go-to-market targets, not current traction.</a:t>
            </a:r>
          </a:p>
          <a:p xmlns:a="http://schemas.openxmlformats.org/drawingml/2006/main">
            <a:r>
              <a:t>- User-provided LRWA brand asset: favicon.svg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LRWA sits between a material claim and the next decision. Its unit of work is a verification mission with a declared policy, evidence lineage, counterevidence search, and a rerunnable result. Commercial verification infrastructure remains a positioning hypothesis until customers repeat the language.</a:t>
            </a:r>
          </a:p>
          <a:p xmlns:a="http://schemas.openxmlformats.org/drawingml/2006/main">
            <a:r>
              <a:t/>
            </a:r>
          </a:p>
          <a:p xmlns:a="http://schemas.openxmlformats.org/drawingml/2006/main">
            <a:r>
              <a:t>[Sources]</a:t>
            </a:r>
          </a:p>
          <a:p xmlns:a="http://schemas.openxmlformats.org/drawingml/2006/main">
            <a:r>
              <a:t>- Category framing and claim discipline: outputs/PITCH_DECK_OUTLINE.md</a:t>
            </a:r>
          </a:p>
          <a:p xmlns:a="http://schemas.openxmlformats.org/drawingml/2006/main">
            <a:r>
              <a:t>- Current LRWA workflow capability: lrwa-agent and lrwa-agent-web source repositories.</a:t>
            </a:r>
          </a:p>
          <a:p xmlns:a="http://schemas.openxmlformats.org/drawingml/2006/main">
            <a:r>
              <a:t>- No competitor exclusivity or market-size claim is asserted.</a:t>
            </a:r>
          </a:p>
          <a:p xmlns:a="http://schemas.openxmlformats.org/drawingml/2006/main">
            <a:r>
              <a:t>- User-provided LRWA brand asset: favicon.svg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begin with a high-value business-to-business mission where the buyer has a clear decision and an explicit budget. Repeated missions can become a portfolio subscription. Licensed data and authorized connectors increase coverage. The same claim-to-mission engine can later support a merchant deciding where to open, but that is an expansion path, not the initial product.</a:t>
            </a:r>
          </a:p>
          <a:p xmlns:a="http://schemas.openxmlformats.org/drawingml/2006/main">
            <a:r>
              <a:t/>
            </a:r>
          </a:p>
          <a:p xmlns:a="http://schemas.openxmlformats.org/drawingml/2006/main">
            <a:r>
              <a:t>[Sources]</a:t>
            </a:r>
          </a:p>
          <a:p xmlns:a="http://schemas.openxmlformats.org/drawingml/2006/main">
            <a:r>
              <a:t>- Business-model and expansion hypotheses: outputs/PITCH_DECK_OUTLINE.md</a:t>
            </a:r>
          </a:p>
          <a:p xmlns:a="http://schemas.openxmlformats.org/drawingml/2006/main">
            <a:r>
              <a:t>- Responsive product screenshot: lrwa-agent-video/public/screens/mobile-plan.png</a:t>
            </a:r>
          </a:p>
          <a:p xmlns:a="http://schemas.openxmlformats.org/drawingml/2006/main">
            <a:r>
              <a:t>- No pricing, recurring revenue, or customer renewal claim is asserted.</a:t>
            </a:r>
          </a:p>
          <a:p xmlns:a="http://schemas.openxmlformats.org/drawingml/2006/main">
            <a:r>
              <a:t>- User-provided LRWA brand asset: favicon.svg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not asking investors to underwrite a universal intelligence platform today. The seed proof is narrower: can LRWA find a material contradiction, show the evidence path, and direct a better next diligence action in one vertical? The round funds product, authorized data access, pilot delivery, and compliance. Exact terms and founder identity are intentionally reserved for private diligence.</a:t>
            </a:r>
          </a:p>
          <a:p xmlns:a="http://schemas.openxmlformats.org/drawingml/2006/main">
            <a:r>
              <a:t/>
            </a:r>
          </a:p>
          <a:p xmlns:a="http://schemas.openxmlformats.org/drawingml/2006/main">
            <a:r>
              <a:t>[Sources]</a:t>
            </a:r>
          </a:p>
          <a:p xmlns:a="http://schemas.openxmlformats.org/drawingml/2006/main">
            <a:r>
              <a:t>- Current demo capabilities and target proof points: outputs/PITCH_DECK_OUTLINE.md</a:t>
            </a:r>
          </a:p>
          <a:p xmlns:a="http://schemas.openxmlformats.org/drawingml/2006/main">
            <a:r>
              <a:t>- Canonical synthetic case metrics: outputs/OPENARENA_SUBMISSION.md</a:t>
            </a:r>
          </a:p>
          <a:p xmlns:a="http://schemas.openxmlformats.org/drawingml/2006/main">
            <a:r>
              <a:t>- Design partners, paid pilot, and connector are target milestones, not current traction.</a:t>
            </a:r>
          </a:p>
          <a:p xmlns:a="http://schemas.openxmlformats.org/drawingml/2006/main">
            <a:r>
              <a:t>- User-provided LRWA brand asset: favicon.svg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0dd10d7c1b45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26f9415a644713" /><Relationship Type="http://schemas.openxmlformats.org/officeDocument/2006/relationships/slideLayout" Target="/ppt/slideLayouts/slideLayout1.xml" Id="R00ac81e9da9b4f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ac81e9da9b4f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0143f2580f4d17" /><Relationship Type="http://schemas.openxmlformats.org/officeDocument/2006/relationships/image" Target="/ppt/media/image.png" Id="Rfed9c9ba70f34232" /><Relationship Type="http://schemas.openxmlformats.org/officeDocument/2006/relationships/image" Target="/ppt/media/image2.png" Id="Raa4d49d5fde94ebd" /><Relationship Type="http://schemas.openxmlformats.org/officeDocument/2006/relationships/image" Target="/ppt/media/image.svg" Id="R5f7ef12c8f2142b0" /><Relationship Type="http://schemas.openxmlformats.org/officeDocument/2006/relationships/notesSlide" Target="/ppt/notesSlides/notesSlide1.xml" Id="R5ab4d64ddf194f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49d0e6a6904279" /><Relationship Type="http://schemas.openxmlformats.org/officeDocument/2006/relationships/image" Target="/ppt/media/image3.png" Id="R8323816f1e77457d" /><Relationship Type="http://schemas.openxmlformats.org/officeDocument/2006/relationships/image" Target="/ppt/media/image2.svg" Id="Rd67b9a344bc14acf" /><Relationship Type="http://schemas.openxmlformats.org/officeDocument/2006/relationships/notesSlide" Target="/ppt/notesSlides/notesSlide2.xml" Id="R3ed212966e0c49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49b7a3d98d4168" /><Relationship Type="http://schemas.openxmlformats.org/officeDocument/2006/relationships/image" Target="/ppt/media/image4.png" Id="Rb0be71a2eda2444f" /><Relationship Type="http://schemas.openxmlformats.org/officeDocument/2006/relationships/image" Target="/ppt/media/image3.svg" Id="R5afe09c5857d4dfd" /><Relationship Type="http://schemas.openxmlformats.org/officeDocument/2006/relationships/image" Target="/ppt/media/image.jpeg" Id="R6e0e607aa045419e" /><Relationship Type="http://schemas.openxmlformats.org/officeDocument/2006/relationships/image" Target="/ppt/media/image2.jpeg" Id="Rabe536bbaee44aa6" /><Relationship Type="http://schemas.openxmlformats.org/officeDocument/2006/relationships/image" Target="/ppt/media/image3.jpeg" Id="R4796c2a9c5d54c3f" /><Relationship Type="http://schemas.openxmlformats.org/officeDocument/2006/relationships/notesSlide" Target="/ppt/notesSlides/notesSlide3.xml" Id="R7d2ee036d76348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ebb5f98bd24e28" /><Relationship Type="http://schemas.openxmlformats.org/officeDocument/2006/relationships/image" Target="/ppt/media/image5.png" Id="R330bc37159984b99" /><Relationship Type="http://schemas.openxmlformats.org/officeDocument/2006/relationships/image" Target="/ppt/media/image4.svg" Id="Rbe5f5fefa50b495e" /><Relationship Type="http://schemas.openxmlformats.org/officeDocument/2006/relationships/image" Target="/ppt/media/image4.jpeg" Id="R1ae509f8b95c4063" /><Relationship Type="http://schemas.openxmlformats.org/officeDocument/2006/relationships/notesSlide" Target="/ppt/notesSlides/notesSlide4.xml" Id="Rfb8576a95a1444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bbbaf74592d4fba" /><Relationship Type="http://schemas.openxmlformats.org/officeDocument/2006/relationships/image" Target="/ppt/media/image6.png" Id="R0e727cd658b54207" /><Relationship Type="http://schemas.openxmlformats.org/officeDocument/2006/relationships/image" Target="/ppt/media/image5.svg" Id="R2fd3fe12836c472e" /><Relationship Type="http://schemas.openxmlformats.org/officeDocument/2006/relationships/image" Target="/ppt/media/image5.jpeg" Id="Rd8376ee45cb94ece" /><Relationship Type="http://schemas.openxmlformats.org/officeDocument/2006/relationships/notesSlide" Target="/ppt/notesSlides/notesSlide5.xml" Id="Rc68e6cfb333a4f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46e0a8ff4ad4598" /><Relationship Type="http://schemas.openxmlformats.org/officeDocument/2006/relationships/image" Target="/ppt/media/image7.png" Id="R9ef94b2dcb26465c" /><Relationship Type="http://schemas.openxmlformats.org/officeDocument/2006/relationships/image" Target="/ppt/media/image6.svg" Id="R09508e2701bd4030" /><Relationship Type="http://schemas.openxmlformats.org/officeDocument/2006/relationships/notesSlide" Target="/ppt/notesSlides/notesSlide6.xml" Id="Rd3d2b7fe05aa45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33a0c945454f69" /><Relationship Type="http://schemas.openxmlformats.org/officeDocument/2006/relationships/image" Target="/ppt/media/image8.png" Id="R85a041005de441b4" /><Relationship Type="http://schemas.openxmlformats.org/officeDocument/2006/relationships/image" Target="/ppt/media/image7.svg" Id="Rb133f72790164373" /><Relationship Type="http://schemas.openxmlformats.org/officeDocument/2006/relationships/image" Target="/ppt/media/image6.jpeg" Id="R9518fc6a3a624ab9" /><Relationship Type="http://schemas.openxmlformats.org/officeDocument/2006/relationships/notesSlide" Target="/ppt/notesSlides/notesSlide7.xml" Id="R31ecc52f0af74d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691911f6ef49f5" /><Relationship Type="http://schemas.openxmlformats.org/officeDocument/2006/relationships/image" Target="/ppt/media/image9.png" Id="R9e7a5ac9051a429c" /><Relationship Type="http://schemas.openxmlformats.org/officeDocument/2006/relationships/image" Target="/ppt/media/image8.svg" Id="R2ff964514e6745a9" /><Relationship Type="http://schemas.openxmlformats.org/officeDocument/2006/relationships/notesSlide" Target="/ppt/notesSlides/notesSlide8.xml" Id="Rccbe7794305a4b02" /></Relationships>
</file>

<file path=ppt/slides/slide1.xml><?xml version="1.0" encoding="utf-8"?>
<p:sld xmlns:p="http://schemas.openxmlformats.org/presentationml/2006/main">
  <p:cSld>
    <p:bg>
      <p:bgPr>
        <a:solidFill xmlns:a="http://schemas.openxmlformats.org/drawingml/2006/main">
          <a:srgbClr val="080809"/>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ed9c9ba70f3423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EC24BD6-C9F7-4CA8-A540-EDBA1114C28E}"/>
              </a:ext>
            </a:extLst>
          </p:cNvPr>
          <p:cNvSpPr>
            <a:spLocks xmlns:a="http://schemas.openxmlformats.org/drawingml/2006/main" noGrp="1"/>
          </p:cNvSpPr>
          <p:nvPr/>
        </p:nvSpPr>
        <p:spPr>
          <a:xfrm xmlns:a="http://schemas.openxmlformats.org/drawingml/2006/main" rot="0">
            <a:off x="0" y="0"/>
            <a:ext cx="7239000" cy="6858000"/>
          </a:xfrm>
          <a:prstGeom xmlns:a="http://schemas.openxmlformats.org/drawingml/2006/main" prst="rect">
            <a:avLst/>
          </a:prstGeom>
          <a:gradFill xmlns:a="http://schemas.openxmlformats.org/drawingml/2006/main">
            <a:gsLst>
              <a:gs pos="0">
                <a:srgbClr val="080809"/>
              </a:gs>
              <a:gs pos="78000">
                <a:srgbClr val="080809">
                  <a:alpha val="90000"/>
                </a:srgbClr>
              </a:gs>
              <a:gs pos="100000">
                <a:srgbClr val="080809">
                  <a:alpha val="5000"/>
                </a:srgbClr>
              </a:gs>
            </a:gsLst>
            <a:lin ang="0"/>
          </a:gradFill>
          <a:ln xmlns:a="http://schemas.openxmlformats.org/drawingml/2006/main" w="0">
            <a:no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a4d49d5fde94ebd">
            <a:extLst>
              <a:ext uri="{96DAC541-7B7A-43D3-8B79-37D633B846F1}">
                <asvg:svgBlip xmlns:asvg="http://schemas.microsoft.com/office/drawing/2016/SVG/main" r:embed="R5f7ef12c8f2142b0"/>
              </a:ext>
            </a:extLst>
          </a:blip>
          <a:stretch xmlns:a="http://schemas.openxmlformats.org/drawingml/2006/main"/>
        </p:blipFill>
        <p:spPr>
          <a:xfrm xmlns:a="http://schemas.openxmlformats.org/drawingml/2006/main">
            <a:off x="647700" y="428625"/>
            <a:ext cx="419100" cy="419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C377D2A-3F6B-4799-85AF-3DCAF06A9880}"/>
              </a:ext>
            </a:extLst>
          </p:cNvPr>
          <p:cNvSpPr>
            <a:spLocks xmlns:a="http://schemas.openxmlformats.org/drawingml/2006/main" noGrp="1"/>
          </p:cNvSpPr>
          <p:nvPr/>
        </p:nvSpPr>
        <p:spPr>
          <a:xfrm xmlns:a="http://schemas.openxmlformats.org/drawingml/2006/main" rot="0">
            <a:off x="1200150" y="542925"/>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LIVE REAL-WORLD ASSURANCE</a:t>
            </a:r>
          </a:p>
        </p:txBody>
      </p:sp>
      <p:sp>
        <p:nvSpPr>
          <p:cNvPr id="5" name="">
            <a:extLst xmlns:a="http://schemas.openxmlformats.org/drawingml/2006/main">
              <a:ext uri="{FF2B5EF4-FFF2-40B4-BE49-F238E27FC236}">
                <a16:creationId xmlns:a16="http://schemas.microsoft.com/office/drawing/2014/main" id="{A8B34435-3243-44CF-9343-F14054BEDF51}"/>
              </a:ext>
            </a:extLst>
          </p:cNvPr>
          <p:cNvSpPr>
            <a:spLocks xmlns:a="http://schemas.openxmlformats.org/drawingml/2006/main" noGrp="1"/>
          </p:cNvSpPr>
          <p:nvPr/>
        </p:nvSpPr>
        <p:spPr>
          <a:xfrm xmlns:a="http://schemas.openxmlformats.org/drawingml/2006/main" rot="0">
            <a:off x="647700" y="1200150"/>
            <a:ext cx="3619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6150" b="1">
                <a:solidFill>
                  <a:srgbClr val="F4F3EF"/>
                </a:solidFill>
                <a:latin typeface="Arial"/>
                <a:ea typeface="Arial"/>
                <a:cs typeface="Arial"/>
              </a:defRPr>
            </a:pPr>
            <a:r>
              <a:rPr sz="6150" b="1">
                <a:solidFill>
                  <a:srgbClr val="F4F3EF"/>
                </a:solidFill>
                <a:latin typeface="Arial"/>
                <a:ea typeface="Arial"/>
                <a:cs typeface="Arial"/>
              </a:rPr>
              <a:t>LRWA</a:t>
            </a:r>
          </a:p>
        </p:txBody>
      </p:sp>
      <p:sp>
        <p:nvSpPr>
          <p:cNvPr id="6" name="">
            <a:extLst xmlns:a="http://schemas.openxmlformats.org/drawingml/2006/main">
              <a:ext uri="{FF2B5EF4-FFF2-40B4-BE49-F238E27FC236}">
                <a16:creationId xmlns:a16="http://schemas.microsoft.com/office/drawing/2014/main" id="{B9D560CC-35EA-455D-A985-F167ECACD26F}"/>
              </a:ext>
            </a:extLst>
          </p:cNvPr>
          <p:cNvSpPr>
            <a:spLocks xmlns:a="http://schemas.openxmlformats.org/drawingml/2006/main" noGrp="1"/>
          </p:cNvSpPr>
          <p:nvPr/>
        </p:nvSpPr>
        <p:spPr>
          <a:xfrm xmlns:a="http://schemas.openxmlformats.org/drawingml/2006/main" rot="0">
            <a:off x="647700" y="2162175"/>
            <a:ext cx="56197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4050" b="1">
                <a:solidFill>
                  <a:srgbClr val="F4F3EF"/>
                </a:solidFill>
                <a:latin typeface="Arial"/>
                <a:ea typeface="Arial"/>
                <a:cs typeface="Arial"/>
              </a:defRPr>
            </a:pPr>
            <a:r>
              <a:rPr sz="4050" b="1">
                <a:solidFill>
                  <a:srgbClr val="F4F3EF"/>
                </a:solidFill>
                <a:latin typeface="Arial"/>
                <a:ea typeface="Arial"/>
                <a:cs typeface="Arial"/>
              </a:rPr>
              <a:t>Test the world behind</a:t>
            </a:r>
          </a:p>
          <a:p xmlns:a="http://schemas.openxmlformats.org/drawingml/2006/main">
            <a:pPr algn="l">
              <a:lnSpc>
                <a:spcPct val="90000"/>
              </a:lnSpc>
              <a:buNone/>
              <a:defRPr sz="4050" b="1">
                <a:solidFill>
                  <a:srgbClr val="F4F3EF"/>
                </a:solidFill>
                <a:latin typeface="Arial"/>
                <a:ea typeface="Arial"/>
                <a:cs typeface="Arial"/>
              </a:defRPr>
            </a:pPr>
            <a:r>
              <a:rPr sz="4050" b="1">
                <a:solidFill>
                  <a:srgbClr val="F4F3EF"/>
                </a:solidFill>
                <a:latin typeface="Arial"/>
                <a:ea typeface="Arial"/>
                <a:cs typeface="Arial"/>
              </a:rPr>
              <a:t>the spreadsheet.</a:t>
            </a:r>
          </a:p>
        </p:txBody>
      </p:sp>
      <p:sp>
        <p:nvSpPr>
          <p:cNvPr id="7" name="">
            <a:extLst xmlns:a="http://schemas.openxmlformats.org/drawingml/2006/main">
              <a:ext uri="{FF2B5EF4-FFF2-40B4-BE49-F238E27FC236}">
                <a16:creationId xmlns:a16="http://schemas.microsoft.com/office/drawing/2014/main" id="{78201A0C-B7B0-4AF7-B603-9569F1793670}"/>
              </a:ext>
            </a:extLst>
          </p:cNvPr>
          <p:cNvSpPr>
            <a:spLocks xmlns:a="http://schemas.openxmlformats.org/drawingml/2006/main" noGrp="1"/>
          </p:cNvSpPr>
          <p:nvPr/>
        </p:nvSpPr>
        <p:spPr>
          <a:xfrm xmlns:a="http://schemas.openxmlformats.org/drawingml/2006/main" rot="0">
            <a:off x="666750" y="383857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A6A3A0"/>
                </a:solidFill>
                <a:latin typeface="Arial"/>
                <a:ea typeface="Arial"/>
                <a:cs typeface="Arial"/>
              </a:defRPr>
            </a:pPr>
            <a:r>
              <a:rPr sz="1875" b="0">
                <a:solidFill>
                  <a:srgbClr val="A6A3A0"/>
                </a:solidFill>
                <a:latin typeface="Arial"/>
                <a:ea typeface="Arial"/>
                <a:cs typeface="Arial"/>
              </a:rPr>
              <a:t>Multi-agent commercial verification</a:t>
            </a:r>
          </a:p>
        </p:txBody>
      </p:sp>
      <p:sp>
        <p:nvSpPr>
          <p:cNvPr id="8" name="">
            <a:extLst xmlns:a="http://schemas.openxmlformats.org/drawingml/2006/main">
              <a:ext uri="{FF2B5EF4-FFF2-40B4-BE49-F238E27FC236}">
                <a16:creationId xmlns:a16="http://schemas.microsoft.com/office/drawing/2014/main" id="{12C65368-E70C-4FCE-B41D-C39EE812236D}"/>
              </a:ext>
            </a:extLst>
          </p:cNvPr>
          <p:cNvSpPr>
            <a:spLocks xmlns:a="http://schemas.openxmlformats.org/drawingml/2006/main" noGrp="1"/>
          </p:cNvSpPr>
          <p:nvPr/>
        </p:nvSpPr>
        <p:spPr>
          <a:xfrm xmlns:a="http://schemas.openxmlformats.org/drawingml/2006/main">
            <a:off x="666750" y="4476750"/>
            <a:ext cx="4476750" cy="0"/>
          </a:xfrm>
          <a:prstGeom xmlns:a="http://schemas.openxmlformats.org/drawingml/2006/main" prst="line">
            <a:avLst/>
          </a:prstGeom>
          <a:noFill xmlns:a="http://schemas.openxmlformats.org/drawingml/2006/main"/>
          <a:ln xmlns:a="http://schemas.openxmlformats.org/drawingml/2006/main" w="28575">
            <a:solidFill>
              <a:srgbClr val="FF5B22"/>
            </a:solidFill>
            <a:prstDash val="solid"/>
          </a:ln>
        </p:spPr>
      </p:sp>
      <p:sp>
        <p:nvSpPr>
          <p:cNvPr id="9" name="">
            <a:extLst xmlns:a="http://schemas.openxmlformats.org/drawingml/2006/main">
              <a:ext uri="{FF2B5EF4-FFF2-40B4-BE49-F238E27FC236}">
                <a16:creationId xmlns:a16="http://schemas.microsoft.com/office/drawing/2014/main" id="{57C5CA9B-D632-4D69-83F5-57251B2CE14B}"/>
              </a:ext>
            </a:extLst>
          </p:cNvPr>
          <p:cNvSpPr>
            <a:spLocks xmlns:a="http://schemas.openxmlformats.org/drawingml/2006/main" noGrp="1"/>
          </p:cNvSpPr>
          <p:nvPr/>
        </p:nvSpPr>
        <p:spPr>
          <a:xfrm xmlns:a="http://schemas.openxmlformats.org/drawingml/2006/main" rot="0">
            <a:off x="666750" y="47244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8A55"/>
                </a:solidFill>
                <a:latin typeface="Courier New"/>
                <a:ea typeface="Courier New"/>
                <a:cs typeface="Courier New"/>
              </a:defRPr>
            </a:pPr>
            <a:r>
              <a:rPr sz="1125" b="1">
                <a:solidFill>
                  <a:srgbClr val="FF8A55"/>
                </a:solidFill>
                <a:latin typeface="Courier New"/>
                <a:ea typeface="Courier New"/>
                <a:cs typeface="Courier New"/>
              </a:rPr>
              <a:t>SEED  |  OPENARENA  |  PUBLIC DEMO</a:t>
            </a:r>
          </a:p>
        </p:txBody>
      </p:sp>
      <p:sp>
        <p:nvSpPr>
          <p:cNvPr id="10" name="">
            <a:extLst xmlns:a="http://schemas.openxmlformats.org/drawingml/2006/main">
              <a:ext uri="{FF2B5EF4-FFF2-40B4-BE49-F238E27FC236}">
                <a16:creationId xmlns:a16="http://schemas.microsoft.com/office/drawing/2014/main" id="{BC47D394-3E0A-42EE-8BCB-DCCA552A4B16}"/>
              </a:ext>
            </a:extLst>
          </p:cNvPr>
          <p:cNvSpPr>
            <a:spLocks xmlns:a="http://schemas.openxmlformats.org/drawingml/2006/main" noGrp="1"/>
          </p:cNvSpPr>
          <p:nvPr/>
        </p:nvSpPr>
        <p:spPr>
          <a:xfrm xmlns:a="http://schemas.openxmlformats.org/drawingml/2006/main" rot="0">
            <a:off x="666750" y="6115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F6D6B"/>
                </a:solidFill>
                <a:latin typeface="Arial"/>
                <a:ea typeface="Arial"/>
                <a:cs typeface="Arial"/>
              </a:defRPr>
            </a:pPr>
            <a:r>
              <a:rPr sz="1200" b="0">
                <a:solidFill>
                  <a:srgbClr val="6F6D6B"/>
                </a:solidFill>
                <a:latin typeface="Arial"/>
                <a:ea typeface="Arial"/>
                <a:cs typeface="Arial"/>
              </a:rPr>
              <a:t>Founder and financing details shared in private diligence.</a:t>
            </a:r>
          </a:p>
        </p:txBody>
      </p:sp>
    </p:spTree>
    <p:extLst>
      <p:ext uri="{BB962C8B-B14F-4D97-AF65-F5344CB8AC3E}">
        <p14:creationId xmlns:p14="http://schemas.microsoft.com/office/powerpoint/2010/main" val="618357084"/>
      </p:ext>
    </p:extLst>
  </p:cSld>
</p:sld>
</file>

<file path=ppt/slides/slide2.xml><?xml version="1.0" encoding="utf-8"?>
<p:sld xmlns:p="http://schemas.openxmlformats.org/presentationml/2006/main">
  <p:cSld>
    <p:bg>
      <p:bgPr>
        <a:solidFill xmlns:a="http://schemas.openxmlformats.org/drawingml/2006/main">
          <a:srgbClr val="0D0D0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7367070-A22D-4B28-98FC-E58FBFD1138B}"/>
              </a:ext>
            </a:extLst>
          </p:cNvPr>
          <p:cNvSpPr>
            <a:spLocks xmlns:a="http://schemas.openxmlformats.org/drawingml/2006/main" noGrp="1"/>
          </p:cNvSpPr>
          <p:nvPr/>
        </p:nvSpPr>
        <p:spPr>
          <a:xfrm xmlns:a="http://schemas.openxmlformats.org/drawingml/2006/main" rot="0">
            <a:off x="609600" y="466725"/>
            <a:ext cx="76200" cy="76200"/>
          </a:xfrm>
          <a:prstGeom xmlns:a="http://schemas.openxmlformats.org/drawingml/2006/main" prst="rect">
            <a:avLst/>
          </a:prstGeom>
          <a:solidFill xmlns:a="http://schemas.openxmlformats.org/drawingml/2006/main">
            <a:srgbClr val="FF5B22"/>
          </a:solidFill>
          <a:ln xmlns:a="http://schemas.openxmlformats.org/drawingml/2006/main" w="0">
            <a:solidFill>
              <a:srgbClr val="FF5B22"/>
            </a:solidFill>
            <a:prstDash val="solid"/>
          </a:ln>
        </p:spPr>
      </p:sp>
      <p:sp>
        <p:nvSpPr>
          <p:cNvPr id="2" name="">
            <a:extLst xmlns:a="http://schemas.openxmlformats.org/drawingml/2006/main">
              <a:ext uri="{FF2B5EF4-FFF2-40B4-BE49-F238E27FC236}">
                <a16:creationId xmlns:a16="http://schemas.microsoft.com/office/drawing/2014/main" id="{A9FB4104-ADBA-49AE-A5BD-2E7A6D3F6C31}"/>
              </a:ext>
            </a:extLst>
          </p:cNvPr>
          <p:cNvSpPr>
            <a:spLocks xmlns:a="http://schemas.openxmlformats.org/drawingml/2006/main" noGrp="1"/>
          </p:cNvSpPr>
          <p:nvPr/>
        </p:nvSpPr>
        <p:spPr>
          <a:xfrm xmlns:a="http://schemas.openxmlformats.org/drawingml/2006/main" rot="0">
            <a:off x="781050" y="4381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THE DECISION GAP</a:t>
            </a:r>
          </a:p>
        </p:txBody>
      </p:sp>
      <p:sp>
        <p:nvSpPr>
          <p:cNvPr id="3" name="">
            <a:extLst xmlns:a="http://schemas.openxmlformats.org/drawingml/2006/main">
              <a:ext uri="{FF2B5EF4-FFF2-40B4-BE49-F238E27FC236}">
                <a16:creationId xmlns:a16="http://schemas.microsoft.com/office/drawing/2014/main" id="{FE9A1E1B-C569-44BA-A3EB-4DBCB1E8A527}"/>
              </a:ext>
            </a:extLst>
          </p:cNvPr>
          <p:cNvSpPr>
            <a:spLocks xmlns:a="http://schemas.openxmlformats.org/drawingml/2006/main" noGrp="1"/>
          </p:cNvSpPr>
          <p:nvPr/>
        </p:nvSpPr>
        <p:spPr>
          <a:xfrm xmlns:a="http://schemas.openxmlformats.org/drawingml/2006/main" rot="0">
            <a:off x="10801350" y="438150"/>
            <a:ext cx="781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F6D6B"/>
                </a:solidFill>
                <a:latin typeface="Courier New"/>
                <a:ea typeface="Courier New"/>
                <a:cs typeface="Courier New"/>
              </a:defRPr>
            </a:pPr>
            <a:r>
              <a:rPr sz="975" b="0">
                <a:solidFill>
                  <a:srgbClr val="6F6D6B"/>
                </a:solidFill>
                <a:latin typeface="Courier New"/>
                <a:ea typeface="Courier New"/>
                <a:cs typeface="Courier New"/>
              </a:rPr>
              <a:t>02 / 08</a:t>
            </a:r>
          </a:p>
        </p:txBody>
      </p:sp>
      <p:sp>
        <p:nvSpPr>
          <p:cNvPr id="4" name="">
            <a:extLst xmlns:a="http://schemas.openxmlformats.org/drawingml/2006/main">
              <a:ext uri="{FF2B5EF4-FFF2-40B4-BE49-F238E27FC236}">
                <a16:creationId xmlns:a16="http://schemas.microsoft.com/office/drawing/2014/main" id="{C8A8147E-1CB1-4F6B-8DA4-8D82BAB0A6A4}"/>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9525">
            <a:solidFill>
              <a:srgbClr val="242427"/>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8323816f1e77457d">
            <a:extLst>
              <a:ext uri="{96DAC541-7B7A-43D3-8B79-37D633B846F1}">
                <asvg:svgBlip xmlns:asvg="http://schemas.microsoft.com/office/drawing/2016/SVG/main" r:embed="Rd67b9a344bc14acf"/>
              </a:ext>
            </a:extLst>
          </a:blip>
          <a:stretch xmlns:a="http://schemas.openxmlformats.org/drawingml/2006/main"/>
        </p:blipFill>
        <p:spPr>
          <a:xfrm xmlns:a="http://schemas.openxmlformats.org/drawingml/2006/main">
            <a:off x="609600" y="6524625"/>
            <a:ext cx="171450" cy="171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D219448-4473-483B-9CB3-B33B1BF286A8}"/>
              </a:ext>
            </a:extLst>
          </p:cNvPr>
          <p:cNvSpPr>
            <a:spLocks xmlns:a="http://schemas.openxmlformats.org/drawingml/2006/main" noGrp="1"/>
          </p:cNvSpPr>
          <p:nvPr/>
        </p:nvSpPr>
        <p:spPr>
          <a:xfrm xmlns:a="http://schemas.openxmlformats.org/drawingml/2006/main" rot="0">
            <a:off x="857250" y="6562725"/>
            <a:ext cx="3238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6F6D6B"/>
                </a:solidFill>
                <a:latin typeface="Courier New"/>
                <a:ea typeface="Courier New"/>
                <a:cs typeface="Courier New"/>
              </a:defRPr>
            </a:pPr>
            <a:r>
              <a:rPr sz="750" b="1">
                <a:solidFill>
                  <a:srgbClr val="6F6D6B"/>
                </a:solidFill>
                <a:latin typeface="Courier New"/>
                <a:ea typeface="Courier New"/>
                <a:cs typeface="Courier New"/>
              </a:rPr>
              <a:t>LRWA / LIVE REAL-WORLD ASSURANCE</a:t>
            </a:r>
          </a:p>
        </p:txBody>
      </p:sp>
      <p:sp>
        <p:nvSpPr>
          <p:cNvPr id="7" name="">
            <a:extLst xmlns:a="http://schemas.openxmlformats.org/drawingml/2006/main">
              <a:ext uri="{FF2B5EF4-FFF2-40B4-BE49-F238E27FC236}">
                <a16:creationId xmlns:a16="http://schemas.microsoft.com/office/drawing/2014/main" id="{AF01824F-54ED-40F2-973E-F98D5EF35F63}"/>
              </a:ext>
            </a:extLst>
          </p:cNvPr>
          <p:cNvSpPr>
            <a:spLocks xmlns:a="http://schemas.openxmlformats.org/drawingml/2006/main" noGrp="1"/>
          </p:cNvSpPr>
          <p:nvPr/>
        </p:nvSpPr>
        <p:spPr>
          <a:xfrm xmlns:a="http://schemas.openxmlformats.org/drawingml/2006/main" rot="0">
            <a:off x="9867900" y="6562725"/>
            <a:ext cx="1714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F6D6B"/>
                </a:solidFill>
                <a:latin typeface="Courier New"/>
                <a:ea typeface="Courier New"/>
                <a:cs typeface="Courier New"/>
              </a:defRPr>
            </a:pPr>
            <a:r>
              <a:rPr sz="750" b="1">
                <a:solidFill>
                  <a:srgbClr val="6F6D6B"/>
                </a:solidFill>
                <a:latin typeface="Courier New"/>
                <a:ea typeface="Courier New"/>
                <a:cs typeface="Courier New"/>
              </a:rPr>
              <a:t>PUBLIC DEMO DECK</a:t>
            </a:r>
          </a:p>
        </p:txBody>
      </p:sp>
      <p:sp>
        <p:nvSpPr>
          <p:cNvPr id="8" name="">
            <a:extLst xmlns:a="http://schemas.openxmlformats.org/drawingml/2006/main">
              <a:ext uri="{FF2B5EF4-FFF2-40B4-BE49-F238E27FC236}">
                <a16:creationId xmlns:a16="http://schemas.microsoft.com/office/drawing/2014/main" id="{A3F6FBE1-942A-4EEF-8394-E991F0CF91EE}"/>
              </a:ext>
            </a:extLst>
          </p:cNvPr>
          <p:cNvSpPr>
            <a:spLocks xmlns:a="http://schemas.openxmlformats.org/drawingml/2006/main" noGrp="1"/>
          </p:cNvSpPr>
          <p:nvPr/>
        </p:nvSpPr>
        <p:spPr>
          <a:xfrm xmlns:a="http://schemas.openxmlformats.org/drawingml/2006/main" rot="0">
            <a:off x="609600" y="876300"/>
            <a:ext cx="5810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29"/>
          </a:bodyPr>
          <a:lstStyle xmlns:a="http://schemas.openxmlformats.org/drawingml/2006/main"/>
          <a:p xmlns:a="http://schemas.openxmlformats.org/drawingml/2006/main">
            <a:pPr algn="l">
              <a:lnSpc>
                <a:spcPct val="92000"/>
              </a:lnSpc>
              <a:buNone/>
              <a:defRPr sz="3750" b="1">
                <a:solidFill>
                  <a:srgbClr val="F4F3EF"/>
                </a:solidFill>
                <a:latin typeface="Arial"/>
                <a:ea typeface="Arial"/>
                <a:cs typeface="Arial"/>
              </a:defRPr>
            </a:pPr>
            <a:r>
              <a:rPr sz="3750" b="1">
                <a:solidFill>
                  <a:srgbClr val="F4F3EF"/>
                </a:solidFill>
                <a:latin typeface="Arial"/>
                <a:ea typeface="Arial"/>
                <a:cs typeface="Arial"/>
              </a:rPr>
              <a:t>The data room is the claim.</a:t>
            </a:r>
          </a:p>
          <a:p xmlns:a="http://schemas.openxmlformats.org/drawingml/2006/main">
            <a:pPr algn="l">
              <a:lnSpc>
                <a:spcPct val="92000"/>
              </a:lnSpc>
              <a:buNone/>
              <a:defRPr sz="3750" b="1">
                <a:solidFill>
                  <a:srgbClr val="F4F3EF"/>
                </a:solidFill>
                <a:latin typeface="Arial"/>
                <a:ea typeface="Arial"/>
                <a:cs typeface="Arial"/>
              </a:defRPr>
            </a:pPr>
            <a:r>
              <a:rPr sz="3750" b="1">
                <a:solidFill>
                  <a:srgbClr val="F4F3EF"/>
                </a:solidFill>
                <a:latin typeface="Arial"/>
                <a:ea typeface="Arial"/>
                <a:cs typeface="Arial"/>
              </a:rPr>
              <a:t>It is not the proof.</a:t>
            </a:r>
          </a:p>
        </p:txBody>
      </p:sp>
      <p:sp>
        <p:nvSpPr>
          <p:cNvPr id="9" name="">
            <a:extLst xmlns:a="http://schemas.openxmlformats.org/drawingml/2006/main">
              <a:ext uri="{FF2B5EF4-FFF2-40B4-BE49-F238E27FC236}">
                <a16:creationId xmlns:a16="http://schemas.microsoft.com/office/drawing/2014/main" id="{317D2109-C500-4A15-92B2-2E46F30D51D5}"/>
              </a:ext>
            </a:extLst>
          </p:cNvPr>
          <p:cNvSpPr>
            <a:spLocks xmlns:a="http://schemas.openxmlformats.org/drawingml/2006/main" noGrp="1"/>
          </p:cNvSpPr>
          <p:nvPr/>
        </p:nvSpPr>
        <p:spPr>
          <a:xfrm xmlns:a="http://schemas.openxmlformats.org/drawingml/2006/main" rot="0">
            <a:off x="609600" y="2276475"/>
            <a:ext cx="533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275"/>
          </a:bodyPr>
          <a:lstStyle xmlns:a="http://schemas.openxmlformats.org/drawingml/2006/main"/>
          <a:p xmlns:a="http://schemas.openxmlformats.org/drawingml/2006/main">
            <a:pPr algn="l">
              <a:lnSpc>
                <a:spcPct val="108000"/>
              </a:lnSpc>
              <a:buNone/>
              <a:defRPr sz="1650" b="0">
                <a:solidFill>
                  <a:srgbClr val="A6A3A0"/>
                </a:solidFill>
                <a:latin typeface="Arial"/>
                <a:ea typeface="Arial"/>
                <a:cs typeface="Arial"/>
              </a:defRPr>
            </a:pPr>
            <a:r>
              <a:rPr sz="1650" b="0">
                <a:solidFill>
                  <a:srgbClr val="A6A3A0"/>
                </a:solidFill>
                <a:latin typeface="Arial"/>
                <a:ea typeface="Arial"/>
                <a:cs typeface="Arial"/>
              </a:rPr>
              <a:t>A model can test internal consistency. It cannot independently establish whether operations match the narrative.</a:t>
            </a:r>
          </a:p>
        </p:txBody>
      </p:sp>
      <p:sp>
        <p:nvSpPr>
          <p:cNvPr id="10" name="">
            <a:extLst xmlns:a="http://schemas.openxmlformats.org/drawingml/2006/main">
              <a:ext uri="{FF2B5EF4-FFF2-40B4-BE49-F238E27FC236}">
                <a16:creationId xmlns:a16="http://schemas.microsoft.com/office/drawing/2014/main" id="{73AA0FBF-7803-4A78-BAE9-79B66BFEAABE}"/>
              </a:ext>
            </a:extLst>
          </p:cNvPr>
          <p:cNvSpPr>
            <a:spLocks xmlns:a="http://schemas.openxmlformats.org/drawingml/2006/main" noGrp="1"/>
          </p:cNvSpPr>
          <p:nvPr/>
        </p:nvSpPr>
        <p:spPr>
          <a:xfrm xmlns:a="http://schemas.openxmlformats.org/drawingml/2006/main">
            <a:off x="6705600" y="1066800"/>
            <a:ext cx="0" cy="4095750"/>
          </a:xfrm>
          <a:prstGeom xmlns:a="http://schemas.openxmlformats.org/drawingml/2006/main" prst="line">
            <a:avLst/>
          </a:prstGeom>
          <a:noFill xmlns:a="http://schemas.openxmlformats.org/drawingml/2006/main"/>
          <a:ln xmlns:a="http://schemas.openxmlformats.org/drawingml/2006/main" w="19050">
            <a:solidFill>
              <a:srgbClr val="333337"/>
            </a:solidFill>
            <a:prstDash val="solid"/>
          </a:ln>
        </p:spPr>
      </p:sp>
      <p:sp>
        <p:nvSpPr>
          <p:cNvPr id="11" name="">
            <a:extLst xmlns:a="http://schemas.openxmlformats.org/drawingml/2006/main">
              <a:ext uri="{FF2B5EF4-FFF2-40B4-BE49-F238E27FC236}">
                <a16:creationId xmlns:a16="http://schemas.microsoft.com/office/drawing/2014/main" id="{2F1BE180-9069-4D22-B598-2EAF969C1630}"/>
              </a:ext>
            </a:extLst>
          </p:cNvPr>
          <p:cNvSpPr>
            <a:spLocks xmlns:a="http://schemas.openxmlformats.org/drawingml/2006/main" noGrp="1"/>
          </p:cNvSpPr>
          <p:nvPr/>
        </p:nvSpPr>
        <p:spPr>
          <a:xfrm xmlns:a="http://schemas.openxmlformats.org/drawingml/2006/main" rot="0">
            <a:off x="7124700" y="9715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DECISION TEAMS STILL RECONCILE</a:t>
            </a:r>
          </a:p>
        </p:txBody>
      </p:sp>
      <p:sp>
        <p:nvSpPr>
          <p:cNvPr id="12" name="">
            <a:extLst xmlns:a="http://schemas.openxmlformats.org/drawingml/2006/main">
              <a:ext uri="{FF2B5EF4-FFF2-40B4-BE49-F238E27FC236}">
                <a16:creationId xmlns:a16="http://schemas.microsoft.com/office/drawing/2014/main" id="{FF3967F2-1691-40EF-A6C5-B0327FE610C0}"/>
              </a:ext>
            </a:extLst>
          </p:cNvPr>
          <p:cNvSpPr>
            <a:spLocks xmlns:a="http://schemas.openxmlformats.org/drawingml/2006/main" noGrp="1"/>
          </p:cNvSpPr>
          <p:nvPr/>
        </p:nvSpPr>
        <p:spPr>
          <a:xfrm xmlns:a="http://schemas.openxmlformats.org/drawingml/2006/main" rot="0">
            <a:off x="7124700" y="14382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F6D6B"/>
                </a:solidFill>
                <a:latin typeface="Courier New"/>
                <a:ea typeface="Courier New"/>
                <a:cs typeface="Courier New"/>
              </a:defRPr>
            </a:pPr>
            <a:r>
              <a:rPr sz="1350" b="1">
                <a:solidFill>
                  <a:srgbClr val="6F6D6B"/>
                </a:solidFill>
                <a:latin typeface="Courier New"/>
                <a:ea typeface="Courier New"/>
                <a:cs typeface="Courier New"/>
              </a:rPr>
              <a:t>01</a:t>
            </a:r>
          </a:p>
        </p:txBody>
      </p:sp>
      <p:sp>
        <p:nvSpPr>
          <p:cNvPr id="13" name="">
            <a:extLst xmlns:a="http://schemas.openxmlformats.org/drawingml/2006/main">
              <a:ext uri="{FF2B5EF4-FFF2-40B4-BE49-F238E27FC236}">
                <a16:creationId xmlns:a16="http://schemas.microsoft.com/office/drawing/2014/main" id="{27B40B3C-A858-4320-BC06-988DE9FCDF64}"/>
              </a:ext>
            </a:extLst>
          </p:cNvPr>
          <p:cNvSpPr>
            <a:spLocks xmlns:a="http://schemas.openxmlformats.org/drawingml/2006/main" noGrp="1"/>
          </p:cNvSpPr>
          <p:nvPr/>
        </p:nvSpPr>
        <p:spPr>
          <a:xfrm xmlns:a="http://schemas.openxmlformats.org/drawingml/2006/main" rot="0">
            <a:off x="7658100" y="1419225"/>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A6A3A0"/>
                </a:solidFill>
                <a:latin typeface="Arial"/>
                <a:ea typeface="Arial"/>
                <a:cs typeface="Arial"/>
              </a:defRPr>
            </a:pPr>
            <a:r>
              <a:rPr sz="1800" b="0">
                <a:solidFill>
                  <a:srgbClr val="A6A3A0"/>
                </a:solidFill>
                <a:latin typeface="Arial"/>
                <a:ea typeface="Arial"/>
                <a:cs typeface="Arial"/>
              </a:rPr>
              <a:t>Financial statements</a:t>
            </a:r>
          </a:p>
        </p:txBody>
      </p:sp>
      <p:sp>
        <p:nvSpPr>
          <p:cNvPr id="14" name="">
            <a:extLst xmlns:a="http://schemas.openxmlformats.org/drawingml/2006/main">
              <a:ext uri="{FF2B5EF4-FFF2-40B4-BE49-F238E27FC236}">
                <a16:creationId xmlns:a16="http://schemas.microsoft.com/office/drawing/2014/main" id="{4C51774F-EA3D-4E76-96D6-E1BFEBD4E1AD}"/>
              </a:ext>
            </a:extLst>
          </p:cNvPr>
          <p:cNvSpPr>
            <a:spLocks xmlns:a="http://schemas.openxmlformats.org/drawingml/2006/main" noGrp="1"/>
          </p:cNvSpPr>
          <p:nvPr/>
        </p:nvSpPr>
        <p:spPr>
          <a:xfrm xmlns:a="http://schemas.openxmlformats.org/drawingml/2006/main">
            <a:off x="7658100" y="1790700"/>
            <a:ext cx="3333750" cy="0"/>
          </a:xfrm>
          <a:prstGeom xmlns:a="http://schemas.openxmlformats.org/drawingml/2006/main" prst="line">
            <a:avLst/>
          </a:prstGeom>
          <a:noFill xmlns:a="http://schemas.openxmlformats.org/drawingml/2006/main"/>
          <a:ln xmlns:a="http://schemas.openxmlformats.org/drawingml/2006/main" w="9525">
            <a:solidFill>
              <a:srgbClr val="242427"/>
            </a:solidFill>
            <a:prstDash val="solid"/>
          </a:ln>
        </p:spPr>
      </p:sp>
      <p:sp>
        <p:nvSpPr>
          <p:cNvPr id="15" name="">
            <a:extLst xmlns:a="http://schemas.openxmlformats.org/drawingml/2006/main">
              <a:ext uri="{FF2B5EF4-FFF2-40B4-BE49-F238E27FC236}">
                <a16:creationId xmlns:a16="http://schemas.microsoft.com/office/drawing/2014/main" id="{383F0A96-136C-4D5B-8E54-11199EE98363}"/>
              </a:ext>
            </a:extLst>
          </p:cNvPr>
          <p:cNvSpPr>
            <a:spLocks xmlns:a="http://schemas.openxmlformats.org/drawingml/2006/main" noGrp="1"/>
          </p:cNvSpPr>
          <p:nvPr/>
        </p:nvSpPr>
        <p:spPr>
          <a:xfrm xmlns:a="http://schemas.openxmlformats.org/drawingml/2006/main" rot="0">
            <a:off x="7124700" y="2095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F6D6B"/>
                </a:solidFill>
                <a:latin typeface="Courier New"/>
                <a:ea typeface="Courier New"/>
                <a:cs typeface="Courier New"/>
              </a:defRPr>
            </a:pPr>
            <a:r>
              <a:rPr sz="1350" b="1">
                <a:solidFill>
                  <a:srgbClr val="6F6D6B"/>
                </a:solidFill>
                <a:latin typeface="Courier New"/>
                <a:ea typeface="Courier New"/>
                <a:cs typeface="Courier New"/>
              </a:rPr>
              <a:t>02</a:t>
            </a:r>
          </a:p>
        </p:txBody>
      </p:sp>
      <p:sp>
        <p:nvSpPr>
          <p:cNvPr id="16" name="">
            <a:extLst xmlns:a="http://schemas.openxmlformats.org/drawingml/2006/main">
              <a:ext uri="{FF2B5EF4-FFF2-40B4-BE49-F238E27FC236}">
                <a16:creationId xmlns:a16="http://schemas.microsoft.com/office/drawing/2014/main" id="{E3B7B8EF-4167-44E2-B088-194E73868DFB}"/>
              </a:ext>
            </a:extLst>
          </p:cNvPr>
          <p:cNvSpPr>
            <a:spLocks xmlns:a="http://schemas.openxmlformats.org/drawingml/2006/main" noGrp="1"/>
          </p:cNvSpPr>
          <p:nvPr/>
        </p:nvSpPr>
        <p:spPr>
          <a:xfrm xmlns:a="http://schemas.openxmlformats.org/drawingml/2006/main" rot="0">
            <a:off x="7658100" y="20764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A6A3A0"/>
                </a:solidFill>
                <a:latin typeface="Arial"/>
                <a:ea typeface="Arial"/>
                <a:cs typeface="Arial"/>
              </a:defRPr>
            </a:pPr>
            <a:r>
              <a:rPr sz="1800" b="0">
                <a:solidFill>
                  <a:srgbClr val="A6A3A0"/>
                </a:solidFill>
                <a:latin typeface="Arial"/>
                <a:ea typeface="Arial"/>
                <a:cs typeface="Arial"/>
              </a:rPr>
              <a:t>Expert calls</a:t>
            </a:r>
          </a:p>
        </p:txBody>
      </p:sp>
      <p:sp>
        <p:nvSpPr>
          <p:cNvPr id="17" name="">
            <a:extLst xmlns:a="http://schemas.openxmlformats.org/drawingml/2006/main">
              <a:ext uri="{FF2B5EF4-FFF2-40B4-BE49-F238E27FC236}">
                <a16:creationId xmlns:a16="http://schemas.microsoft.com/office/drawing/2014/main" id="{E2A79CDF-C83F-4880-A1B5-61032413EF7C}"/>
              </a:ext>
            </a:extLst>
          </p:cNvPr>
          <p:cNvSpPr>
            <a:spLocks xmlns:a="http://schemas.openxmlformats.org/drawingml/2006/main" noGrp="1"/>
          </p:cNvSpPr>
          <p:nvPr/>
        </p:nvSpPr>
        <p:spPr>
          <a:xfrm xmlns:a="http://schemas.openxmlformats.org/drawingml/2006/main">
            <a:off x="7658100" y="2447925"/>
            <a:ext cx="3333750" cy="0"/>
          </a:xfrm>
          <a:prstGeom xmlns:a="http://schemas.openxmlformats.org/drawingml/2006/main" prst="line">
            <a:avLst/>
          </a:prstGeom>
          <a:noFill xmlns:a="http://schemas.openxmlformats.org/drawingml/2006/main"/>
          <a:ln xmlns:a="http://schemas.openxmlformats.org/drawingml/2006/main" w="9525">
            <a:solidFill>
              <a:srgbClr val="242427"/>
            </a:solidFill>
            <a:prstDash val="solid"/>
          </a:ln>
        </p:spPr>
      </p:sp>
      <p:sp>
        <p:nvSpPr>
          <p:cNvPr id="18" name="">
            <a:extLst xmlns:a="http://schemas.openxmlformats.org/drawingml/2006/main">
              <a:ext uri="{FF2B5EF4-FFF2-40B4-BE49-F238E27FC236}">
                <a16:creationId xmlns:a16="http://schemas.microsoft.com/office/drawing/2014/main" id="{E240FD97-F560-4223-B06F-3DBB92776595}"/>
              </a:ext>
            </a:extLst>
          </p:cNvPr>
          <p:cNvSpPr>
            <a:spLocks xmlns:a="http://schemas.openxmlformats.org/drawingml/2006/main" noGrp="1"/>
          </p:cNvSpPr>
          <p:nvPr/>
        </p:nvSpPr>
        <p:spPr>
          <a:xfrm xmlns:a="http://schemas.openxmlformats.org/drawingml/2006/main" rot="0">
            <a:off x="7124700" y="27527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F6D6B"/>
                </a:solidFill>
                <a:latin typeface="Courier New"/>
                <a:ea typeface="Courier New"/>
                <a:cs typeface="Courier New"/>
              </a:defRPr>
            </a:pPr>
            <a:r>
              <a:rPr sz="1350" b="1">
                <a:solidFill>
                  <a:srgbClr val="6F6D6B"/>
                </a:solidFill>
                <a:latin typeface="Courier New"/>
                <a:ea typeface="Courier New"/>
                <a:cs typeface="Courier New"/>
              </a:rPr>
              <a:t>03</a:t>
            </a:r>
          </a:p>
        </p:txBody>
      </p:sp>
      <p:sp>
        <p:nvSpPr>
          <p:cNvPr id="19" name="">
            <a:extLst xmlns:a="http://schemas.openxmlformats.org/drawingml/2006/main">
              <a:ext uri="{FF2B5EF4-FFF2-40B4-BE49-F238E27FC236}">
                <a16:creationId xmlns:a16="http://schemas.microsoft.com/office/drawing/2014/main" id="{A3E4A159-3AB1-4C66-A499-B2D3787BB8D6}"/>
              </a:ext>
            </a:extLst>
          </p:cNvPr>
          <p:cNvSpPr>
            <a:spLocks xmlns:a="http://schemas.openxmlformats.org/drawingml/2006/main" noGrp="1"/>
          </p:cNvSpPr>
          <p:nvPr/>
        </p:nvSpPr>
        <p:spPr>
          <a:xfrm xmlns:a="http://schemas.openxmlformats.org/drawingml/2006/main" rot="0">
            <a:off x="7658100" y="2733675"/>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A6A3A0"/>
                </a:solidFill>
                <a:latin typeface="Arial"/>
                <a:ea typeface="Arial"/>
                <a:cs typeface="Arial"/>
              </a:defRPr>
            </a:pPr>
            <a:r>
              <a:rPr sz="1800" b="0">
                <a:solidFill>
                  <a:srgbClr val="A6A3A0"/>
                </a:solidFill>
                <a:latin typeface="Arial"/>
                <a:ea typeface="Arial"/>
                <a:cs typeface="Arial"/>
              </a:rPr>
              <a:t>Public data</a:t>
            </a:r>
          </a:p>
        </p:txBody>
      </p:sp>
      <p:sp>
        <p:nvSpPr>
          <p:cNvPr id="20" name="">
            <a:extLst xmlns:a="http://schemas.openxmlformats.org/drawingml/2006/main">
              <a:ext uri="{FF2B5EF4-FFF2-40B4-BE49-F238E27FC236}">
                <a16:creationId xmlns:a16="http://schemas.microsoft.com/office/drawing/2014/main" id="{F3820A69-9A95-4D74-8CD6-4603047CAD31}"/>
              </a:ext>
            </a:extLst>
          </p:cNvPr>
          <p:cNvSpPr>
            <a:spLocks xmlns:a="http://schemas.openxmlformats.org/drawingml/2006/main" noGrp="1"/>
          </p:cNvSpPr>
          <p:nvPr/>
        </p:nvSpPr>
        <p:spPr>
          <a:xfrm xmlns:a="http://schemas.openxmlformats.org/drawingml/2006/main">
            <a:off x="7658100" y="3105150"/>
            <a:ext cx="3333750" cy="0"/>
          </a:xfrm>
          <a:prstGeom xmlns:a="http://schemas.openxmlformats.org/drawingml/2006/main" prst="line">
            <a:avLst/>
          </a:prstGeom>
          <a:noFill xmlns:a="http://schemas.openxmlformats.org/drawingml/2006/main"/>
          <a:ln xmlns:a="http://schemas.openxmlformats.org/drawingml/2006/main" w="9525">
            <a:solidFill>
              <a:srgbClr val="242427"/>
            </a:solidFill>
            <a:prstDash val="solid"/>
          </a:ln>
        </p:spPr>
      </p:sp>
      <p:sp>
        <p:nvSpPr>
          <p:cNvPr id="21" name="">
            <a:extLst xmlns:a="http://schemas.openxmlformats.org/drawingml/2006/main">
              <a:ext uri="{FF2B5EF4-FFF2-40B4-BE49-F238E27FC236}">
                <a16:creationId xmlns:a16="http://schemas.microsoft.com/office/drawing/2014/main" id="{228E72F9-14BD-42B1-9ECD-7CBFEB1C20FB}"/>
              </a:ext>
            </a:extLst>
          </p:cNvPr>
          <p:cNvSpPr>
            <a:spLocks xmlns:a="http://schemas.openxmlformats.org/drawingml/2006/main" noGrp="1"/>
          </p:cNvSpPr>
          <p:nvPr/>
        </p:nvSpPr>
        <p:spPr>
          <a:xfrm xmlns:a="http://schemas.openxmlformats.org/drawingml/2006/main" rot="0">
            <a:off x="7124700" y="34099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F6D6B"/>
                </a:solidFill>
                <a:latin typeface="Courier New"/>
                <a:ea typeface="Courier New"/>
                <a:cs typeface="Courier New"/>
              </a:defRPr>
            </a:pPr>
            <a:r>
              <a:rPr sz="1350" b="1">
                <a:solidFill>
                  <a:srgbClr val="6F6D6B"/>
                </a:solidFill>
                <a:latin typeface="Courier New"/>
                <a:ea typeface="Courier New"/>
                <a:cs typeface="Courier New"/>
              </a:rPr>
              <a:t>04</a:t>
            </a:r>
          </a:p>
        </p:txBody>
      </p:sp>
      <p:sp>
        <p:nvSpPr>
          <p:cNvPr id="22" name="">
            <a:extLst xmlns:a="http://schemas.openxmlformats.org/drawingml/2006/main">
              <a:ext uri="{FF2B5EF4-FFF2-40B4-BE49-F238E27FC236}">
                <a16:creationId xmlns:a16="http://schemas.microsoft.com/office/drawing/2014/main" id="{E4185D08-17C2-4FAA-B4B5-2FF4B2E500A6}"/>
              </a:ext>
            </a:extLst>
          </p:cNvPr>
          <p:cNvSpPr>
            <a:spLocks xmlns:a="http://schemas.openxmlformats.org/drawingml/2006/main" noGrp="1"/>
          </p:cNvSpPr>
          <p:nvPr/>
        </p:nvSpPr>
        <p:spPr>
          <a:xfrm xmlns:a="http://schemas.openxmlformats.org/drawingml/2006/main" rot="0">
            <a:off x="7658100" y="33909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A6A3A0"/>
                </a:solidFill>
                <a:latin typeface="Arial"/>
                <a:ea typeface="Arial"/>
                <a:cs typeface="Arial"/>
              </a:defRPr>
            </a:pPr>
            <a:r>
              <a:rPr sz="1800" b="0">
                <a:solidFill>
                  <a:srgbClr val="A6A3A0"/>
                </a:solidFill>
                <a:latin typeface="Arial"/>
                <a:ea typeface="Arial"/>
                <a:cs typeface="Arial"/>
              </a:rPr>
              <a:t>One-off fieldwork</a:t>
            </a:r>
          </a:p>
        </p:txBody>
      </p:sp>
      <p:sp>
        <p:nvSpPr>
          <p:cNvPr id="23" name="">
            <a:extLst xmlns:a="http://schemas.openxmlformats.org/drawingml/2006/main">
              <a:ext uri="{FF2B5EF4-FFF2-40B4-BE49-F238E27FC236}">
                <a16:creationId xmlns:a16="http://schemas.microsoft.com/office/drawing/2014/main" id="{9CF14FAE-8F68-4723-B33D-9AE1A560306F}"/>
              </a:ext>
            </a:extLst>
          </p:cNvPr>
          <p:cNvSpPr>
            <a:spLocks xmlns:a="http://schemas.openxmlformats.org/drawingml/2006/main" noGrp="1"/>
          </p:cNvSpPr>
          <p:nvPr/>
        </p:nvSpPr>
        <p:spPr>
          <a:xfrm xmlns:a="http://schemas.openxmlformats.org/drawingml/2006/main">
            <a:off x="7658100" y="3762375"/>
            <a:ext cx="3333750" cy="0"/>
          </a:xfrm>
          <a:prstGeom xmlns:a="http://schemas.openxmlformats.org/drawingml/2006/main" prst="line">
            <a:avLst/>
          </a:prstGeom>
          <a:noFill xmlns:a="http://schemas.openxmlformats.org/drawingml/2006/main"/>
          <a:ln xmlns:a="http://schemas.openxmlformats.org/drawingml/2006/main" w="9525">
            <a:solidFill>
              <a:srgbClr val="242427"/>
            </a:solidFill>
            <a:prstDash val="solid"/>
          </a:ln>
        </p:spPr>
      </p:sp>
      <p:sp>
        <p:nvSpPr>
          <p:cNvPr id="24" name="">
            <a:extLst xmlns:a="http://schemas.openxmlformats.org/drawingml/2006/main">
              <a:ext uri="{FF2B5EF4-FFF2-40B4-BE49-F238E27FC236}">
                <a16:creationId xmlns:a16="http://schemas.microsoft.com/office/drawing/2014/main" id="{91C4AAD3-1C89-420D-A146-4888AB8A44DE}"/>
              </a:ext>
            </a:extLst>
          </p:cNvPr>
          <p:cNvSpPr>
            <a:spLocks xmlns:a="http://schemas.openxmlformats.org/drawingml/2006/main" noGrp="1"/>
          </p:cNvSpPr>
          <p:nvPr/>
        </p:nvSpPr>
        <p:spPr>
          <a:xfrm xmlns:a="http://schemas.openxmlformats.org/drawingml/2006/main" rot="0">
            <a:off x="7124700" y="40671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5B22"/>
                </a:solidFill>
                <a:latin typeface="Courier New"/>
                <a:ea typeface="Courier New"/>
                <a:cs typeface="Courier New"/>
              </a:defRPr>
            </a:pPr>
            <a:r>
              <a:rPr sz="1350" b="1">
                <a:solidFill>
                  <a:srgbClr val="FF5B22"/>
                </a:solidFill>
                <a:latin typeface="Courier New"/>
                <a:ea typeface="Courier New"/>
                <a:cs typeface="Courier New"/>
              </a:rPr>
              <a:t>05</a:t>
            </a:r>
          </a:p>
        </p:txBody>
      </p:sp>
      <p:sp>
        <p:nvSpPr>
          <p:cNvPr id="25" name="">
            <a:extLst xmlns:a="http://schemas.openxmlformats.org/drawingml/2006/main">
              <a:ext uri="{FF2B5EF4-FFF2-40B4-BE49-F238E27FC236}">
                <a16:creationId xmlns:a16="http://schemas.microsoft.com/office/drawing/2014/main" id="{6E4BF859-C1F9-4979-8977-976B477F2D75}"/>
              </a:ext>
            </a:extLst>
          </p:cNvPr>
          <p:cNvSpPr>
            <a:spLocks xmlns:a="http://schemas.openxmlformats.org/drawingml/2006/main" noGrp="1"/>
          </p:cNvSpPr>
          <p:nvPr/>
        </p:nvSpPr>
        <p:spPr>
          <a:xfrm xmlns:a="http://schemas.openxmlformats.org/drawingml/2006/main" rot="0">
            <a:off x="7658100" y="4048125"/>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4F3EF"/>
                </a:solidFill>
                <a:latin typeface="Arial"/>
                <a:ea typeface="Arial"/>
                <a:cs typeface="Arial"/>
              </a:defRPr>
            </a:pPr>
            <a:r>
              <a:rPr sz="1800" b="1">
                <a:solidFill>
                  <a:srgbClr val="F4F3EF"/>
                </a:solidFill>
                <a:latin typeface="Arial"/>
                <a:ea typeface="Arial"/>
                <a:cs typeface="Arial"/>
              </a:rPr>
              <a:t>Manual reconciliation</a:t>
            </a:r>
          </a:p>
        </p:txBody>
      </p:sp>
      <p:sp>
        <p:nvSpPr>
          <p:cNvPr id="26" name="">
            <a:extLst xmlns:a="http://schemas.openxmlformats.org/drawingml/2006/main">
              <a:ext uri="{FF2B5EF4-FFF2-40B4-BE49-F238E27FC236}">
                <a16:creationId xmlns:a16="http://schemas.microsoft.com/office/drawing/2014/main" id="{71D2F627-A6FE-4FE7-946E-12333A8733D1}"/>
              </a:ext>
            </a:extLst>
          </p:cNvPr>
          <p:cNvSpPr>
            <a:spLocks xmlns:a="http://schemas.openxmlformats.org/drawingml/2006/main" noGrp="1"/>
          </p:cNvSpPr>
          <p:nvPr/>
        </p:nvSpPr>
        <p:spPr>
          <a:xfrm xmlns:a="http://schemas.openxmlformats.org/drawingml/2006/main">
            <a:off x="7658100" y="4419600"/>
            <a:ext cx="3333750" cy="0"/>
          </a:xfrm>
          <a:prstGeom xmlns:a="http://schemas.openxmlformats.org/drawingml/2006/main" prst="line">
            <a:avLst/>
          </a:prstGeom>
          <a:noFill xmlns:a="http://schemas.openxmlformats.org/drawingml/2006/main"/>
          <a:ln xmlns:a="http://schemas.openxmlformats.org/drawingml/2006/main" w="19050">
            <a:solidFill>
              <a:srgbClr val="FF5B22"/>
            </a:solidFill>
            <a:prstDash val="solid"/>
          </a:ln>
        </p:spPr>
      </p:sp>
      <p:sp>
        <p:nvSpPr>
          <p:cNvPr id="27" name="">
            <a:extLst xmlns:a="http://schemas.openxmlformats.org/drawingml/2006/main">
              <a:ext uri="{FF2B5EF4-FFF2-40B4-BE49-F238E27FC236}">
                <a16:creationId xmlns:a16="http://schemas.microsoft.com/office/drawing/2014/main" id="{64CDA739-5C89-4C62-B164-7257E30904EC}"/>
              </a:ext>
            </a:extLst>
          </p:cNvPr>
          <p:cNvSpPr>
            <a:spLocks xmlns:a="http://schemas.openxmlformats.org/drawingml/2006/main" noGrp="1"/>
          </p:cNvSpPr>
          <p:nvPr/>
        </p:nvSpPr>
        <p:spPr>
          <a:xfrm xmlns:a="http://schemas.openxmlformats.org/drawingml/2006/main" rot="0">
            <a:off x="609600" y="5086350"/>
            <a:ext cx="10972800" cy="971550"/>
          </a:xfrm>
          <a:prstGeom xmlns:a="http://schemas.openxmlformats.org/drawingml/2006/main" prst="roundRect">
            <a:avLst>
              <a:gd name="adj" fmla="val 11765"/>
            </a:avLst>
          </a:prstGeom>
          <a:solidFill xmlns:a="http://schemas.openxmlformats.org/drawingml/2006/main">
            <a:srgbClr val="141416"/>
          </a:solidFill>
          <a:ln xmlns:a="http://schemas.openxmlformats.org/drawingml/2006/main" w="9525">
            <a:solidFill>
              <a:srgbClr val="333337"/>
            </a:solidFill>
            <a:prstDash val="solid"/>
          </a:ln>
        </p:spPr>
      </p:sp>
      <p:sp>
        <p:nvSpPr>
          <p:cNvPr id="28" name="">
            <a:extLst xmlns:a="http://schemas.openxmlformats.org/drawingml/2006/main">
              <a:ext uri="{FF2B5EF4-FFF2-40B4-BE49-F238E27FC236}">
                <a16:creationId xmlns:a16="http://schemas.microsoft.com/office/drawing/2014/main" id="{882C92C1-3848-4BBB-8886-6FF6FC8DB867}"/>
              </a:ext>
            </a:extLst>
          </p:cNvPr>
          <p:cNvSpPr>
            <a:spLocks xmlns:a="http://schemas.openxmlformats.org/drawingml/2006/main" noGrp="1"/>
          </p:cNvSpPr>
          <p:nvPr/>
        </p:nvSpPr>
        <p:spPr>
          <a:xfrm xmlns:a="http://schemas.openxmlformats.org/drawingml/2006/main" rot="0">
            <a:off x="876300" y="5305425"/>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6A62"/>
                </a:solidFill>
                <a:latin typeface="Courier New"/>
                <a:ea typeface="Courier New"/>
                <a:cs typeface="Courier New"/>
              </a:defRPr>
            </a:pPr>
            <a:r>
              <a:rPr sz="975" b="1">
                <a:solidFill>
                  <a:srgbClr val="FF6A62"/>
                </a:solidFill>
                <a:latin typeface="Courier New"/>
                <a:ea typeface="Courier New"/>
                <a:cs typeface="Courier New"/>
              </a:rPr>
              <a:t>THE UNRESOLVED QUESTION</a:t>
            </a:r>
          </a:p>
        </p:txBody>
      </p:sp>
      <p:sp>
        <p:nvSpPr>
          <p:cNvPr id="29" name="">
            <a:extLst xmlns:a="http://schemas.openxmlformats.org/drawingml/2006/main">
              <a:ext uri="{FF2B5EF4-FFF2-40B4-BE49-F238E27FC236}">
                <a16:creationId xmlns:a16="http://schemas.microsoft.com/office/drawing/2014/main" id="{CCD179A6-2650-4469-B22E-CBF78322E481}"/>
              </a:ext>
            </a:extLst>
          </p:cNvPr>
          <p:cNvSpPr>
            <a:spLocks xmlns:a="http://schemas.openxmlformats.org/drawingml/2006/main" noGrp="1"/>
          </p:cNvSpPr>
          <p:nvPr/>
        </p:nvSpPr>
        <p:spPr>
          <a:xfrm xmlns:a="http://schemas.openxmlformats.org/drawingml/2006/main" rot="0">
            <a:off x="876300" y="5572125"/>
            <a:ext cx="962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2250" b="1">
                <a:solidFill>
                  <a:srgbClr val="F4F3EF"/>
                </a:solidFill>
                <a:latin typeface="Arial"/>
                <a:ea typeface="Arial"/>
                <a:cs typeface="Arial"/>
              </a:defRPr>
            </a:pPr>
            <a:r>
              <a:rPr sz="2250" b="1">
                <a:solidFill>
                  <a:srgbClr val="F4F3EF"/>
                </a:solidFill>
                <a:latin typeface="Arial"/>
                <a:ea typeface="Arial"/>
                <a:cs typeface="Arial"/>
              </a:rPr>
              <a:t>Do outside signals support the same claim?</a:t>
            </a:r>
          </a:p>
        </p:txBody>
      </p:sp>
    </p:spTree>
    <p:extLst>
      <p:ext uri="{BB962C8B-B14F-4D97-AF65-F5344CB8AC3E}">
        <p14:creationId xmlns:p14="http://schemas.microsoft.com/office/powerpoint/2010/main" val="270727412"/>
      </p:ext>
    </p:extLst>
  </p:cSld>
</p:sld>
</file>

<file path=ppt/slides/slide3.xml><?xml version="1.0" encoding="utf-8"?>
<p:sld xmlns:p="http://schemas.openxmlformats.org/presentationml/2006/main">
  <p:cSld>
    <p:bg>
      <p:bgPr>
        <a:solidFill xmlns:a="http://schemas.openxmlformats.org/drawingml/2006/main">
          <a:srgbClr val="0D0D0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3B93F0F-AFE0-41F7-ACCD-5DE2B4FFD4B7}"/>
              </a:ext>
            </a:extLst>
          </p:cNvPr>
          <p:cNvSpPr>
            <a:spLocks xmlns:a="http://schemas.openxmlformats.org/drawingml/2006/main" noGrp="1"/>
          </p:cNvSpPr>
          <p:nvPr/>
        </p:nvSpPr>
        <p:spPr>
          <a:xfrm xmlns:a="http://schemas.openxmlformats.org/drawingml/2006/main" rot="0">
            <a:off x="609600" y="466725"/>
            <a:ext cx="76200" cy="76200"/>
          </a:xfrm>
          <a:prstGeom xmlns:a="http://schemas.openxmlformats.org/drawingml/2006/main" prst="rect">
            <a:avLst/>
          </a:prstGeom>
          <a:solidFill xmlns:a="http://schemas.openxmlformats.org/drawingml/2006/main">
            <a:srgbClr val="FF5B22"/>
          </a:solidFill>
          <a:ln xmlns:a="http://schemas.openxmlformats.org/drawingml/2006/main" w="0">
            <a:solidFill>
              <a:srgbClr val="FF5B22"/>
            </a:solidFill>
            <a:prstDash val="solid"/>
          </a:ln>
        </p:spPr>
      </p:sp>
      <p:sp>
        <p:nvSpPr>
          <p:cNvPr id="2" name="">
            <a:extLst xmlns:a="http://schemas.openxmlformats.org/drawingml/2006/main">
              <a:ext uri="{FF2B5EF4-FFF2-40B4-BE49-F238E27FC236}">
                <a16:creationId xmlns:a16="http://schemas.microsoft.com/office/drawing/2014/main" id="{5ABA7878-25C6-415F-9DF4-9836BD279E41}"/>
              </a:ext>
            </a:extLst>
          </p:cNvPr>
          <p:cNvSpPr>
            <a:spLocks xmlns:a="http://schemas.openxmlformats.org/drawingml/2006/main" noGrp="1"/>
          </p:cNvSpPr>
          <p:nvPr/>
        </p:nvSpPr>
        <p:spPr>
          <a:xfrm xmlns:a="http://schemas.openxmlformats.org/drawingml/2006/main" rot="0">
            <a:off x="781050" y="4381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WORKING PRODUCT</a:t>
            </a:r>
          </a:p>
        </p:txBody>
      </p:sp>
      <p:sp>
        <p:nvSpPr>
          <p:cNvPr id="3" name="">
            <a:extLst xmlns:a="http://schemas.openxmlformats.org/drawingml/2006/main">
              <a:ext uri="{FF2B5EF4-FFF2-40B4-BE49-F238E27FC236}">
                <a16:creationId xmlns:a16="http://schemas.microsoft.com/office/drawing/2014/main" id="{518648F0-3F40-43F5-961D-693B5174EEC2}"/>
              </a:ext>
            </a:extLst>
          </p:cNvPr>
          <p:cNvSpPr>
            <a:spLocks xmlns:a="http://schemas.openxmlformats.org/drawingml/2006/main" noGrp="1"/>
          </p:cNvSpPr>
          <p:nvPr/>
        </p:nvSpPr>
        <p:spPr>
          <a:xfrm xmlns:a="http://schemas.openxmlformats.org/drawingml/2006/main" rot="0">
            <a:off x="10801350" y="438150"/>
            <a:ext cx="781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F6D6B"/>
                </a:solidFill>
                <a:latin typeface="Courier New"/>
                <a:ea typeface="Courier New"/>
                <a:cs typeface="Courier New"/>
              </a:defRPr>
            </a:pPr>
            <a:r>
              <a:rPr sz="975" b="0">
                <a:solidFill>
                  <a:srgbClr val="6F6D6B"/>
                </a:solidFill>
                <a:latin typeface="Courier New"/>
                <a:ea typeface="Courier New"/>
                <a:cs typeface="Courier New"/>
              </a:rPr>
              <a:t>03 / 08</a:t>
            </a:r>
          </a:p>
        </p:txBody>
      </p:sp>
      <p:sp>
        <p:nvSpPr>
          <p:cNvPr id="4" name="">
            <a:extLst xmlns:a="http://schemas.openxmlformats.org/drawingml/2006/main">
              <a:ext uri="{FF2B5EF4-FFF2-40B4-BE49-F238E27FC236}">
                <a16:creationId xmlns:a16="http://schemas.microsoft.com/office/drawing/2014/main" id="{D625C46D-AC8B-4466-82B3-E970F6687372}"/>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9525">
            <a:solidFill>
              <a:srgbClr val="242427"/>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b0be71a2eda2444f">
            <a:extLst>
              <a:ext uri="{96DAC541-7B7A-43D3-8B79-37D633B846F1}">
                <asvg:svgBlip xmlns:asvg="http://schemas.microsoft.com/office/drawing/2016/SVG/main" r:embed="R5afe09c5857d4dfd"/>
              </a:ext>
            </a:extLst>
          </a:blip>
          <a:stretch xmlns:a="http://schemas.openxmlformats.org/drawingml/2006/main"/>
        </p:blipFill>
        <p:spPr>
          <a:xfrm xmlns:a="http://schemas.openxmlformats.org/drawingml/2006/main">
            <a:off x="609600" y="6524625"/>
            <a:ext cx="171450" cy="171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96DAC61-F9DE-454B-B3E9-32E2BF8AC128}"/>
              </a:ext>
            </a:extLst>
          </p:cNvPr>
          <p:cNvSpPr>
            <a:spLocks xmlns:a="http://schemas.openxmlformats.org/drawingml/2006/main" noGrp="1"/>
          </p:cNvSpPr>
          <p:nvPr/>
        </p:nvSpPr>
        <p:spPr>
          <a:xfrm xmlns:a="http://schemas.openxmlformats.org/drawingml/2006/main" rot="0">
            <a:off x="857250" y="6562725"/>
            <a:ext cx="3238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6F6D6B"/>
                </a:solidFill>
                <a:latin typeface="Courier New"/>
                <a:ea typeface="Courier New"/>
                <a:cs typeface="Courier New"/>
              </a:defRPr>
            </a:pPr>
            <a:r>
              <a:rPr sz="750" b="1">
                <a:solidFill>
                  <a:srgbClr val="6F6D6B"/>
                </a:solidFill>
                <a:latin typeface="Courier New"/>
                <a:ea typeface="Courier New"/>
                <a:cs typeface="Courier New"/>
              </a:rPr>
              <a:t>LRWA / LIVE REAL-WORLD ASSURANCE</a:t>
            </a:r>
          </a:p>
        </p:txBody>
      </p:sp>
      <p:sp>
        <p:nvSpPr>
          <p:cNvPr id="7" name="">
            <a:extLst xmlns:a="http://schemas.openxmlformats.org/drawingml/2006/main">
              <a:ext uri="{FF2B5EF4-FFF2-40B4-BE49-F238E27FC236}">
                <a16:creationId xmlns:a16="http://schemas.microsoft.com/office/drawing/2014/main" id="{94C8C42D-8D59-4FF3-8CE6-3B7817C8C4BA}"/>
              </a:ext>
            </a:extLst>
          </p:cNvPr>
          <p:cNvSpPr>
            <a:spLocks xmlns:a="http://schemas.openxmlformats.org/drawingml/2006/main" noGrp="1"/>
          </p:cNvSpPr>
          <p:nvPr/>
        </p:nvSpPr>
        <p:spPr>
          <a:xfrm xmlns:a="http://schemas.openxmlformats.org/drawingml/2006/main" rot="0">
            <a:off x="9867900" y="6562725"/>
            <a:ext cx="1714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F6D6B"/>
                </a:solidFill>
                <a:latin typeface="Courier New"/>
                <a:ea typeface="Courier New"/>
                <a:cs typeface="Courier New"/>
              </a:defRPr>
            </a:pPr>
            <a:r>
              <a:rPr sz="750" b="1">
                <a:solidFill>
                  <a:srgbClr val="6F6D6B"/>
                </a:solidFill>
                <a:latin typeface="Courier New"/>
                <a:ea typeface="Courier New"/>
                <a:cs typeface="Courier New"/>
              </a:rPr>
              <a:t>PUBLIC DEMO DECK</a:t>
            </a:r>
          </a:p>
        </p:txBody>
      </p:sp>
      <p:sp>
        <p:nvSpPr>
          <p:cNvPr id="8" name="">
            <a:extLst xmlns:a="http://schemas.openxmlformats.org/drawingml/2006/main">
              <a:ext uri="{FF2B5EF4-FFF2-40B4-BE49-F238E27FC236}">
                <a16:creationId xmlns:a16="http://schemas.microsoft.com/office/drawing/2014/main" id="{D43D7E22-B8DB-44E9-A1C3-41DE57611E2C}"/>
              </a:ext>
            </a:extLst>
          </p:cNvPr>
          <p:cNvSpPr>
            <a:spLocks xmlns:a="http://schemas.openxmlformats.org/drawingml/2006/main" noGrp="1"/>
          </p:cNvSpPr>
          <p:nvPr/>
        </p:nvSpPr>
        <p:spPr>
          <a:xfrm xmlns:a="http://schemas.openxmlformats.org/drawingml/2006/main" rot="0">
            <a:off x="609600" y="800100"/>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F4F3EF"/>
                </a:solidFill>
                <a:latin typeface="Arial"/>
                <a:ea typeface="Arial"/>
                <a:cs typeface="Arial"/>
              </a:defRPr>
            </a:pPr>
            <a:r>
              <a:rPr sz="3600" b="1">
                <a:solidFill>
                  <a:srgbClr val="F4F3EF"/>
                </a:solidFill>
                <a:latin typeface="Arial"/>
                <a:ea typeface="Arial"/>
                <a:cs typeface="Arial"/>
              </a:rPr>
              <a:t>One claim becomes a verification mission.</a:t>
            </a:r>
          </a:p>
        </p:txBody>
      </p:sp>
      <p:sp>
        <p:nvSpPr>
          <p:cNvPr id="9" name="">
            <a:extLst xmlns:a="http://schemas.openxmlformats.org/drawingml/2006/main">
              <a:ext uri="{FF2B5EF4-FFF2-40B4-BE49-F238E27FC236}">
                <a16:creationId xmlns:a16="http://schemas.microsoft.com/office/drawing/2014/main" id="{0EFBFEDE-22B5-42FE-9FDF-B2F330FA7696}"/>
              </a:ext>
            </a:extLst>
          </p:cNvPr>
          <p:cNvSpPr>
            <a:spLocks xmlns:a="http://schemas.openxmlformats.org/drawingml/2006/main" noGrp="1"/>
          </p:cNvSpPr>
          <p:nvPr/>
        </p:nvSpPr>
        <p:spPr>
          <a:xfrm xmlns:a="http://schemas.openxmlformats.org/drawingml/2006/main" rot="0">
            <a:off x="8686800" y="1390650"/>
            <a:ext cx="2895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3C45E"/>
                </a:solidFill>
                <a:latin typeface="Courier New"/>
                <a:ea typeface="Courier New"/>
                <a:cs typeface="Courier New"/>
              </a:defRPr>
            </a:pPr>
            <a:r>
              <a:rPr sz="975" b="1">
                <a:solidFill>
                  <a:srgbClr val="F3C45E"/>
                </a:solidFill>
                <a:latin typeface="Courier New"/>
                <a:ea typeface="Courier New"/>
                <a:cs typeface="Courier New"/>
              </a:rPr>
              <a:t>SYNTHETIC MORROW COFFEE CASE</a:t>
            </a:r>
          </a:p>
        </p:txBody>
      </p:sp>
      <p:sp>
        <p:nvSpPr>
          <p:cNvPr id="10" name="mission-plan-shot-frame">
            <a:extLst xmlns:a="http://schemas.openxmlformats.org/drawingml/2006/main">
              <a:ext uri="{FF2B5EF4-FFF2-40B4-BE49-F238E27FC236}">
                <a16:creationId xmlns:a16="http://schemas.microsoft.com/office/drawing/2014/main" id="{BDBB458D-9DA3-4623-9843-7DE59E86AD10}"/>
              </a:ext>
            </a:extLst>
          </p:cNvPr>
          <p:cNvSpPr>
            <a:spLocks xmlns:a="http://schemas.openxmlformats.org/drawingml/2006/main" noGrp="1"/>
          </p:cNvSpPr>
          <p:nvPr/>
        </p:nvSpPr>
        <p:spPr>
          <a:xfrm xmlns:a="http://schemas.openxmlformats.org/drawingml/2006/main" rot="0">
            <a:off x="581025" y="1628775"/>
            <a:ext cx="3448050" cy="2171700"/>
          </a:xfrm>
          <a:prstGeom xmlns:a="http://schemas.openxmlformats.org/drawingml/2006/main" prst="roundRect">
            <a:avLst>
              <a:gd name="adj" fmla="val 6140"/>
            </a:avLst>
          </a:prstGeom>
          <a:solidFill xmlns:a="http://schemas.openxmlformats.org/drawingml/2006/main">
            <a:srgbClr val="1A1A1D"/>
          </a:solidFill>
          <a:ln xmlns:a="http://schemas.openxmlformats.org/drawingml/2006/main" w="9525">
            <a:solidFill>
              <a:srgbClr val="33333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6e0e607aa045419e"/>
          <a:srcRect xmlns:a="http://schemas.openxmlformats.org/drawingml/2006/main" l="0" t="112" r="0" b="112"/>
          <a:stretch xmlns:a="http://schemas.openxmlformats.org/drawingml/2006/main">
            <a:fillRect l="0" t="0" r="0" b="0"/>
          </a:stretch>
        </p:blipFill>
        <p:spPr>
          <a:xfrm xmlns:a="http://schemas.openxmlformats.org/drawingml/2006/main">
            <a:off x="609600" y="1657350"/>
            <a:ext cx="3390900" cy="2114550"/>
          </a:xfrm>
          <a:prstGeom xmlns:a="http://schemas.openxmlformats.org/drawingml/2006/main" prst="roundRect">
            <a:avLst>
              <a:gd name="adj" fmla="val 5405"/>
            </a:avLst>
          </a:prstGeom>
        </p:spPr>
      </p:pic>
      <p:sp>
        <p:nvSpPr>
          <p:cNvPr id="12" name="live-mission-shot-frame">
            <a:extLst xmlns:a="http://schemas.openxmlformats.org/drawingml/2006/main">
              <a:ext uri="{FF2B5EF4-FFF2-40B4-BE49-F238E27FC236}">
                <a16:creationId xmlns:a16="http://schemas.microsoft.com/office/drawing/2014/main" id="{EE2AE817-70BF-4989-B9C3-7403A5814EB3}"/>
              </a:ext>
            </a:extLst>
          </p:cNvPr>
          <p:cNvSpPr>
            <a:spLocks xmlns:a="http://schemas.openxmlformats.org/drawingml/2006/main" noGrp="1"/>
          </p:cNvSpPr>
          <p:nvPr/>
        </p:nvSpPr>
        <p:spPr>
          <a:xfrm xmlns:a="http://schemas.openxmlformats.org/drawingml/2006/main" rot="0">
            <a:off x="4371975" y="1628775"/>
            <a:ext cx="3448050" cy="2171700"/>
          </a:xfrm>
          <a:prstGeom xmlns:a="http://schemas.openxmlformats.org/drawingml/2006/main" prst="roundRect">
            <a:avLst>
              <a:gd name="adj" fmla="val 6140"/>
            </a:avLst>
          </a:prstGeom>
          <a:solidFill xmlns:a="http://schemas.openxmlformats.org/drawingml/2006/main">
            <a:srgbClr val="1A1A1D"/>
          </a:solidFill>
          <a:ln xmlns:a="http://schemas.openxmlformats.org/drawingml/2006/main" w="9525">
            <a:solidFill>
              <a:srgbClr val="33333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abe536bbaee44aa6"/>
          <a:srcRect xmlns:a="http://schemas.openxmlformats.org/drawingml/2006/main" l="0" t="112" r="0" b="112"/>
          <a:stretch xmlns:a="http://schemas.openxmlformats.org/drawingml/2006/main">
            <a:fillRect l="0" t="0" r="0" b="0"/>
          </a:stretch>
        </p:blipFill>
        <p:spPr>
          <a:xfrm xmlns:a="http://schemas.openxmlformats.org/drawingml/2006/main">
            <a:off x="4400550" y="1657350"/>
            <a:ext cx="3390900" cy="2114550"/>
          </a:xfrm>
          <a:prstGeom xmlns:a="http://schemas.openxmlformats.org/drawingml/2006/main" prst="roundRect">
            <a:avLst>
              <a:gd name="adj" fmla="val 5405"/>
            </a:avLst>
          </a:prstGeom>
        </p:spPr>
      </p:pic>
      <p:sp>
        <p:nvSpPr>
          <p:cNvPr id="14" name="findings-shot-frame">
            <a:extLst xmlns:a="http://schemas.openxmlformats.org/drawingml/2006/main">
              <a:ext uri="{FF2B5EF4-FFF2-40B4-BE49-F238E27FC236}">
                <a16:creationId xmlns:a16="http://schemas.microsoft.com/office/drawing/2014/main" id="{49297BD0-8876-4055-A624-9DF9E0A396D7}"/>
              </a:ext>
            </a:extLst>
          </p:cNvPr>
          <p:cNvSpPr>
            <a:spLocks xmlns:a="http://schemas.openxmlformats.org/drawingml/2006/main" noGrp="1"/>
          </p:cNvSpPr>
          <p:nvPr/>
        </p:nvSpPr>
        <p:spPr>
          <a:xfrm xmlns:a="http://schemas.openxmlformats.org/drawingml/2006/main" rot="0">
            <a:off x="8162925" y="1628775"/>
            <a:ext cx="3448050" cy="2171700"/>
          </a:xfrm>
          <a:prstGeom xmlns:a="http://schemas.openxmlformats.org/drawingml/2006/main" prst="roundRect">
            <a:avLst>
              <a:gd name="adj" fmla="val 6140"/>
            </a:avLst>
          </a:prstGeom>
          <a:solidFill xmlns:a="http://schemas.openxmlformats.org/drawingml/2006/main">
            <a:srgbClr val="1A1A1D"/>
          </a:solidFill>
          <a:ln xmlns:a="http://schemas.openxmlformats.org/drawingml/2006/main" w="9525">
            <a:solidFill>
              <a:srgbClr val="33333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4796c2a9c5d54c3f"/>
          <a:srcRect xmlns:a="http://schemas.openxmlformats.org/drawingml/2006/main" l="0" t="112" r="0" b="112"/>
          <a:stretch xmlns:a="http://schemas.openxmlformats.org/drawingml/2006/main">
            <a:fillRect l="0" t="0" r="0" b="0"/>
          </a:stretch>
        </p:blipFill>
        <p:spPr>
          <a:xfrm xmlns:a="http://schemas.openxmlformats.org/drawingml/2006/main">
            <a:off x="8191500" y="1657350"/>
            <a:ext cx="3390900" cy="2114550"/>
          </a:xfrm>
          <a:prstGeom xmlns:a="http://schemas.openxmlformats.org/drawingml/2006/main" prst="roundRect">
            <a:avLst>
              <a:gd name="adj" fmla="val 5405"/>
            </a:avLst>
          </a:prstGeom>
        </p:spPr>
      </p:pic>
      <p:sp>
        <p:nvSpPr>
          <p:cNvPr id="16" name="">
            <a:extLst xmlns:a="http://schemas.openxmlformats.org/drawingml/2006/main">
              <a:ext uri="{FF2B5EF4-FFF2-40B4-BE49-F238E27FC236}">
                <a16:creationId xmlns:a16="http://schemas.microsoft.com/office/drawing/2014/main" id="{4DF0DD47-9999-41E5-BD01-89A49087E5B4}"/>
              </a:ext>
            </a:extLst>
          </p:cNvPr>
          <p:cNvSpPr>
            <a:spLocks xmlns:a="http://schemas.openxmlformats.org/drawingml/2006/main" noGrp="1"/>
          </p:cNvSpPr>
          <p:nvPr/>
        </p:nvSpPr>
        <p:spPr>
          <a:xfrm xmlns:a="http://schemas.openxmlformats.org/drawingml/2006/main" rot="0">
            <a:off x="609600" y="3943350"/>
            <a:ext cx="3390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6D6B"/>
                </a:solidFill>
                <a:latin typeface="Courier New"/>
                <a:ea typeface="Courier New"/>
                <a:cs typeface="Courier New"/>
              </a:defRPr>
            </a:pPr>
            <a:r>
              <a:rPr sz="975" b="1">
                <a:solidFill>
                  <a:srgbClr val="6F6D6B"/>
                </a:solidFill>
                <a:latin typeface="Courier New"/>
                <a:ea typeface="Courier New"/>
                <a:cs typeface="Courier New"/>
              </a:rPr>
              <a:t>01  PLAN + DEMO GATE</a:t>
            </a:r>
          </a:p>
        </p:txBody>
      </p:sp>
      <p:sp>
        <p:nvSpPr>
          <p:cNvPr id="17" name="">
            <a:extLst xmlns:a="http://schemas.openxmlformats.org/drawingml/2006/main">
              <a:ext uri="{FF2B5EF4-FFF2-40B4-BE49-F238E27FC236}">
                <a16:creationId xmlns:a16="http://schemas.microsoft.com/office/drawing/2014/main" id="{65610E2D-5657-4CC6-97E6-668A674D3EDE}"/>
              </a:ext>
            </a:extLst>
          </p:cNvPr>
          <p:cNvSpPr>
            <a:spLocks xmlns:a="http://schemas.openxmlformats.org/drawingml/2006/main" noGrp="1"/>
          </p:cNvSpPr>
          <p:nvPr/>
        </p:nvSpPr>
        <p:spPr>
          <a:xfrm xmlns:a="http://schemas.openxmlformats.org/drawingml/2006/main" rot="0">
            <a:off x="4400550" y="3943350"/>
            <a:ext cx="3390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5B22"/>
                </a:solidFill>
                <a:latin typeface="Courier New"/>
                <a:ea typeface="Courier New"/>
                <a:cs typeface="Courier New"/>
              </a:defRPr>
            </a:pPr>
            <a:r>
              <a:rPr sz="975" b="1">
                <a:solidFill>
                  <a:srgbClr val="FF5B22"/>
                </a:solidFill>
                <a:latin typeface="Courier New"/>
                <a:ea typeface="Courier New"/>
                <a:cs typeface="Courier New"/>
              </a:rPr>
              <a:t>02  OBSERVE + CHALLENGE</a:t>
            </a:r>
          </a:p>
        </p:txBody>
      </p:sp>
      <p:sp>
        <p:nvSpPr>
          <p:cNvPr id="18" name="">
            <a:extLst xmlns:a="http://schemas.openxmlformats.org/drawingml/2006/main">
              <a:ext uri="{FF2B5EF4-FFF2-40B4-BE49-F238E27FC236}">
                <a16:creationId xmlns:a16="http://schemas.microsoft.com/office/drawing/2014/main" id="{8DFEC875-0D31-4B69-8D6E-105B0322701A}"/>
              </a:ext>
            </a:extLst>
          </p:cNvPr>
          <p:cNvSpPr>
            <a:spLocks xmlns:a="http://schemas.openxmlformats.org/drawingml/2006/main" noGrp="1"/>
          </p:cNvSpPr>
          <p:nvPr/>
        </p:nvSpPr>
        <p:spPr>
          <a:xfrm xmlns:a="http://schemas.openxmlformats.org/drawingml/2006/main" rot="0">
            <a:off x="8191500" y="3943350"/>
            <a:ext cx="3390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6D6B"/>
                </a:solidFill>
                <a:latin typeface="Courier New"/>
                <a:ea typeface="Courier New"/>
                <a:cs typeface="Courier New"/>
              </a:defRPr>
            </a:pPr>
            <a:r>
              <a:rPr sz="975" b="1">
                <a:solidFill>
                  <a:srgbClr val="6F6D6B"/>
                </a:solidFill>
                <a:latin typeface="Courier New"/>
                <a:ea typeface="Courier New"/>
                <a:cs typeface="Courier New"/>
              </a:rPr>
              <a:t>03  INSPECT + ACT</a:t>
            </a:r>
          </a:p>
        </p:txBody>
      </p:sp>
      <p:sp>
        <p:nvSpPr>
          <p:cNvPr id="19" name="">
            <a:extLst xmlns:a="http://schemas.openxmlformats.org/drawingml/2006/main">
              <a:ext uri="{FF2B5EF4-FFF2-40B4-BE49-F238E27FC236}">
                <a16:creationId xmlns:a16="http://schemas.microsoft.com/office/drawing/2014/main" id="{82A85FB8-E494-42BA-BAA1-296484509A97}"/>
              </a:ext>
            </a:extLst>
          </p:cNvPr>
          <p:cNvSpPr>
            <a:spLocks xmlns:a="http://schemas.openxmlformats.org/drawingml/2006/main" noGrp="1"/>
          </p:cNvSpPr>
          <p:nvPr/>
        </p:nvSpPr>
        <p:spPr>
          <a:xfrm xmlns:a="http://schemas.openxmlformats.org/drawingml/2006/main" rot="0">
            <a:off x="609600" y="44767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4F3EF"/>
                </a:solidFill>
                <a:latin typeface="Courier New"/>
                <a:ea typeface="Courier New"/>
                <a:cs typeface="Courier New"/>
              </a:defRPr>
            </a:pPr>
            <a:r>
              <a:rPr sz="1275" b="1">
                <a:solidFill>
                  <a:srgbClr val="F4F3EF"/>
                </a:solidFill>
                <a:latin typeface="Courier New"/>
                <a:ea typeface="Courier New"/>
                <a:cs typeface="Courier New"/>
              </a:rPr>
              <a:t>CLAIM  →  PROBE  →  CHALLENGE  →  DEMO GATE  →  DECIDE</a:t>
            </a:r>
          </a:p>
        </p:txBody>
      </p:sp>
      <p:sp>
        <p:nvSpPr>
          <p:cNvPr id="20" name="">
            <a:extLst xmlns:a="http://schemas.openxmlformats.org/drawingml/2006/main">
              <a:ext uri="{FF2B5EF4-FFF2-40B4-BE49-F238E27FC236}">
                <a16:creationId xmlns:a16="http://schemas.microsoft.com/office/drawing/2014/main" id="{BF74B38D-38DE-4203-9C22-43958A569D57}"/>
              </a:ext>
            </a:extLst>
          </p:cNvPr>
          <p:cNvSpPr>
            <a:spLocks xmlns:a="http://schemas.openxmlformats.org/drawingml/2006/main" noGrp="1"/>
          </p:cNvSpPr>
          <p:nvPr/>
        </p:nvSpPr>
        <p:spPr>
          <a:xfrm xmlns:a="http://schemas.openxmlformats.org/drawingml/2006/main" rot="0">
            <a:off x="609600" y="4867275"/>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A6A3A0"/>
                </a:solidFill>
                <a:latin typeface="Arial"/>
                <a:ea typeface="Arial"/>
                <a:cs typeface="Arial"/>
              </a:defRPr>
            </a:pPr>
            <a:r>
              <a:rPr sz="1800" b="0">
                <a:solidFill>
                  <a:srgbClr val="A6A3A0"/>
                </a:solidFill>
                <a:latin typeface="Arial"/>
                <a:ea typeface="Arial"/>
                <a:cs typeface="Arial"/>
              </a:rPr>
              <a:t>A repeatable decision workflow, not another report.</a:t>
            </a:r>
          </a:p>
        </p:txBody>
      </p:sp>
      <p:sp>
        <p:nvSpPr>
          <p:cNvPr id="21" name="">
            <a:extLst xmlns:a="http://schemas.openxmlformats.org/drawingml/2006/main">
              <a:ext uri="{FF2B5EF4-FFF2-40B4-BE49-F238E27FC236}">
                <a16:creationId xmlns:a16="http://schemas.microsoft.com/office/drawing/2014/main" id="{B316EA98-2439-441F-ABD7-9A4C98FC2419}"/>
              </a:ext>
            </a:extLst>
          </p:cNvPr>
          <p:cNvSpPr>
            <a:spLocks xmlns:a="http://schemas.openxmlformats.org/drawingml/2006/main" noGrp="1"/>
          </p:cNvSpPr>
          <p:nvPr/>
        </p:nvSpPr>
        <p:spPr>
          <a:xfrm xmlns:a="http://schemas.openxmlformats.org/drawingml/2006/main">
            <a:off x="6743700" y="4457700"/>
            <a:ext cx="0" cy="1485900"/>
          </a:xfrm>
          <a:prstGeom xmlns:a="http://schemas.openxmlformats.org/drawingml/2006/main" prst="line">
            <a:avLst/>
          </a:prstGeom>
          <a:noFill xmlns:a="http://schemas.openxmlformats.org/drawingml/2006/main"/>
          <a:ln xmlns:a="http://schemas.openxmlformats.org/drawingml/2006/main" w="9525">
            <a:solidFill>
              <a:srgbClr val="333337"/>
            </a:solidFill>
            <a:prstDash val="solid"/>
          </a:ln>
        </p:spPr>
      </p:sp>
      <p:sp>
        <p:nvSpPr>
          <p:cNvPr id="22" name="">
            <a:extLst xmlns:a="http://schemas.openxmlformats.org/drawingml/2006/main">
              <a:ext uri="{FF2B5EF4-FFF2-40B4-BE49-F238E27FC236}">
                <a16:creationId xmlns:a16="http://schemas.microsoft.com/office/drawing/2014/main" id="{87608DF9-9DE1-421F-8DC8-61D21D851757}"/>
              </a:ext>
            </a:extLst>
          </p:cNvPr>
          <p:cNvSpPr>
            <a:spLocks xmlns:a="http://schemas.openxmlformats.org/drawingml/2006/main" noGrp="1"/>
          </p:cNvSpPr>
          <p:nvPr/>
        </p:nvSpPr>
        <p:spPr>
          <a:xfrm xmlns:a="http://schemas.openxmlformats.org/drawingml/2006/main" rot="0">
            <a:off x="7086600" y="443865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6D6B"/>
                </a:solidFill>
                <a:latin typeface="Courier New"/>
                <a:ea typeface="Courier New"/>
                <a:cs typeface="Courier New"/>
              </a:defRPr>
            </a:pPr>
            <a:r>
              <a:rPr sz="975" b="1">
                <a:solidFill>
                  <a:srgbClr val="6F6D6B"/>
                </a:solidFill>
                <a:latin typeface="Courier New"/>
                <a:ea typeface="Courier New"/>
                <a:cs typeface="Courier New"/>
              </a:rPr>
              <a:t>INITIAL SCENARIO</a:t>
            </a:r>
          </a:p>
        </p:txBody>
      </p:sp>
      <p:sp>
        <p:nvSpPr>
          <p:cNvPr id="23" name="">
            <a:extLst xmlns:a="http://schemas.openxmlformats.org/drawingml/2006/main">
              <a:ext uri="{FF2B5EF4-FFF2-40B4-BE49-F238E27FC236}">
                <a16:creationId xmlns:a16="http://schemas.microsoft.com/office/drawing/2014/main" id="{E523A982-38EE-41B4-9780-5637B5EDC529}"/>
              </a:ext>
            </a:extLst>
          </p:cNvPr>
          <p:cNvSpPr>
            <a:spLocks xmlns:a="http://schemas.openxmlformats.org/drawingml/2006/main" noGrp="1"/>
          </p:cNvSpPr>
          <p:nvPr/>
        </p:nvSpPr>
        <p:spPr>
          <a:xfrm xmlns:a="http://schemas.openxmlformats.org/drawingml/2006/main" rot="0">
            <a:off x="7086600" y="4686300"/>
            <a:ext cx="1952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FF5B22"/>
                </a:solidFill>
                <a:latin typeface="Arial"/>
                <a:ea typeface="Arial"/>
                <a:cs typeface="Arial"/>
              </a:defRPr>
            </a:pPr>
            <a:r>
              <a:rPr sz="3150" b="1">
                <a:solidFill>
                  <a:srgbClr val="FF5B22"/>
                </a:solidFill>
                <a:latin typeface="Arial"/>
                <a:ea typeface="Arial"/>
                <a:cs typeface="Arial"/>
              </a:rPr>
              <a:t>¥1.92m</a:t>
            </a:r>
          </a:p>
        </p:txBody>
      </p:sp>
      <p:sp>
        <p:nvSpPr>
          <p:cNvPr id="24" name="">
            <a:extLst xmlns:a="http://schemas.openxmlformats.org/drawingml/2006/main">
              <a:ext uri="{FF2B5EF4-FFF2-40B4-BE49-F238E27FC236}">
                <a16:creationId xmlns:a16="http://schemas.microsoft.com/office/drawing/2014/main" id="{6CCDC0C8-DBD7-4F9D-AFFB-116309B72AE8}"/>
              </a:ext>
            </a:extLst>
          </p:cNvPr>
          <p:cNvSpPr>
            <a:spLocks xmlns:a="http://schemas.openxmlformats.org/drawingml/2006/main" noGrp="1"/>
          </p:cNvSpPr>
          <p:nvPr/>
        </p:nvSpPr>
        <p:spPr>
          <a:xfrm xmlns:a="http://schemas.openxmlformats.org/drawingml/2006/main" rot="0">
            <a:off x="7086600" y="5210175"/>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F6D6B"/>
                </a:solidFill>
                <a:latin typeface="Courier New"/>
                <a:ea typeface="Courier New"/>
                <a:cs typeface="Courier New"/>
              </a:defRPr>
            </a:pPr>
            <a:r>
              <a:rPr sz="825" b="1">
                <a:solidFill>
                  <a:srgbClr val="6F6D6B"/>
                </a:solidFill>
                <a:latin typeface="Courier New"/>
                <a:ea typeface="Courier New"/>
                <a:cs typeface="Courier New"/>
              </a:rPr>
              <a:t>FIXED SCENARIO BAND</a:t>
            </a:r>
          </a:p>
        </p:txBody>
      </p:sp>
      <p:sp>
        <p:nvSpPr>
          <p:cNvPr id="25" name="">
            <a:extLst xmlns:a="http://schemas.openxmlformats.org/drawingml/2006/main">
              <a:ext uri="{FF2B5EF4-FFF2-40B4-BE49-F238E27FC236}">
                <a16:creationId xmlns:a16="http://schemas.microsoft.com/office/drawing/2014/main" id="{9625BED3-5666-4E18-BA93-273A97F7126A}"/>
              </a:ext>
            </a:extLst>
          </p:cNvPr>
          <p:cNvSpPr>
            <a:spLocks xmlns:a="http://schemas.openxmlformats.org/drawingml/2006/main" noGrp="1"/>
          </p:cNvSpPr>
          <p:nvPr/>
        </p:nvSpPr>
        <p:spPr>
          <a:xfrm xmlns:a="http://schemas.openxmlformats.org/drawingml/2006/main" rot="0">
            <a:off x="7086600" y="53816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4F3EF"/>
                </a:solidFill>
                <a:latin typeface="Arial"/>
                <a:ea typeface="Arial"/>
                <a:cs typeface="Arial"/>
              </a:defRPr>
            </a:pPr>
            <a:r>
              <a:rPr sz="1200" b="0">
                <a:solidFill>
                  <a:srgbClr val="F4F3EF"/>
                </a:solidFill>
                <a:latin typeface="Arial"/>
                <a:ea typeface="Arial"/>
                <a:cs typeface="Arial"/>
              </a:rPr>
              <a:t>¥1.72m to ¥2.14m</a:t>
            </a:r>
          </a:p>
        </p:txBody>
      </p:sp>
      <p:sp>
        <p:nvSpPr>
          <p:cNvPr id="26" name="">
            <a:extLst xmlns:a="http://schemas.openxmlformats.org/drawingml/2006/main">
              <a:ext uri="{FF2B5EF4-FFF2-40B4-BE49-F238E27FC236}">
                <a16:creationId xmlns:a16="http://schemas.microsoft.com/office/drawing/2014/main" id="{6BC3ACD2-6E92-4F06-8379-299A86CBA059}"/>
              </a:ext>
            </a:extLst>
          </p:cNvPr>
          <p:cNvSpPr>
            <a:spLocks xmlns:a="http://schemas.openxmlformats.org/drawingml/2006/main" noGrp="1"/>
          </p:cNvSpPr>
          <p:nvPr/>
        </p:nvSpPr>
        <p:spPr>
          <a:xfrm xmlns:a="http://schemas.openxmlformats.org/drawingml/2006/main" rot="0">
            <a:off x="7086600" y="56102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A6A3A0"/>
                </a:solidFill>
                <a:latin typeface="Arial"/>
                <a:ea typeface="Arial"/>
                <a:cs typeface="Arial"/>
              </a:defRPr>
            </a:pPr>
            <a:r>
              <a:rPr sz="975" b="0">
                <a:solidFill>
                  <a:srgbClr val="A6A3A0"/>
                </a:solidFill>
                <a:latin typeface="Arial"/>
                <a:ea typeface="Arial"/>
                <a:cs typeface="Arial"/>
              </a:rPr>
              <a:t>42.3% gap</a:t>
            </a:r>
          </a:p>
          <a:p xmlns:a="http://schemas.openxmlformats.org/drawingml/2006/main">
            <a:pPr algn="l">
              <a:lnSpc>
                <a:spcPct val="100000"/>
              </a:lnSpc>
              <a:buNone/>
              <a:defRPr sz="975" b="0">
                <a:solidFill>
                  <a:srgbClr val="A6A3A0"/>
                </a:solidFill>
                <a:latin typeface="Arial"/>
                <a:ea typeface="Arial"/>
                <a:cs typeface="Arial"/>
              </a:defRPr>
            </a:pPr>
            <a:r>
              <a:rPr sz="975" b="0">
                <a:solidFill>
                  <a:srgbClr val="A6A3A0"/>
                </a:solidFill>
                <a:latin typeface="Arial"/>
                <a:ea typeface="Arial"/>
                <a:cs typeface="Arial"/>
              </a:rPr>
              <a:t>Heuristic policy score 0.88</a:t>
            </a:r>
          </a:p>
        </p:txBody>
      </p:sp>
      <p:sp>
        <p:nvSpPr>
          <p:cNvPr id="27" name="">
            <a:extLst xmlns:a="http://schemas.openxmlformats.org/drawingml/2006/main">
              <a:ext uri="{FF2B5EF4-FFF2-40B4-BE49-F238E27FC236}">
                <a16:creationId xmlns:a16="http://schemas.microsoft.com/office/drawing/2014/main" id="{563BF943-A625-409E-935F-F7B7797F781A}"/>
              </a:ext>
            </a:extLst>
          </p:cNvPr>
          <p:cNvSpPr>
            <a:spLocks xmlns:a="http://schemas.openxmlformats.org/drawingml/2006/main" noGrp="1"/>
          </p:cNvSpPr>
          <p:nvPr/>
        </p:nvSpPr>
        <p:spPr>
          <a:xfrm xmlns:a="http://schemas.openxmlformats.org/drawingml/2006/main" rot="0">
            <a:off x="9639300" y="44386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6D6B"/>
                </a:solidFill>
                <a:latin typeface="Courier New"/>
                <a:ea typeface="Courier New"/>
                <a:cs typeface="Courier New"/>
              </a:defRPr>
            </a:pPr>
            <a:r>
              <a:rPr sz="975" b="1">
                <a:solidFill>
                  <a:srgbClr val="6F6D6B"/>
                </a:solidFill>
                <a:latin typeface="Courier New"/>
                <a:ea typeface="Courier New"/>
                <a:cs typeface="Courier New"/>
              </a:rPr>
              <a:t>REPLAY</a:t>
            </a:r>
          </a:p>
        </p:txBody>
      </p:sp>
      <p:sp>
        <p:nvSpPr>
          <p:cNvPr id="28" name="">
            <a:extLst xmlns:a="http://schemas.openxmlformats.org/drawingml/2006/main">
              <a:ext uri="{FF2B5EF4-FFF2-40B4-BE49-F238E27FC236}">
                <a16:creationId xmlns:a16="http://schemas.microsoft.com/office/drawing/2014/main" id="{076F6BDF-91E6-4DF1-9208-6BFAC89A375A}"/>
              </a:ext>
            </a:extLst>
          </p:cNvPr>
          <p:cNvSpPr>
            <a:spLocks xmlns:a="http://schemas.openxmlformats.org/drawingml/2006/main" noGrp="1"/>
          </p:cNvSpPr>
          <p:nvPr/>
        </p:nvSpPr>
        <p:spPr>
          <a:xfrm xmlns:a="http://schemas.openxmlformats.org/drawingml/2006/main" rot="0">
            <a:off x="9639300" y="4686300"/>
            <a:ext cx="1952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F4F3EF"/>
                </a:solidFill>
                <a:latin typeface="Arial"/>
                <a:ea typeface="Arial"/>
                <a:cs typeface="Arial"/>
              </a:defRPr>
            </a:pPr>
            <a:r>
              <a:rPr sz="3150" b="1">
                <a:solidFill>
                  <a:srgbClr val="F4F3EF"/>
                </a:solidFill>
                <a:latin typeface="Arial"/>
                <a:ea typeface="Arial"/>
                <a:cs typeface="Arial"/>
              </a:rPr>
              <a:t>¥2.40m</a:t>
            </a:r>
          </a:p>
        </p:txBody>
      </p:sp>
      <p:sp>
        <p:nvSpPr>
          <p:cNvPr id="29" name="">
            <a:extLst xmlns:a="http://schemas.openxmlformats.org/drawingml/2006/main">
              <a:ext uri="{FF2B5EF4-FFF2-40B4-BE49-F238E27FC236}">
                <a16:creationId xmlns:a16="http://schemas.microsoft.com/office/drawing/2014/main" id="{308F4B31-F4B2-4C9A-93F2-9DB662ED038B}"/>
              </a:ext>
            </a:extLst>
          </p:cNvPr>
          <p:cNvSpPr>
            <a:spLocks xmlns:a="http://schemas.openxmlformats.org/drawingml/2006/main" noGrp="1"/>
          </p:cNvSpPr>
          <p:nvPr/>
        </p:nvSpPr>
        <p:spPr>
          <a:xfrm xmlns:a="http://schemas.openxmlformats.org/drawingml/2006/main" rot="0">
            <a:off x="9639300" y="5210175"/>
            <a:ext cx="1943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F6D6B"/>
                </a:solidFill>
                <a:latin typeface="Courier New"/>
                <a:ea typeface="Courier New"/>
                <a:cs typeface="Courier New"/>
              </a:defRPr>
            </a:pPr>
            <a:r>
              <a:rPr sz="825" b="1">
                <a:solidFill>
                  <a:srgbClr val="6F6D6B"/>
                </a:solidFill>
                <a:latin typeface="Courier New"/>
                <a:ea typeface="Courier New"/>
                <a:cs typeface="Courier New"/>
              </a:rPr>
              <a:t>FIXED REPLAY SCENARIO BAND</a:t>
            </a:r>
          </a:p>
        </p:txBody>
      </p:sp>
      <p:sp>
        <p:nvSpPr>
          <p:cNvPr id="30" name="">
            <a:extLst xmlns:a="http://schemas.openxmlformats.org/drawingml/2006/main">
              <a:ext uri="{FF2B5EF4-FFF2-40B4-BE49-F238E27FC236}">
                <a16:creationId xmlns:a16="http://schemas.microsoft.com/office/drawing/2014/main" id="{8C6D4865-4C2D-4E66-94D4-34A2724DF13C}"/>
              </a:ext>
            </a:extLst>
          </p:cNvPr>
          <p:cNvSpPr>
            <a:spLocks xmlns:a="http://schemas.openxmlformats.org/drawingml/2006/main" noGrp="1"/>
          </p:cNvSpPr>
          <p:nvPr/>
        </p:nvSpPr>
        <p:spPr>
          <a:xfrm xmlns:a="http://schemas.openxmlformats.org/drawingml/2006/main" rot="0">
            <a:off x="9639300" y="5381625"/>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4F3EF"/>
                </a:solidFill>
                <a:latin typeface="Arial"/>
                <a:ea typeface="Arial"/>
                <a:cs typeface="Arial"/>
              </a:defRPr>
            </a:pPr>
            <a:r>
              <a:rPr sz="1200" b="0">
                <a:solidFill>
                  <a:srgbClr val="F4F3EF"/>
                </a:solidFill>
                <a:latin typeface="Arial"/>
                <a:ea typeface="Arial"/>
                <a:cs typeface="Arial"/>
              </a:rPr>
              <a:t>¥2.12m to ¥2.72m</a:t>
            </a:r>
          </a:p>
        </p:txBody>
      </p:sp>
      <p:sp>
        <p:nvSpPr>
          <p:cNvPr id="31" name="">
            <a:extLst xmlns:a="http://schemas.openxmlformats.org/drawingml/2006/main">
              <a:ext uri="{FF2B5EF4-FFF2-40B4-BE49-F238E27FC236}">
                <a16:creationId xmlns:a16="http://schemas.microsoft.com/office/drawing/2014/main" id="{B5099E1B-03F8-4932-8F76-6BC4032279AF}"/>
              </a:ext>
            </a:extLst>
          </p:cNvPr>
          <p:cNvSpPr>
            <a:spLocks xmlns:a="http://schemas.openxmlformats.org/drawingml/2006/main" noGrp="1"/>
          </p:cNvSpPr>
          <p:nvPr/>
        </p:nvSpPr>
        <p:spPr>
          <a:xfrm xmlns:a="http://schemas.openxmlformats.org/drawingml/2006/main" rot="0">
            <a:off x="9639300" y="5610225"/>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A6A3A0"/>
                </a:solidFill>
                <a:latin typeface="Arial"/>
                <a:ea typeface="Arial"/>
                <a:cs typeface="Arial"/>
              </a:defRPr>
            </a:pPr>
            <a:r>
              <a:rPr sz="975" b="0">
                <a:solidFill>
                  <a:srgbClr val="A6A3A0"/>
                </a:solidFill>
                <a:latin typeface="Arial"/>
                <a:ea typeface="Arial"/>
                <a:cs typeface="Arial"/>
              </a:rPr>
              <a:t>27.9% gap</a:t>
            </a:r>
          </a:p>
          <a:p xmlns:a="http://schemas.openxmlformats.org/drawingml/2006/main">
            <a:pPr algn="l">
              <a:lnSpc>
                <a:spcPct val="100000"/>
              </a:lnSpc>
              <a:buNone/>
              <a:defRPr sz="975" b="0">
                <a:solidFill>
                  <a:srgbClr val="A6A3A0"/>
                </a:solidFill>
                <a:latin typeface="Arial"/>
                <a:ea typeface="Arial"/>
                <a:cs typeface="Arial"/>
              </a:defRPr>
            </a:pPr>
            <a:r>
              <a:rPr sz="975" b="0">
                <a:solidFill>
                  <a:srgbClr val="A6A3A0"/>
                </a:solidFill>
                <a:latin typeface="Arial"/>
                <a:ea typeface="Arial"/>
                <a:cs typeface="Arial"/>
              </a:rPr>
              <a:t>Heuristic policy score 0.82</a:t>
            </a:r>
          </a:p>
        </p:txBody>
      </p:sp>
      <p:sp>
        <p:nvSpPr>
          <p:cNvPr id="32" name="">
            <a:extLst xmlns:a="http://schemas.openxmlformats.org/drawingml/2006/main">
              <a:ext uri="{FF2B5EF4-FFF2-40B4-BE49-F238E27FC236}">
                <a16:creationId xmlns:a16="http://schemas.microsoft.com/office/drawing/2014/main" id="{D6987B8A-ADDE-4BDE-9D48-917E901D9277}"/>
              </a:ext>
            </a:extLst>
          </p:cNvPr>
          <p:cNvSpPr>
            <a:spLocks xmlns:a="http://schemas.openxmlformats.org/drawingml/2006/main" noGrp="1"/>
          </p:cNvSpPr>
          <p:nvPr/>
        </p:nvSpPr>
        <p:spPr>
          <a:xfrm xmlns:a="http://schemas.openxmlformats.org/drawingml/2006/main" rot="0">
            <a:off x="7086600" y="6029325"/>
            <a:ext cx="449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3C45E"/>
                </a:solidFill>
                <a:latin typeface="Courier New"/>
                <a:ea typeface="Courier New"/>
                <a:cs typeface="Courier New"/>
              </a:defRPr>
            </a:pPr>
            <a:r>
              <a:rPr sz="825" b="1">
                <a:solidFill>
                  <a:srgbClr val="F3C45E"/>
                </a:solidFill>
                <a:latin typeface="Courier New"/>
                <a:ea typeface="Courier New"/>
                <a:cs typeface="Courier New"/>
              </a:rPr>
              <a:t>PLANNED AGGREGATE PROBE QUOTA: 1,024</a:t>
            </a:r>
          </a:p>
          <a:p xmlns:a="http://schemas.openxmlformats.org/drawingml/2006/main">
            <a:pPr algn="r">
              <a:defRPr sz="825" b="1">
                <a:solidFill>
                  <a:srgbClr val="F3C45E"/>
                </a:solidFill>
                <a:latin typeface="Courier New"/>
                <a:ea typeface="Courier New"/>
                <a:cs typeface="Courier New"/>
              </a:defRPr>
            </a:pPr>
            <a:r>
              <a:rPr sz="825" b="1">
                <a:solidFill>
                  <a:srgbClr val="F3C45E"/>
                </a:solidFill>
                <a:latin typeface="Courier New"/>
                <a:ea typeface="Courier New"/>
                <a:cs typeface="Courier New"/>
              </a:rPr>
              <a:t>ACTUAL OUTPUT: 5 RECEIPTS / 5 LOGICAL CATEGORIES</a:t>
            </a:r>
          </a:p>
        </p:txBody>
      </p:sp>
    </p:spTree>
    <p:extLst>
      <p:ext uri="{BB962C8B-B14F-4D97-AF65-F5344CB8AC3E}">
        <p14:creationId xmlns:p14="http://schemas.microsoft.com/office/powerpoint/2010/main" val="2041692057"/>
      </p:ext>
    </p:extLst>
  </p:cSld>
</p:sld>
</file>

<file path=ppt/slides/slide4.xml><?xml version="1.0" encoding="utf-8"?>
<p:sld xmlns:p="http://schemas.openxmlformats.org/presentationml/2006/main">
  <p:cSld>
    <p:bg>
      <p:bgPr>
        <a:solidFill xmlns:a="http://schemas.openxmlformats.org/drawingml/2006/main">
          <a:srgbClr val="0D0D0F"/>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1A435749-1435-4F90-B849-58EE282E7B58}"/>
              </a:ext>
            </a:extLst>
          </p:cNvPr>
          <p:cNvSpPr>
            <a:spLocks xmlns:a="http://schemas.openxmlformats.org/drawingml/2006/main" noGrp="1"/>
          </p:cNvSpPr>
          <p:nvPr/>
        </p:nvSpPr>
        <p:spPr>
          <a:xfrm xmlns:a="http://schemas.openxmlformats.org/drawingml/2006/main" rot="0">
            <a:off x="609600" y="466725"/>
            <a:ext cx="76200" cy="76200"/>
          </a:xfrm>
          <a:prstGeom xmlns:a="http://schemas.openxmlformats.org/drawingml/2006/main" prst="rect">
            <a:avLst/>
          </a:prstGeom>
          <a:solidFill xmlns:a="http://schemas.openxmlformats.org/drawingml/2006/main">
            <a:srgbClr val="FF5B22"/>
          </a:solidFill>
          <a:ln xmlns:a="http://schemas.openxmlformats.org/drawingml/2006/main" w="0">
            <a:solidFill>
              <a:srgbClr val="FF5B22"/>
            </a:solidFill>
            <a:prstDash val="solid"/>
          </a:ln>
        </p:spPr>
      </p:sp>
      <p:sp>
        <p:nvSpPr>
          <p:cNvPr id="2" name="">
            <a:extLst xmlns:a="http://schemas.openxmlformats.org/drawingml/2006/main">
              <a:ext uri="{FF2B5EF4-FFF2-40B4-BE49-F238E27FC236}">
                <a16:creationId xmlns:a16="http://schemas.microsoft.com/office/drawing/2014/main" id="{0EA2A6D7-FE81-4E17-97B5-D9ED5CD7F053}"/>
              </a:ext>
            </a:extLst>
          </p:cNvPr>
          <p:cNvSpPr>
            <a:spLocks xmlns:a="http://schemas.openxmlformats.org/drawingml/2006/main" noGrp="1"/>
          </p:cNvSpPr>
          <p:nvPr/>
        </p:nvSpPr>
        <p:spPr>
          <a:xfrm xmlns:a="http://schemas.openxmlformats.org/drawingml/2006/main" rot="0">
            <a:off x="781050" y="4381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SYSTEM + MOAT</a:t>
            </a:r>
          </a:p>
        </p:txBody>
      </p:sp>
      <p:sp>
        <p:nvSpPr>
          <p:cNvPr id="3" name="">
            <a:extLst xmlns:a="http://schemas.openxmlformats.org/drawingml/2006/main">
              <a:ext uri="{FF2B5EF4-FFF2-40B4-BE49-F238E27FC236}">
                <a16:creationId xmlns:a16="http://schemas.microsoft.com/office/drawing/2014/main" id="{A39EB560-CF3E-4E85-B330-1E5097EEBD1F}"/>
              </a:ext>
            </a:extLst>
          </p:cNvPr>
          <p:cNvSpPr>
            <a:spLocks xmlns:a="http://schemas.openxmlformats.org/drawingml/2006/main" noGrp="1"/>
          </p:cNvSpPr>
          <p:nvPr/>
        </p:nvSpPr>
        <p:spPr>
          <a:xfrm xmlns:a="http://schemas.openxmlformats.org/drawingml/2006/main" rot="0">
            <a:off x="10801350" y="438150"/>
            <a:ext cx="781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F6D6B"/>
                </a:solidFill>
                <a:latin typeface="Courier New"/>
                <a:ea typeface="Courier New"/>
                <a:cs typeface="Courier New"/>
              </a:defRPr>
            </a:pPr>
            <a:r>
              <a:rPr sz="975" b="0">
                <a:solidFill>
                  <a:srgbClr val="6F6D6B"/>
                </a:solidFill>
                <a:latin typeface="Courier New"/>
                <a:ea typeface="Courier New"/>
                <a:cs typeface="Courier New"/>
              </a:rPr>
              <a:t>04 / 08</a:t>
            </a:r>
          </a:p>
        </p:txBody>
      </p:sp>
      <p:sp>
        <p:nvSpPr>
          <p:cNvPr id="4" name="">
            <a:extLst xmlns:a="http://schemas.openxmlformats.org/drawingml/2006/main">
              <a:ext uri="{FF2B5EF4-FFF2-40B4-BE49-F238E27FC236}">
                <a16:creationId xmlns:a16="http://schemas.microsoft.com/office/drawing/2014/main" id="{D9DDD676-69B1-4910-A194-480B9D464AEA}"/>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9525">
            <a:solidFill>
              <a:srgbClr val="242427"/>
            </a:solidFill>
            <a:prstDash val="solid"/>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330bc37159984b99">
            <a:extLst>
              <a:ext uri="{96DAC541-7B7A-43D3-8B79-37D633B846F1}">
                <asvg:svgBlip xmlns:asvg="http://schemas.microsoft.com/office/drawing/2016/SVG/main" r:embed="Rbe5f5fefa50b495e"/>
              </a:ext>
            </a:extLst>
          </a:blip>
          <a:stretch xmlns:a="http://schemas.openxmlformats.org/drawingml/2006/main"/>
        </p:blipFill>
        <p:spPr>
          <a:xfrm xmlns:a="http://schemas.openxmlformats.org/drawingml/2006/main">
            <a:off x="609600" y="6524625"/>
            <a:ext cx="171450" cy="171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78C01E8-4CC6-4ABD-9364-07CAEACB9878}"/>
              </a:ext>
            </a:extLst>
          </p:cNvPr>
          <p:cNvSpPr>
            <a:spLocks xmlns:a="http://schemas.openxmlformats.org/drawingml/2006/main" noGrp="1"/>
          </p:cNvSpPr>
          <p:nvPr/>
        </p:nvSpPr>
        <p:spPr>
          <a:xfrm xmlns:a="http://schemas.openxmlformats.org/drawingml/2006/main" rot="0">
            <a:off x="857250" y="6562725"/>
            <a:ext cx="3238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6F6D6B"/>
                </a:solidFill>
                <a:latin typeface="Courier New"/>
                <a:ea typeface="Courier New"/>
                <a:cs typeface="Courier New"/>
              </a:defRPr>
            </a:pPr>
            <a:r>
              <a:rPr sz="750" b="1">
                <a:solidFill>
                  <a:srgbClr val="6F6D6B"/>
                </a:solidFill>
                <a:latin typeface="Courier New"/>
                <a:ea typeface="Courier New"/>
                <a:cs typeface="Courier New"/>
              </a:rPr>
              <a:t>LRWA / LIVE REAL-WORLD ASSURANCE</a:t>
            </a:r>
          </a:p>
        </p:txBody>
      </p:sp>
      <p:sp>
        <p:nvSpPr>
          <p:cNvPr id="7" name="">
            <a:extLst xmlns:a="http://schemas.openxmlformats.org/drawingml/2006/main">
              <a:ext uri="{FF2B5EF4-FFF2-40B4-BE49-F238E27FC236}">
                <a16:creationId xmlns:a16="http://schemas.microsoft.com/office/drawing/2014/main" id="{51699D52-ED81-40A9-846F-4D74F0DF342C}"/>
              </a:ext>
            </a:extLst>
          </p:cNvPr>
          <p:cNvSpPr>
            <a:spLocks xmlns:a="http://schemas.openxmlformats.org/drawingml/2006/main" noGrp="1"/>
          </p:cNvSpPr>
          <p:nvPr/>
        </p:nvSpPr>
        <p:spPr>
          <a:xfrm xmlns:a="http://schemas.openxmlformats.org/drawingml/2006/main" rot="0">
            <a:off x="9867900" y="6562725"/>
            <a:ext cx="1714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F6D6B"/>
                </a:solidFill>
                <a:latin typeface="Courier New"/>
                <a:ea typeface="Courier New"/>
                <a:cs typeface="Courier New"/>
              </a:defRPr>
            </a:pPr>
            <a:r>
              <a:rPr sz="750" b="1">
                <a:solidFill>
                  <a:srgbClr val="6F6D6B"/>
                </a:solidFill>
                <a:latin typeface="Courier New"/>
                <a:ea typeface="Courier New"/>
                <a:cs typeface="Courier New"/>
              </a:rPr>
              <a:t>PUBLIC DEMO DECK</a:t>
            </a:r>
          </a:p>
        </p:txBody>
      </p:sp>
      <p:sp>
        <p:nvSpPr>
          <p:cNvPr id="8" name="">
            <a:extLst xmlns:a="http://schemas.openxmlformats.org/drawingml/2006/main">
              <a:ext uri="{FF2B5EF4-FFF2-40B4-BE49-F238E27FC236}">
                <a16:creationId xmlns:a16="http://schemas.microsoft.com/office/drawing/2014/main" id="{FE295514-8E1B-4363-9CEB-6EC1B33DF47A}"/>
              </a:ext>
            </a:extLst>
          </p:cNvPr>
          <p:cNvSpPr>
            <a:spLocks xmlns:a="http://schemas.openxmlformats.org/drawingml/2006/main" noGrp="1"/>
          </p:cNvSpPr>
          <p:nvPr/>
        </p:nvSpPr>
        <p:spPr>
          <a:xfrm xmlns:a="http://schemas.openxmlformats.org/drawingml/2006/main" rot="0">
            <a:off x="609600" y="800100"/>
            <a:ext cx="10934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F4F3EF"/>
                </a:solidFill>
                <a:latin typeface="Arial"/>
                <a:ea typeface="Arial"/>
                <a:cs typeface="Arial"/>
              </a:defRPr>
            </a:pPr>
            <a:r>
              <a:rPr sz="3600" b="1">
                <a:solidFill>
                  <a:srgbClr val="F4F3EF"/>
                </a:solidFill>
                <a:latin typeface="Arial"/>
                <a:ea typeface="Arial"/>
                <a:cs typeface="Arial"/>
              </a:rPr>
              <a:t>The moat is the governed loop, not the model.</a:t>
            </a:r>
          </a:p>
        </p:txBody>
      </p:sp>
      <p:sp>
        <p:nvSpPr>
          <p:cNvPr id="9" name="">
            <a:extLst xmlns:a="http://schemas.openxmlformats.org/drawingml/2006/main">
              <a:ext uri="{FF2B5EF4-FFF2-40B4-BE49-F238E27FC236}">
                <a16:creationId xmlns:a16="http://schemas.microsoft.com/office/drawing/2014/main" id="{D7BE61EA-B5D7-4A1B-9B15-CD25BC4FEB9F}"/>
              </a:ext>
            </a:extLst>
          </p:cNvPr>
          <p:cNvSpPr>
            <a:spLocks xmlns:a="http://schemas.openxmlformats.org/drawingml/2006/main" noGrp="1"/>
          </p:cNvSpPr>
          <p:nvPr/>
        </p:nvSpPr>
        <p:spPr>
          <a:xfrm xmlns:a="http://schemas.openxmlformats.org/drawingml/2006/main" rot="0">
            <a:off x="609600" y="1381125"/>
            <a:ext cx="657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A6A3A0"/>
                </a:solidFill>
                <a:latin typeface="Arial"/>
                <a:ea typeface="Arial"/>
                <a:cs typeface="Arial"/>
              </a:defRPr>
            </a:pPr>
            <a:r>
              <a:rPr sz="1575" b="0">
                <a:solidFill>
                  <a:srgbClr val="A6A3A0"/>
                </a:solidFill>
                <a:latin typeface="Arial"/>
                <a:ea typeface="Arial"/>
                <a:cs typeface="Arial"/>
              </a:rPr>
              <a:t>Claim-to-observable mappings and mission outcomes compound today; future source calibration and authorized connectors extend the loop.</a:t>
            </a:r>
          </a:p>
        </p:txBody>
      </p:sp>
      <p:sp>
        <p:nvSpPr>
          <p:cNvPr id="10" name="">
            <a:extLst xmlns:a="http://schemas.openxmlformats.org/drawingml/2006/main">
              <a:ext uri="{FF2B5EF4-FFF2-40B4-BE49-F238E27FC236}">
                <a16:creationId xmlns:a16="http://schemas.microsoft.com/office/drawing/2014/main" id="{EA2422A7-B01D-4D9F-826F-3B219DE59327}"/>
              </a:ext>
            </a:extLst>
          </p:cNvPr>
          <p:cNvSpPr>
            <a:spLocks xmlns:a="http://schemas.openxmlformats.org/drawingml/2006/main" noGrp="1"/>
          </p:cNvSpPr>
          <p:nvPr/>
        </p:nvSpPr>
        <p:spPr>
          <a:xfrm xmlns:a="http://schemas.openxmlformats.org/drawingml/2006/main" rot="0">
            <a:off x="1809750" y="2447925"/>
            <a:ext cx="266700" cy="114300"/>
          </a:xfrm>
          <a:prstGeom xmlns:a="http://schemas.openxmlformats.org/drawingml/2006/main" prst="rightArrow">
            <a:avLst/>
          </a:prstGeom>
          <a:solidFill xmlns:a="http://schemas.openxmlformats.org/drawingml/2006/main">
            <a:srgbClr val="33333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61FD790-9043-4141-8CB7-212FB5FD60CA}"/>
              </a:ext>
            </a:extLst>
          </p:cNvPr>
          <p:cNvSpPr>
            <a:spLocks xmlns:a="http://schemas.openxmlformats.org/drawingml/2006/main" noGrp="1"/>
          </p:cNvSpPr>
          <p:nvPr/>
        </p:nvSpPr>
        <p:spPr>
          <a:xfrm xmlns:a="http://schemas.openxmlformats.org/drawingml/2006/main" rot="0">
            <a:off x="3352800" y="2447925"/>
            <a:ext cx="266700" cy="114300"/>
          </a:xfrm>
          <a:prstGeom xmlns:a="http://schemas.openxmlformats.org/drawingml/2006/main" prst="rightArrow">
            <a:avLst/>
          </a:prstGeom>
          <a:solidFill xmlns:a="http://schemas.openxmlformats.org/drawingml/2006/main">
            <a:srgbClr val="33333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81F89CD-99F6-40A7-9075-AB7009C86C65}"/>
              </a:ext>
            </a:extLst>
          </p:cNvPr>
          <p:cNvSpPr>
            <a:spLocks xmlns:a="http://schemas.openxmlformats.org/drawingml/2006/main" noGrp="1"/>
          </p:cNvSpPr>
          <p:nvPr/>
        </p:nvSpPr>
        <p:spPr>
          <a:xfrm xmlns:a="http://schemas.openxmlformats.org/drawingml/2006/main" rot="0">
            <a:off x="4895850" y="2447925"/>
            <a:ext cx="266700" cy="114300"/>
          </a:xfrm>
          <a:prstGeom xmlns:a="http://schemas.openxmlformats.org/drawingml/2006/main" prst="rightArrow">
            <a:avLst/>
          </a:prstGeom>
          <a:solidFill xmlns:a="http://schemas.openxmlformats.org/drawingml/2006/main">
            <a:srgbClr val="FF5B2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973CC7-BD17-4C13-A77F-A6BC46A75464}"/>
              </a:ext>
            </a:extLst>
          </p:cNvPr>
          <p:cNvSpPr>
            <a:spLocks xmlns:a="http://schemas.openxmlformats.org/drawingml/2006/main" noGrp="1"/>
          </p:cNvSpPr>
          <p:nvPr/>
        </p:nvSpPr>
        <p:spPr>
          <a:xfrm xmlns:a="http://schemas.openxmlformats.org/drawingml/2006/main">
            <a:off x="5838825" y="2762250"/>
            <a:ext cx="0" cy="790575"/>
          </a:xfrm>
          <a:prstGeom xmlns:a="http://schemas.openxmlformats.org/drawingml/2006/main" prst="line">
            <a:avLst/>
          </a:prstGeom>
          <a:noFill xmlns:a="http://schemas.openxmlformats.org/drawingml/2006/main"/>
          <a:ln xmlns:a="http://schemas.openxmlformats.org/drawingml/2006/main" w="19050">
            <a:solidFill>
              <a:srgbClr val="FF5B22"/>
            </a:solidFill>
            <a:prstDash val="solid"/>
          </a:ln>
        </p:spPr>
      </p:sp>
      <p:sp>
        <p:nvSpPr>
          <p:cNvPr id="14" name="">
            <a:extLst xmlns:a="http://schemas.openxmlformats.org/drawingml/2006/main">
              <a:ext uri="{FF2B5EF4-FFF2-40B4-BE49-F238E27FC236}">
                <a16:creationId xmlns:a16="http://schemas.microsoft.com/office/drawing/2014/main" id="{A4C68469-E25D-404A-9488-91A56A7B9C38}"/>
              </a:ext>
            </a:extLst>
          </p:cNvPr>
          <p:cNvSpPr>
            <a:spLocks xmlns:a="http://schemas.openxmlformats.org/drawingml/2006/main" noGrp="1"/>
          </p:cNvSpPr>
          <p:nvPr/>
        </p:nvSpPr>
        <p:spPr>
          <a:xfrm xmlns:a="http://schemas.openxmlformats.org/drawingml/2006/main" rot="0">
            <a:off x="5705475" y="3429000"/>
            <a:ext cx="266700" cy="114300"/>
          </a:xfrm>
          <a:prstGeom xmlns:a="http://schemas.openxmlformats.org/drawingml/2006/main" prst="downArrow">
            <a:avLst/>
          </a:prstGeom>
          <a:solidFill xmlns:a="http://schemas.openxmlformats.org/drawingml/2006/main">
            <a:srgbClr val="FF5B2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ACF856D-0D89-43A5-9B05-85382B6D32B5}"/>
              </a:ext>
            </a:extLst>
          </p:cNvPr>
          <p:cNvSpPr>
            <a:spLocks xmlns:a="http://schemas.openxmlformats.org/drawingml/2006/main" noGrp="1"/>
          </p:cNvSpPr>
          <p:nvPr/>
        </p:nvSpPr>
        <p:spPr>
          <a:xfrm xmlns:a="http://schemas.openxmlformats.org/drawingml/2006/main" rot="0">
            <a:off x="1809750" y="4038600"/>
            <a:ext cx="266700" cy="114300"/>
          </a:xfrm>
          <a:prstGeom xmlns:a="http://schemas.openxmlformats.org/drawingml/2006/main" prst="leftArrow">
            <a:avLst/>
          </a:prstGeom>
          <a:solidFill xmlns:a="http://schemas.openxmlformats.org/drawingml/2006/main">
            <a:srgbClr val="FF5B2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4B041A0-6047-4AFA-919A-A426DD6FC96F}"/>
              </a:ext>
            </a:extLst>
          </p:cNvPr>
          <p:cNvSpPr>
            <a:spLocks xmlns:a="http://schemas.openxmlformats.org/drawingml/2006/main" noGrp="1"/>
          </p:cNvSpPr>
          <p:nvPr/>
        </p:nvSpPr>
        <p:spPr>
          <a:xfrm xmlns:a="http://schemas.openxmlformats.org/drawingml/2006/main" rot="0">
            <a:off x="3352800" y="4038600"/>
            <a:ext cx="266700" cy="114300"/>
          </a:xfrm>
          <a:prstGeom xmlns:a="http://schemas.openxmlformats.org/drawingml/2006/main" prst="leftArrow">
            <a:avLst/>
          </a:prstGeom>
          <a:solidFill xmlns:a="http://schemas.openxmlformats.org/drawingml/2006/main">
            <a:srgbClr val="33333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7E5380B-85B2-4451-B05E-184507429011}"/>
              </a:ext>
            </a:extLst>
          </p:cNvPr>
          <p:cNvSpPr>
            <a:spLocks xmlns:a="http://schemas.openxmlformats.org/drawingml/2006/main" noGrp="1"/>
          </p:cNvSpPr>
          <p:nvPr/>
        </p:nvSpPr>
        <p:spPr>
          <a:xfrm xmlns:a="http://schemas.openxmlformats.org/drawingml/2006/main" rot="0">
            <a:off x="4895850" y="4038600"/>
            <a:ext cx="266700" cy="114300"/>
          </a:xfrm>
          <a:prstGeom xmlns:a="http://schemas.openxmlformats.org/drawingml/2006/main" prst="leftArrow">
            <a:avLst/>
          </a:prstGeom>
          <a:solidFill xmlns:a="http://schemas.openxmlformats.org/drawingml/2006/main">
            <a:srgbClr val="33333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8174864-2ED9-43A0-B197-6EED9AF503FE}"/>
              </a:ext>
            </a:extLst>
          </p:cNvPr>
          <p:cNvSpPr>
            <a:spLocks xmlns:a="http://schemas.openxmlformats.org/drawingml/2006/main" noGrp="1"/>
          </p:cNvSpPr>
          <p:nvPr/>
        </p:nvSpPr>
        <p:spPr>
          <a:xfrm xmlns:a="http://schemas.openxmlformats.org/drawingml/2006/main" rot="0">
            <a:off x="609600" y="2152650"/>
            <a:ext cx="1200150" cy="723900"/>
          </a:xfrm>
          <a:prstGeom xmlns:a="http://schemas.openxmlformats.org/drawingml/2006/main" prst="roundRect">
            <a:avLst>
              <a:gd name="adj" fmla="val 13158"/>
            </a:avLst>
          </a:prstGeom>
          <a:solidFill xmlns:a="http://schemas.openxmlformats.org/drawingml/2006/main">
            <a:srgbClr val="141416"/>
          </a:solidFill>
          <a:ln xmlns:a="http://schemas.openxmlformats.org/drawingml/2006/main" w="9525">
            <a:solidFill>
              <a:srgbClr val="333337"/>
            </a:solidFill>
            <a:prstDash val="solid"/>
          </a:ln>
        </p:spPr>
      </p:sp>
      <p:sp>
        <p:nvSpPr>
          <p:cNvPr id="19" name="">
            <a:extLst xmlns:a="http://schemas.openxmlformats.org/drawingml/2006/main">
              <a:ext uri="{FF2B5EF4-FFF2-40B4-BE49-F238E27FC236}">
                <a16:creationId xmlns:a16="http://schemas.microsoft.com/office/drawing/2014/main" id="{1C20B181-1AD6-4D26-96B6-E0436FBEC1BD}"/>
              </a:ext>
            </a:extLst>
          </p:cNvPr>
          <p:cNvSpPr>
            <a:spLocks xmlns:a="http://schemas.openxmlformats.org/drawingml/2006/main" noGrp="1"/>
          </p:cNvSpPr>
          <p:nvPr/>
        </p:nvSpPr>
        <p:spPr>
          <a:xfrm xmlns:a="http://schemas.openxmlformats.org/drawingml/2006/main" rot="0">
            <a:off x="733425" y="2305050"/>
            <a:ext cx="952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4F3EF"/>
                </a:solidFill>
                <a:latin typeface="Courier New"/>
                <a:ea typeface="Courier New"/>
                <a:cs typeface="Courier New"/>
              </a:defRPr>
            </a:pPr>
            <a:r>
              <a:rPr sz="1125" b="1">
                <a:solidFill>
                  <a:srgbClr val="F4F3EF"/>
                </a:solidFill>
                <a:latin typeface="Courier New"/>
                <a:ea typeface="Courier New"/>
                <a:cs typeface="Courier New"/>
              </a:rPr>
              <a:t>CLAIM</a:t>
            </a:r>
          </a:p>
        </p:txBody>
      </p:sp>
      <p:sp>
        <p:nvSpPr>
          <p:cNvPr id="20" name="">
            <a:extLst xmlns:a="http://schemas.openxmlformats.org/drawingml/2006/main">
              <a:ext uri="{FF2B5EF4-FFF2-40B4-BE49-F238E27FC236}">
                <a16:creationId xmlns:a16="http://schemas.microsoft.com/office/drawing/2014/main" id="{0E894ED9-0D3C-47ED-9DC1-6DF2BB590708}"/>
              </a:ext>
            </a:extLst>
          </p:cNvPr>
          <p:cNvSpPr>
            <a:spLocks xmlns:a="http://schemas.openxmlformats.org/drawingml/2006/main" noGrp="1"/>
          </p:cNvSpPr>
          <p:nvPr/>
        </p:nvSpPr>
        <p:spPr>
          <a:xfrm xmlns:a="http://schemas.openxmlformats.org/drawingml/2006/main" rot="0">
            <a:off x="733425" y="254317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A6A3A0"/>
                </a:solidFill>
                <a:latin typeface="Arial"/>
                <a:ea typeface="Arial"/>
                <a:cs typeface="Arial"/>
              </a:defRPr>
            </a:pPr>
            <a:r>
              <a:rPr sz="1125" b="0">
                <a:solidFill>
                  <a:srgbClr val="A6A3A0"/>
                </a:solidFill>
                <a:latin typeface="Arial"/>
                <a:ea typeface="Arial"/>
                <a:cs typeface="Arial"/>
              </a:rPr>
              <a:t>Compile</a:t>
            </a:r>
          </a:p>
        </p:txBody>
      </p:sp>
      <p:sp>
        <p:nvSpPr>
          <p:cNvPr id="21" name="">
            <a:extLst xmlns:a="http://schemas.openxmlformats.org/drawingml/2006/main">
              <a:ext uri="{FF2B5EF4-FFF2-40B4-BE49-F238E27FC236}">
                <a16:creationId xmlns:a16="http://schemas.microsoft.com/office/drawing/2014/main" id="{366D283F-9450-4B4A-AA87-4F1CEF550958}"/>
              </a:ext>
            </a:extLst>
          </p:cNvPr>
          <p:cNvSpPr>
            <a:spLocks xmlns:a="http://schemas.openxmlformats.org/drawingml/2006/main" noGrp="1"/>
          </p:cNvSpPr>
          <p:nvPr/>
        </p:nvSpPr>
        <p:spPr>
          <a:xfrm xmlns:a="http://schemas.openxmlformats.org/drawingml/2006/main" rot="0">
            <a:off x="2152650" y="2152650"/>
            <a:ext cx="1200150" cy="723900"/>
          </a:xfrm>
          <a:prstGeom xmlns:a="http://schemas.openxmlformats.org/drawingml/2006/main" prst="roundRect">
            <a:avLst>
              <a:gd name="adj" fmla="val 13158"/>
            </a:avLst>
          </a:prstGeom>
          <a:solidFill xmlns:a="http://schemas.openxmlformats.org/drawingml/2006/main">
            <a:srgbClr val="141416"/>
          </a:solidFill>
          <a:ln xmlns:a="http://schemas.openxmlformats.org/drawingml/2006/main" w="9525">
            <a:solidFill>
              <a:srgbClr val="333337"/>
            </a:solidFill>
            <a:prstDash val="solid"/>
          </a:ln>
        </p:spPr>
      </p:sp>
      <p:sp>
        <p:nvSpPr>
          <p:cNvPr id="22" name="">
            <a:extLst xmlns:a="http://schemas.openxmlformats.org/drawingml/2006/main">
              <a:ext uri="{FF2B5EF4-FFF2-40B4-BE49-F238E27FC236}">
                <a16:creationId xmlns:a16="http://schemas.microsoft.com/office/drawing/2014/main" id="{F5DF19AD-A9E9-4216-A62B-6B997FFD6590}"/>
              </a:ext>
            </a:extLst>
          </p:cNvPr>
          <p:cNvSpPr>
            <a:spLocks xmlns:a="http://schemas.openxmlformats.org/drawingml/2006/main" noGrp="1"/>
          </p:cNvSpPr>
          <p:nvPr/>
        </p:nvSpPr>
        <p:spPr>
          <a:xfrm xmlns:a="http://schemas.openxmlformats.org/drawingml/2006/main" rot="0">
            <a:off x="2276475" y="2305050"/>
            <a:ext cx="952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4F3EF"/>
                </a:solidFill>
                <a:latin typeface="Courier New"/>
                <a:ea typeface="Courier New"/>
                <a:cs typeface="Courier New"/>
              </a:defRPr>
            </a:pPr>
            <a:r>
              <a:rPr sz="1125" b="1">
                <a:solidFill>
                  <a:srgbClr val="F4F3EF"/>
                </a:solidFill>
                <a:latin typeface="Courier New"/>
                <a:ea typeface="Courier New"/>
                <a:cs typeface="Courier New"/>
              </a:rPr>
              <a:t>PLAN</a:t>
            </a:r>
          </a:p>
        </p:txBody>
      </p:sp>
      <p:sp>
        <p:nvSpPr>
          <p:cNvPr id="23" name="">
            <a:extLst xmlns:a="http://schemas.openxmlformats.org/drawingml/2006/main">
              <a:ext uri="{FF2B5EF4-FFF2-40B4-BE49-F238E27FC236}">
                <a16:creationId xmlns:a16="http://schemas.microsoft.com/office/drawing/2014/main" id="{7CEDFB60-5985-4D69-B409-8482651BEAC4}"/>
              </a:ext>
            </a:extLst>
          </p:cNvPr>
          <p:cNvSpPr>
            <a:spLocks xmlns:a="http://schemas.openxmlformats.org/drawingml/2006/main" noGrp="1"/>
          </p:cNvSpPr>
          <p:nvPr/>
        </p:nvSpPr>
        <p:spPr>
          <a:xfrm xmlns:a="http://schemas.openxmlformats.org/drawingml/2006/main" rot="0">
            <a:off x="2276475" y="254317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A6A3A0"/>
                </a:solidFill>
                <a:latin typeface="Arial"/>
                <a:ea typeface="Arial"/>
                <a:cs typeface="Arial"/>
              </a:defRPr>
            </a:pPr>
            <a:r>
              <a:rPr sz="1125" b="0">
                <a:solidFill>
                  <a:srgbClr val="A6A3A0"/>
                </a:solidFill>
                <a:latin typeface="Arial"/>
                <a:ea typeface="Arial"/>
                <a:cs typeface="Arial"/>
              </a:rPr>
              <a:t>Bound</a:t>
            </a:r>
          </a:p>
        </p:txBody>
      </p:sp>
      <p:sp>
        <p:nvSpPr>
          <p:cNvPr id="24" name="">
            <a:extLst xmlns:a="http://schemas.openxmlformats.org/drawingml/2006/main">
              <a:ext uri="{FF2B5EF4-FFF2-40B4-BE49-F238E27FC236}">
                <a16:creationId xmlns:a16="http://schemas.microsoft.com/office/drawing/2014/main" id="{BC91CA49-EA37-4727-83C1-84A9A46BA35C}"/>
              </a:ext>
            </a:extLst>
          </p:cNvPr>
          <p:cNvSpPr>
            <a:spLocks xmlns:a="http://schemas.openxmlformats.org/drawingml/2006/main" noGrp="1"/>
          </p:cNvSpPr>
          <p:nvPr/>
        </p:nvSpPr>
        <p:spPr>
          <a:xfrm xmlns:a="http://schemas.openxmlformats.org/drawingml/2006/main" rot="0">
            <a:off x="3695700" y="2152650"/>
            <a:ext cx="1200150" cy="723900"/>
          </a:xfrm>
          <a:prstGeom xmlns:a="http://schemas.openxmlformats.org/drawingml/2006/main" prst="roundRect">
            <a:avLst>
              <a:gd name="adj" fmla="val 13158"/>
            </a:avLst>
          </a:prstGeom>
          <a:solidFill xmlns:a="http://schemas.openxmlformats.org/drawingml/2006/main">
            <a:srgbClr val="141416"/>
          </a:solidFill>
          <a:ln xmlns:a="http://schemas.openxmlformats.org/drawingml/2006/main" w="9525">
            <a:solidFill>
              <a:srgbClr val="333337"/>
            </a:solidFill>
            <a:prstDash val="solid"/>
          </a:ln>
        </p:spPr>
      </p:sp>
      <p:sp>
        <p:nvSpPr>
          <p:cNvPr id="25" name="">
            <a:extLst xmlns:a="http://schemas.openxmlformats.org/drawingml/2006/main">
              <a:ext uri="{FF2B5EF4-FFF2-40B4-BE49-F238E27FC236}">
                <a16:creationId xmlns:a16="http://schemas.microsoft.com/office/drawing/2014/main" id="{1BA2205A-53F6-4E17-B330-7B8E686AC212}"/>
              </a:ext>
            </a:extLst>
          </p:cNvPr>
          <p:cNvSpPr>
            <a:spLocks xmlns:a="http://schemas.openxmlformats.org/drawingml/2006/main" noGrp="1"/>
          </p:cNvSpPr>
          <p:nvPr/>
        </p:nvSpPr>
        <p:spPr>
          <a:xfrm xmlns:a="http://schemas.openxmlformats.org/drawingml/2006/main" rot="0">
            <a:off x="3819525" y="2305050"/>
            <a:ext cx="952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4F3EF"/>
                </a:solidFill>
                <a:latin typeface="Courier New"/>
                <a:ea typeface="Courier New"/>
                <a:cs typeface="Courier New"/>
              </a:defRPr>
            </a:pPr>
            <a:r>
              <a:rPr sz="1125" b="1">
                <a:solidFill>
                  <a:srgbClr val="F4F3EF"/>
                </a:solidFill>
                <a:latin typeface="Courier New"/>
                <a:ea typeface="Courier New"/>
                <a:cs typeface="Courier New"/>
              </a:rPr>
              <a:t>OBSERVE</a:t>
            </a:r>
          </a:p>
        </p:txBody>
      </p:sp>
      <p:sp>
        <p:nvSpPr>
          <p:cNvPr id="26" name="">
            <a:extLst xmlns:a="http://schemas.openxmlformats.org/drawingml/2006/main">
              <a:ext uri="{FF2B5EF4-FFF2-40B4-BE49-F238E27FC236}">
                <a16:creationId xmlns:a16="http://schemas.microsoft.com/office/drawing/2014/main" id="{77D0593C-DB97-4CFD-ABA0-BD2BAD2D2985}"/>
              </a:ext>
            </a:extLst>
          </p:cNvPr>
          <p:cNvSpPr>
            <a:spLocks xmlns:a="http://schemas.openxmlformats.org/drawingml/2006/main" noGrp="1"/>
          </p:cNvSpPr>
          <p:nvPr/>
        </p:nvSpPr>
        <p:spPr>
          <a:xfrm xmlns:a="http://schemas.openxmlformats.org/drawingml/2006/main" rot="0">
            <a:off x="3819525" y="254317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A6A3A0"/>
                </a:solidFill>
                <a:latin typeface="Arial"/>
                <a:ea typeface="Arial"/>
                <a:cs typeface="Arial"/>
              </a:defRPr>
            </a:pPr>
            <a:r>
              <a:rPr sz="1125" b="0">
                <a:solidFill>
                  <a:srgbClr val="A6A3A0"/>
                </a:solidFill>
                <a:latin typeface="Arial"/>
                <a:ea typeface="Arial"/>
                <a:cs typeface="Arial"/>
              </a:rPr>
              <a:t>Probe</a:t>
            </a:r>
          </a:p>
        </p:txBody>
      </p:sp>
      <p:sp>
        <p:nvSpPr>
          <p:cNvPr id="27" name="">
            <a:extLst xmlns:a="http://schemas.openxmlformats.org/drawingml/2006/main">
              <a:ext uri="{FF2B5EF4-FFF2-40B4-BE49-F238E27FC236}">
                <a16:creationId xmlns:a16="http://schemas.microsoft.com/office/drawing/2014/main" id="{15D7F52A-CC0C-46B2-8DEC-BF75537A7947}"/>
              </a:ext>
            </a:extLst>
          </p:cNvPr>
          <p:cNvSpPr>
            <a:spLocks xmlns:a="http://schemas.openxmlformats.org/drawingml/2006/main" noGrp="1"/>
          </p:cNvSpPr>
          <p:nvPr/>
        </p:nvSpPr>
        <p:spPr>
          <a:xfrm xmlns:a="http://schemas.openxmlformats.org/drawingml/2006/main" rot="0">
            <a:off x="5238750" y="2152650"/>
            <a:ext cx="1200150" cy="723900"/>
          </a:xfrm>
          <a:prstGeom xmlns:a="http://schemas.openxmlformats.org/drawingml/2006/main" prst="roundRect">
            <a:avLst>
              <a:gd name="adj" fmla="val 13158"/>
            </a:avLst>
          </a:prstGeom>
          <a:solidFill xmlns:a="http://schemas.openxmlformats.org/drawingml/2006/main">
            <a:srgbClr val="23150F"/>
          </a:solidFill>
          <a:ln xmlns:a="http://schemas.openxmlformats.org/drawingml/2006/main" w="9525">
            <a:solidFill>
              <a:srgbClr val="FF5B22"/>
            </a:solidFill>
            <a:prstDash val="solid"/>
          </a:ln>
        </p:spPr>
      </p:sp>
      <p:sp>
        <p:nvSpPr>
          <p:cNvPr id="28" name="">
            <a:extLst xmlns:a="http://schemas.openxmlformats.org/drawingml/2006/main">
              <a:ext uri="{FF2B5EF4-FFF2-40B4-BE49-F238E27FC236}">
                <a16:creationId xmlns:a16="http://schemas.microsoft.com/office/drawing/2014/main" id="{D367C548-866E-498D-8E37-A9A1954C8489}"/>
              </a:ext>
            </a:extLst>
          </p:cNvPr>
          <p:cNvSpPr>
            <a:spLocks xmlns:a="http://schemas.openxmlformats.org/drawingml/2006/main" noGrp="1"/>
          </p:cNvSpPr>
          <p:nvPr/>
        </p:nvSpPr>
        <p:spPr>
          <a:xfrm xmlns:a="http://schemas.openxmlformats.org/drawingml/2006/main" rot="0">
            <a:off x="5362575" y="2305050"/>
            <a:ext cx="952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F5B22"/>
                </a:solidFill>
                <a:latin typeface="Courier New"/>
                <a:ea typeface="Courier New"/>
                <a:cs typeface="Courier New"/>
              </a:defRPr>
            </a:pPr>
            <a:r>
              <a:rPr sz="1125" b="1">
                <a:solidFill>
                  <a:srgbClr val="FF5B22"/>
                </a:solidFill>
                <a:latin typeface="Courier New"/>
                <a:ea typeface="Courier New"/>
                <a:cs typeface="Courier New"/>
              </a:rPr>
              <a:t>CHALLENGE</a:t>
            </a:r>
          </a:p>
        </p:txBody>
      </p:sp>
      <p:sp>
        <p:nvSpPr>
          <p:cNvPr id="29" name="">
            <a:extLst xmlns:a="http://schemas.openxmlformats.org/drawingml/2006/main">
              <a:ext uri="{FF2B5EF4-FFF2-40B4-BE49-F238E27FC236}">
                <a16:creationId xmlns:a16="http://schemas.microsoft.com/office/drawing/2014/main" id="{DA6BEFA5-B3F1-4D4D-B0C5-CA821FD7904B}"/>
              </a:ext>
            </a:extLst>
          </p:cNvPr>
          <p:cNvSpPr>
            <a:spLocks xmlns:a="http://schemas.openxmlformats.org/drawingml/2006/main" noGrp="1"/>
          </p:cNvSpPr>
          <p:nvPr/>
        </p:nvSpPr>
        <p:spPr>
          <a:xfrm xmlns:a="http://schemas.openxmlformats.org/drawingml/2006/main" rot="0">
            <a:off x="5362575" y="254317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A6A3A0"/>
                </a:solidFill>
                <a:latin typeface="Arial"/>
                <a:ea typeface="Arial"/>
                <a:cs typeface="Arial"/>
              </a:defRPr>
            </a:pPr>
            <a:r>
              <a:rPr sz="1125" b="0">
                <a:solidFill>
                  <a:srgbClr val="A6A3A0"/>
                </a:solidFill>
                <a:latin typeface="Arial"/>
                <a:ea typeface="Arial"/>
                <a:cs typeface="Arial"/>
              </a:rPr>
              <a:t>Falsify</a:t>
            </a:r>
          </a:p>
        </p:txBody>
      </p:sp>
      <p:sp>
        <p:nvSpPr>
          <p:cNvPr id="30" name="">
            <a:extLst xmlns:a="http://schemas.openxmlformats.org/drawingml/2006/main">
              <a:ext uri="{FF2B5EF4-FFF2-40B4-BE49-F238E27FC236}">
                <a16:creationId xmlns:a16="http://schemas.microsoft.com/office/drawing/2014/main" id="{546626F8-75E6-4E61-B4DD-82E08A8530BA}"/>
              </a:ext>
            </a:extLst>
          </p:cNvPr>
          <p:cNvSpPr>
            <a:spLocks xmlns:a="http://schemas.openxmlformats.org/drawingml/2006/main" noGrp="1"/>
          </p:cNvSpPr>
          <p:nvPr/>
        </p:nvSpPr>
        <p:spPr>
          <a:xfrm xmlns:a="http://schemas.openxmlformats.org/drawingml/2006/main" rot="0">
            <a:off x="609600" y="3733800"/>
            <a:ext cx="1200150" cy="723900"/>
          </a:xfrm>
          <a:prstGeom xmlns:a="http://schemas.openxmlformats.org/drawingml/2006/main" prst="roundRect">
            <a:avLst>
              <a:gd name="adj" fmla="val 13158"/>
            </a:avLst>
          </a:prstGeom>
          <a:solidFill xmlns:a="http://schemas.openxmlformats.org/drawingml/2006/main">
            <a:srgbClr val="141416"/>
          </a:solidFill>
          <a:ln xmlns:a="http://schemas.openxmlformats.org/drawingml/2006/main" w="9525">
            <a:solidFill>
              <a:srgbClr val="333337"/>
            </a:solidFill>
            <a:prstDash val="solid"/>
          </a:ln>
        </p:spPr>
      </p:sp>
      <p:sp>
        <p:nvSpPr>
          <p:cNvPr id="31" name="">
            <a:extLst xmlns:a="http://schemas.openxmlformats.org/drawingml/2006/main">
              <a:ext uri="{FF2B5EF4-FFF2-40B4-BE49-F238E27FC236}">
                <a16:creationId xmlns:a16="http://schemas.microsoft.com/office/drawing/2014/main" id="{0E376173-F971-4532-84F0-B28DEEBBDE86}"/>
              </a:ext>
            </a:extLst>
          </p:cNvPr>
          <p:cNvSpPr>
            <a:spLocks xmlns:a="http://schemas.openxmlformats.org/drawingml/2006/main" noGrp="1"/>
          </p:cNvSpPr>
          <p:nvPr/>
        </p:nvSpPr>
        <p:spPr>
          <a:xfrm xmlns:a="http://schemas.openxmlformats.org/drawingml/2006/main" rot="0">
            <a:off x="733425" y="3886200"/>
            <a:ext cx="952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4F3EF"/>
                </a:solidFill>
                <a:latin typeface="Courier New"/>
                <a:ea typeface="Courier New"/>
                <a:cs typeface="Courier New"/>
              </a:defRPr>
            </a:pPr>
            <a:r>
              <a:rPr sz="1125" b="1">
                <a:solidFill>
                  <a:srgbClr val="F4F3EF"/>
                </a:solidFill>
                <a:latin typeface="Courier New"/>
                <a:ea typeface="Courier New"/>
                <a:cs typeface="Courier New"/>
              </a:rPr>
              <a:t>DECIDE</a:t>
            </a:r>
          </a:p>
        </p:txBody>
      </p:sp>
      <p:sp>
        <p:nvSpPr>
          <p:cNvPr id="32" name="">
            <a:extLst xmlns:a="http://schemas.openxmlformats.org/drawingml/2006/main">
              <a:ext uri="{FF2B5EF4-FFF2-40B4-BE49-F238E27FC236}">
                <a16:creationId xmlns:a16="http://schemas.microsoft.com/office/drawing/2014/main" id="{988C7518-F6A6-4F43-BEC0-5DD9B5C05F5C}"/>
              </a:ext>
            </a:extLst>
          </p:cNvPr>
          <p:cNvSpPr>
            <a:spLocks xmlns:a="http://schemas.openxmlformats.org/drawingml/2006/main" noGrp="1"/>
          </p:cNvSpPr>
          <p:nvPr/>
        </p:nvSpPr>
        <p:spPr>
          <a:xfrm xmlns:a="http://schemas.openxmlformats.org/drawingml/2006/main" rot="0">
            <a:off x="733425" y="412432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A6A3A0"/>
                </a:solidFill>
                <a:latin typeface="Arial"/>
                <a:ea typeface="Arial"/>
                <a:cs typeface="Arial"/>
              </a:defRPr>
            </a:pPr>
            <a:r>
              <a:rPr sz="1125" b="0">
                <a:solidFill>
                  <a:srgbClr val="A6A3A0"/>
                </a:solidFill>
                <a:latin typeface="Arial"/>
                <a:ea typeface="Arial"/>
                <a:cs typeface="Arial"/>
              </a:rPr>
              <a:t>Request</a:t>
            </a:r>
          </a:p>
        </p:txBody>
      </p:sp>
      <p:sp>
        <p:nvSpPr>
          <p:cNvPr id="33" name="">
            <a:extLst xmlns:a="http://schemas.openxmlformats.org/drawingml/2006/main">
              <a:ext uri="{FF2B5EF4-FFF2-40B4-BE49-F238E27FC236}">
                <a16:creationId xmlns:a16="http://schemas.microsoft.com/office/drawing/2014/main" id="{534B94A4-5E46-4DDF-A381-B4515FCD1E0F}"/>
              </a:ext>
            </a:extLst>
          </p:cNvPr>
          <p:cNvSpPr>
            <a:spLocks xmlns:a="http://schemas.openxmlformats.org/drawingml/2006/main" noGrp="1"/>
          </p:cNvSpPr>
          <p:nvPr/>
        </p:nvSpPr>
        <p:spPr>
          <a:xfrm xmlns:a="http://schemas.openxmlformats.org/drawingml/2006/main" rot="0">
            <a:off x="2152650" y="3733800"/>
            <a:ext cx="1200150" cy="723900"/>
          </a:xfrm>
          <a:prstGeom xmlns:a="http://schemas.openxmlformats.org/drawingml/2006/main" prst="roundRect">
            <a:avLst>
              <a:gd name="adj" fmla="val 13158"/>
            </a:avLst>
          </a:prstGeom>
          <a:solidFill xmlns:a="http://schemas.openxmlformats.org/drawingml/2006/main">
            <a:srgbClr val="141416"/>
          </a:solidFill>
          <a:ln xmlns:a="http://schemas.openxmlformats.org/drawingml/2006/main" w="9525">
            <a:solidFill>
              <a:srgbClr val="333337"/>
            </a:solidFill>
            <a:prstDash val="solid"/>
          </a:ln>
        </p:spPr>
      </p:sp>
      <p:sp>
        <p:nvSpPr>
          <p:cNvPr id="34" name="">
            <a:extLst xmlns:a="http://schemas.openxmlformats.org/drawingml/2006/main">
              <a:ext uri="{FF2B5EF4-FFF2-40B4-BE49-F238E27FC236}">
                <a16:creationId xmlns:a16="http://schemas.microsoft.com/office/drawing/2014/main" id="{28DF4DA2-D87C-4887-80DC-1B1F624C0E2D}"/>
              </a:ext>
            </a:extLst>
          </p:cNvPr>
          <p:cNvSpPr>
            <a:spLocks xmlns:a="http://schemas.openxmlformats.org/drawingml/2006/main" noGrp="1"/>
          </p:cNvSpPr>
          <p:nvPr/>
        </p:nvSpPr>
        <p:spPr>
          <a:xfrm xmlns:a="http://schemas.openxmlformats.org/drawingml/2006/main" rot="0">
            <a:off x="2276475" y="3886200"/>
            <a:ext cx="952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4F3EF"/>
                </a:solidFill>
                <a:latin typeface="Courier New"/>
                <a:ea typeface="Courier New"/>
                <a:cs typeface="Courier New"/>
              </a:defRPr>
            </a:pPr>
            <a:r>
              <a:rPr sz="1125" b="1">
                <a:solidFill>
                  <a:srgbClr val="F4F3EF"/>
                </a:solidFill>
                <a:latin typeface="Courier New"/>
                <a:ea typeface="Courier New"/>
                <a:cs typeface="Courier New"/>
              </a:rPr>
              <a:t>AUDIT</a:t>
            </a:r>
          </a:p>
        </p:txBody>
      </p:sp>
      <p:sp>
        <p:nvSpPr>
          <p:cNvPr id="35" name="">
            <a:extLst xmlns:a="http://schemas.openxmlformats.org/drawingml/2006/main">
              <a:ext uri="{FF2B5EF4-FFF2-40B4-BE49-F238E27FC236}">
                <a16:creationId xmlns:a16="http://schemas.microsoft.com/office/drawing/2014/main" id="{1721FD24-E5B4-4AD1-A92C-9E37ABE6BE93}"/>
              </a:ext>
            </a:extLst>
          </p:cNvPr>
          <p:cNvSpPr>
            <a:spLocks xmlns:a="http://schemas.openxmlformats.org/drawingml/2006/main" noGrp="1"/>
          </p:cNvSpPr>
          <p:nvPr/>
        </p:nvSpPr>
        <p:spPr>
          <a:xfrm xmlns:a="http://schemas.openxmlformats.org/drawingml/2006/main" rot="0">
            <a:off x="2276475" y="412432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A6A3A0"/>
                </a:solidFill>
                <a:latin typeface="Arial"/>
                <a:ea typeface="Arial"/>
                <a:cs typeface="Arial"/>
              </a:defRPr>
            </a:pPr>
            <a:r>
              <a:rPr sz="1125" b="0">
                <a:solidFill>
                  <a:srgbClr val="A6A3A0"/>
                </a:solidFill>
                <a:latin typeface="Arial"/>
                <a:ea typeface="Arial"/>
                <a:cs typeface="Arial"/>
              </a:rPr>
              <a:t>Verify</a:t>
            </a:r>
          </a:p>
        </p:txBody>
      </p:sp>
      <p:sp>
        <p:nvSpPr>
          <p:cNvPr id="36" name="">
            <a:extLst xmlns:a="http://schemas.openxmlformats.org/drawingml/2006/main">
              <a:ext uri="{FF2B5EF4-FFF2-40B4-BE49-F238E27FC236}">
                <a16:creationId xmlns:a16="http://schemas.microsoft.com/office/drawing/2014/main" id="{925AA163-8158-4248-A169-37E393591E6D}"/>
              </a:ext>
            </a:extLst>
          </p:cNvPr>
          <p:cNvSpPr>
            <a:spLocks xmlns:a="http://schemas.openxmlformats.org/drawingml/2006/main" noGrp="1"/>
          </p:cNvSpPr>
          <p:nvPr/>
        </p:nvSpPr>
        <p:spPr>
          <a:xfrm xmlns:a="http://schemas.openxmlformats.org/drawingml/2006/main" rot="0">
            <a:off x="3695700" y="3733800"/>
            <a:ext cx="1200150" cy="723900"/>
          </a:xfrm>
          <a:prstGeom xmlns:a="http://schemas.openxmlformats.org/drawingml/2006/main" prst="roundRect">
            <a:avLst>
              <a:gd name="adj" fmla="val 13158"/>
            </a:avLst>
          </a:prstGeom>
          <a:solidFill xmlns:a="http://schemas.openxmlformats.org/drawingml/2006/main">
            <a:srgbClr val="141416"/>
          </a:solidFill>
          <a:ln xmlns:a="http://schemas.openxmlformats.org/drawingml/2006/main" w="9525">
            <a:solidFill>
              <a:srgbClr val="333337"/>
            </a:solidFill>
            <a:prstDash val="solid"/>
          </a:ln>
        </p:spPr>
      </p:sp>
      <p:sp>
        <p:nvSpPr>
          <p:cNvPr id="37" name="">
            <a:extLst xmlns:a="http://schemas.openxmlformats.org/drawingml/2006/main">
              <a:ext uri="{FF2B5EF4-FFF2-40B4-BE49-F238E27FC236}">
                <a16:creationId xmlns:a16="http://schemas.microsoft.com/office/drawing/2014/main" id="{3E7C5FC8-D776-4188-9789-ECB0BEB09979}"/>
              </a:ext>
            </a:extLst>
          </p:cNvPr>
          <p:cNvSpPr>
            <a:spLocks xmlns:a="http://schemas.openxmlformats.org/drawingml/2006/main" noGrp="1"/>
          </p:cNvSpPr>
          <p:nvPr/>
        </p:nvSpPr>
        <p:spPr>
          <a:xfrm xmlns:a="http://schemas.openxmlformats.org/drawingml/2006/main" rot="0">
            <a:off x="3819525" y="3886200"/>
            <a:ext cx="952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4F3EF"/>
                </a:solidFill>
                <a:latin typeface="Courier New"/>
                <a:ea typeface="Courier New"/>
                <a:cs typeface="Courier New"/>
              </a:defRPr>
            </a:pPr>
            <a:r>
              <a:rPr sz="1125" b="1">
                <a:solidFill>
                  <a:srgbClr val="F4F3EF"/>
                </a:solidFill>
                <a:latin typeface="Courier New"/>
                <a:ea typeface="Courier New"/>
                <a:cs typeface="Courier New"/>
              </a:rPr>
              <a:t>REPLAY</a:t>
            </a:r>
          </a:p>
        </p:txBody>
      </p:sp>
      <p:sp>
        <p:nvSpPr>
          <p:cNvPr id="38" name="">
            <a:extLst xmlns:a="http://schemas.openxmlformats.org/drawingml/2006/main">
              <a:ext uri="{FF2B5EF4-FFF2-40B4-BE49-F238E27FC236}">
                <a16:creationId xmlns:a16="http://schemas.microsoft.com/office/drawing/2014/main" id="{E02A533D-8409-4929-BA16-7BB764DDF5D9}"/>
              </a:ext>
            </a:extLst>
          </p:cNvPr>
          <p:cNvSpPr>
            <a:spLocks xmlns:a="http://schemas.openxmlformats.org/drawingml/2006/main" noGrp="1"/>
          </p:cNvSpPr>
          <p:nvPr/>
        </p:nvSpPr>
        <p:spPr>
          <a:xfrm xmlns:a="http://schemas.openxmlformats.org/drawingml/2006/main" rot="0">
            <a:off x="3819525" y="412432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A6A3A0"/>
                </a:solidFill>
                <a:latin typeface="Arial"/>
                <a:ea typeface="Arial"/>
                <a:cs typeface="Arial"/>
              </a:defRPr>
            </a:pPr>
            <a:r>
              <a:rPr sz="1125" b="0">
                <a:solidFill>
                  <a:srgbClr val="A6A3A0"/>
                </a:solidFill>
                <a:latin typeface="Arial"/>
                <a:ea typeface="Arial"/>
                <a:cs typeface="Arial"/>
              </a:rPr>
              <a:t>Recompute</a:t>
            </a:r>
          </a:p>
        </p:txBody>
      </p:sp>
      <p:sp>
        <p:nvSpPr>
          <p:cNvPr id="39" name="">
            <a:extLst xmlns:a="http://schemas.openxmlformats.org/drawingml/2006/main">
              <a:ext uri="{FF2B5EF4-FFF2-40B4-BE49-F238E27FC236}">
                <a16:creationId xmlns:a16="http://schemas.microsoft.com/office/drawing/2014/main" id="{ABA738CF-A64F-4307-8A6E-102CF0A0F79F}"/>
              </a:ext>
            </a:extLst>
          </p:cNvPr>
          <p:cNvSpPr>
            <a:spLocks xmlns:a="http://schemas.openxmlformats.org/drawingml/2006/main" noGrp="1"/>
          </p:cNvSpPr>
          <p:nvPr/>
        </p:nvSpPr>
        <p:spPr>
          <a:xfrm xmlns:a="http://schemas.openxmlformats.org/drawingml/2006/main" rot="0">
            <a:off x="5238750" y="3733800"/>
            <a:ext cx="1200150" cy="723900"/>
          </a:xfrm>
          <a:prstGeom xmlns:a="http://schemas.openxmlformats.org/drawingml/2006/main" prst="roundRect">
            <a:avLst>
              <a:gd name="adj" fmla="val 13158"/>
            </a:avLst>
          </a:prstGeom>
          <a:solidFill xmlns:a="http://schemas.openxmlformats.org/drawingml/2006/main">
            <a:srgbClr val="23150F"/>
          </a:solidFill>
          <a:ln xmlns:a="http://schemas.openxmlformats.org/drawingml/2006/main" w="9525">
            <a:solidFill>
              <a:srgbClr val="FF5B22"/>
            </a:solidFill>
            <a:prstDash val="solid"/>
          </a:ln>
        </p:spPr>
      </p:sp>
      <p:sp>
        <p:nvSpPr>
          <p:cNvPr id="40" name="">
            <a:extLst xmlns:a="http://schemas.openxmlformats.org/drawingml/2006/main">
              <a:ext uri="{FF2B5EF4-FFF2-40B4-BE49-F238E27FC236}">
                <a16:creationId xmlns:a16="http://schemas.microsoft.com/office/drawing/2014/main" id="{FC7C9488-393F-4017-B4D5-AA7900A050DB}"/>
              </a:ext>
            </a:extLst>
          </p:cNvPr>
          <p:cNvSpPr>
            <a:spLocks xmlns:a="http://schemas.openxmlformats.org/drawingml/2006/main" noGrp="1"/>
          </p:cNvSpPr>
          <p:nvPr/>
        </p:nvSpPr>
        <p:spPr>
          <a:xfrm xmlns:a="http://schemas.openxmlformats.org/drawingml/2006/main" rot="0">
            <a:off x="5362575" y="3886200"/>
            <a:ext cx="952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F5B22"/>
                </a:solidFill>
                <a:latin typeface="Courier New"/>
                <a:ea typeface="Courier New"/>
                <a:cs typeface="Courier New"/>
              </a:defRPr>
            </a:pPr>
            <a:r>
              <a:rPr sz="1125" b="1">
                <a:solidFill>
                  <a:srgbClr val="FF5B22"/>
                </a:solidFill>
                <a:latin typeface="Courier New"/>
                <a:ea typeface="Courier New"/>
                <a:cs typeface="Courier New"/>
              </a:rPr>
              <a:t>DEMO GATE</a:t>
            </a:r>
          </a:p>
        </p:txBody>
      </p:sp>
      <p:sp>
        <p:nvSpPr>
          <p:cNvPr id="41" name="">
            <a:extLst xmlns:a="http://schemas.openxmlformats.org/drawingml/2006/main">
              <a:ext uri="{FF2B5EF4-FFF2-40B4-BE49-F238E27FC236}">
                <a16:creationId xmlns:a16="http://schemas.microsoft.com/office/drawing/2014/main" id="{96D69587-FF08-4A4B-951A-0E93311D5E83}"/>
              </a:ext>
            </a:extLst>
          </p:cNvPr>
          <p:cNvSpPr>
            <a:spLocks xmlns:a="http://schemas.openxmlformats.org/drawingml/2006/main" noGrp="1"/>
          </p:cNvSpPr>
          <p:nvPr/>
        </p:nvSpPr>
        <p:spPr>
          <a:xfrm xmlns:a="http://schemas.openxmlformats.org/drawingml/2006/main" rot="0">
            <a:off x="5362575" y="412432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A6A3A0"/>
                </a:solidFill>
                <a:latin typeface="Arial"/>
                <a:ea typeface="Arial"/>
                <a:cs typeface="Arial"/>
              </a:defRPr>
            </a:pPr>
            <a:r>
              <a:rPr sz="1125" b="0">
                <a:solidFill>
                  <a:srgbClr val="A6A3A0"/>
                </a:solidFill>
                <a:latin typeface="Arial"/>
                <a:ea typeface="Arial"/>
                <a:cs typeface="Arial"/>
              </a:rPr>
              <a:t>Trigger</a:t>
            </a:r>
          </a:p>
        </p:txBody>
      </p:sp>
      <p:sp>
        <p:nvSpPr>
          <p:cNvPr id="42" name="">
            <a:extLst xmlns:a="http://schemas.openxmlformats.org/drawingml/2006/main">
              <a:ext uri="{FF2B5EF4-FFF2-40B4-BE49-F238E27FC236}">
                <a16:creationId xmlns:a16="http://schemas.microsoft.com/office/drawing/2014/main" id="{5108D78A-45A7-43C8-9F6F-1F6346EB9596}"/>
              </a:ext>
            </a:extLst>
          </p:cNvPr>
          <p:cNvSpPr>
            <a:spLocks xmlns:a="http://schemas.openxmlformats.org/drawingml/2006/main" noGrp="1"/>
          </p:cNvSpPr>
          <p:nvPr/>
        </p:nvSpPr>
        <p:spPr>
          <a:xfrm xmlns:a="http://schemas.openxmlformats.org/drawingml/2006/main" rot="0">
            <a:off x="609600" y="4829175"/>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6D6B"/>
                </a:solidFill>
                <a:latin typeface="Courier New"/>
                <a:ea typeface="Courier New"/>
                <a:cs typeface="Courier New"/>
              </a:defRPr>
            </a:pPr>
            <a:r>
              <a:rPr sz="975" b="1">
                <a:solidFill>
                  <a:srgbClr val="6F6D6B"/>
                </a:solidFill>
                <a:latin typeface="Courier New"/>
                <a:ea typeface="Courier New"/>
                <a:cs typeface="Courier New"/>
              </a:rPr>
              <a:t>FIVE LOGICAL EVIDENCE CATEGORIES</a:t>
            </a:r>
          </a:p>
        </p:txBody>
      </p:sp>
      <p:sp>
        <p:nvSpPr>
          <p:cNvPr id="43" name="">
            <a:extLst xmlns:a="http://schemas.openxmlformats.org/drawingml/2006/main">
              <a:ext uri="{FF2B5EF4-FFF2-40B4-BE49-F238E27FC236}">
                <a16:creationId xmlns:a16="http://schemas.microsoft.com/office/drawing/2014/main" id="{DB20DF18-3A62-460A-9ED3-FE927E00D7C8}"/>
              </a:ext>
            </a:extLst>
          </p:cNvPr>
          <p:cNvSpPr>
            <a:spLocks xmlns:a="http://schemas.openxmlformats.org/drawingml/2006/main" noGrp="1"/>
          </p:cNvSpPr>
          <p:nvPr/>
        </p:nvSpPr>
        <p:spPr>
          <a:xfrm xmlns:a="http://schemas.openxmlformats.org/drawingml/2006/main">
            <a:off x="609600" y="5200650"/>
            <a:ext cx="647700" cy="0"/>
          </a:xfrm>
          <a:prstGeom xmlns:a="http://schemas.openxmlformats.org/drawingml/2006/main" prst="line">
            <a:avLst/>
          </a:prstGeom>
          <a:noFill xmlns:a="http://schemas.openxmlformats.org/drawingml/2006/main"/>
          <a:ln xmlns:a="http://schemas.openxmlformats.org/drawingml/2006/main" w="19050">
            <a:solidFill>
              <a:srgbClr val="FF5B22"/>
            </a:solidFill>
            <a:prstDash val="solid"/>
          </a:ln>
        </p:spPr>
      </p:sp>
      <p:sp>
        <p:nvSpPr>
          <p:cNvPr id="44" name="">
            <a:extLst xmlns:a="http://schemas.openxmlformats.org/drawingml/2006/main">
              <a:ext uri="{FF2B5EF4-FFF2-40B4-BE49-F238E27FC236}">
                <a16:creationId xmlns:a16="http://schemas.microsoft.com/office/drawing/2014/main" id="{235DB8E3-D168-48EB-8F8A-DAEB0F409111}"/>
              </a:ext>
            </a:extLst>
          </p:cNvPr>
          <p:cNvSpPr>
            <a:spLocks xmlns:a="http://schemas.openxmlformats.org/drawingml/2006/main" noGrp="1"/>
          </p:cNvSpPr>
          <p:nvPr/>
        </p:nvSpPr>
        <p:spPr>
          <a:xfrm xmlns:a="http://schemas.openxmlformats.org/drawingml/2006/main" rot="0">
            <a:off x="1447800" y="5124450"/>
            <a:ext cx="2524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4F3EF"/>
                </a:solidFill>
                <a:latin typeface="Courier New"/>
                <a:ea typeface="Courier New"/>
                <a:cs typeface="Courier New"/>
              </a:defRPr>
            </a:pPr>
            <a:r>
              <a:rPr sz="900" b="1">
                <a:solidFill>
                  <a:srgbClr val="F4F3EF"/>
                </a:solidFill>
                <a:latin typeface="Courier New"/>
                <a:ea typeface="Courier New"/>
                <a:cs typeface="Courier New"/>
              </a:rPr>
              <a:t>STORE OBSERVATION</a:t>
            </a:r>
          </a:p>
        </p:txBody>
      </p:sp>
      <p:sp>
        <p:nvSpPr>
          <p:cNvPr id="45" name="">
            <a:extLst xmlns:a="http://schemas.openxmlformats.org/drawingml/2006/main">
              <a:ext uri="{FF2B5EF4-FFF2-40B4-BE49-F238E27FC236}">
                <a16:creationId xmlns:a16="http://schemas.microsoft.com/office/drawing/2014/main" id="{94DC24DF-8374-47AC-A9D1-0CA13FDF0440}"/>
              </a:ext>
            </a:extLst>
          </p:cNvPr>
          <p:cNvSpPr>
            <a:spLocks xmlns:a="http://schemas.openxmlformats.org/drawingml/2006/main" noGrp="1"/>
          </p:cNvSpPr>
          <p:nvPr/>
        </p:nvSpPr>
        <p:spPr>
          <a:xfrm xmlns:a="http://schemas.openxmlformats.org/drawingml/2006/main">
            <a:off x="609600" y="5419725"/>
            <a:ext cx="857250" cy="0"/>
          </a:xfrm>
          <a:prstGeom xmlns:a="http://schemas.openxmlformats.org/drawingml/2006/main" prst="line">
            <a:avLst/>
          </a:prstGeom>
          <a:noFill xmlns:a="http://schemas.openxmlformats.org/drawingml/2006/main"/>
          <a:ln xmlns:a="http://schemas.openxmlformats.org/drawingml/2006/main" w="19050">
            <a:solidFill>
              <a:srgbClr val="FF5B22"/>
            </a:solidFill>
            <a:prstDash val="solid"/>
          </a:ln>
        </p:spPr>
      </p:sp>
      <p:sp>
        <p:nvSpPr>
          <p:cNvPr id="46" name="">
            <a:extLst xmlns:a="http://schemas.openxmlformats.org/drawingml/2006/main">
              <a:ext uri="{FF2B5EF4-FFF2-40B4-BE49-F238E27FC236}">
                <a16:creationId xmlns:a16="http://schemas.microsoft.com/office/drawing/2014/main" id="{98B96397-13A8-484E-9BF9-A9189FAD3401}"/>
              </a:ext>
            </a:extLst>
          </p:cNvPr>
          <p:cNvSpPr>
            <a:spLocks xmlns:a="http://schemas.openxmlformats.org/drawingml/2006/main" noGrp="1"/>
          </p:cNvSpPr>
          <p:nvPr/>
        </p:nvSpPr>
        <p:spPr>
          <a:xfrm xmlns:a="http://schemas.openxmlformats.org/drawingml/2006/main" rot="0">
            <a:off x="1657350" y="5343525"/>
            <a:ext cx="2524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4F3EF"/>
                </a:solidFill>
                <a:latin typeface="Courier New"/>
                <a:ea typeface="Courier New"/>
                <a:cs typeface="Courier New"/>
              </a:defRPr>
            </a:pPr>
            <a:r>
              <a:rPr sz="900" b="1">
                <a:solidFill>
                  <a:srgbClr val="F4F3EF"/>
                </a:solidFill>
                <a:latin typeface="Courier New"/>
                <a:ea typeface="Courier New"/>
                <a:cs typeface="Courier New"/>
              </a:rPr>
              <a:t>SYNTHETIC CONSUMER</a:t>
            </a:r>
          </a:p>
        </p:txBody>
      </p:sp>
      <p:sp>
        <p:nvSpPr>
          <p:cNvPr id="47" name="">
            <a:extLst xmlns:a="http://schemas.openxmlformats.org/drawingml/2006/main">
              <a:ext uri="{FF2B5EF4-FFF2-40B4-BE49-F238E27FC236}">
                <a16:creationId xmlns:a16="http://schemas.microsoft.com/office/drawing/2014/main" id="{2740D62A-967A-48B3-8A1D-BF82BEF8A7B1}"/>
              </a:ext>
            </a:extLst>
          </p:cNvPr>
          <p:cNvSpPr>
            <a:spLocks xmlns:a="http://schemas.openxmlformats.org/drawingml/2006/main" noGrp="1"/>
          </p:cNvSpPr>
          <p:nvPr/>
        </p:nvSpPr>
        <p:spPr>
          <a:xfrm xmlns:a="http://schemas.openxmlformats.org/drawingml/2006/main">
            <a:off x="609600" y="5638800"/>
            <a:ext cx="1066800" cy="0"/>
          </a:xfrm>
          <a:prstGeom xmlns:a="http://schemas.openxmlformats.org/drawingml/2006/main" prst="line">
            <a:avLst/>
          </a:prstGeom>
          <a:noFill xmlns:a="http://schemas.openxmlformats.org/drawingml/2006/main"/>
          <a:ln xmlns:a="http://schemas.openxmlformats.org/drawingml/2006/main" w="19050">
            <a:solidFill>
              <a:srgbClr val="333337"/>
            </a:solidFill>
            <a:prstDash val="solid"/>
          </a:ln>
        </p:spPr>
      </p:sp>
      <p:sp>
        <p:nvSpPr>
          <p:cNvPr id="48" name="">
            <a:extLst xmlns:a="http://schemas.openxmlformats.org/drawingml/2006/main">
              <a:ext uri="{FF2B5EF4-FFF2-40B4-BE49-F238E27FC236}">
                <a16:creationId xmlns:a16="http://schemas.microsoft.com/office/drawing/2014/main" id="{C63ECB49-C13C-4B0C-AD47-4072AD1C649F}"/>
              </a:ext>
            </a:extLst>
          </p:cNvPr>
          <p:cNvSpPr>
            <a:spLocks xmlns:a="http://schemas.openxmlformats.org/drawingml/2006/main" noGrp="1"/>
          </p:cNvSpPr>
          <p:nvPr/>
        </p:nvSpPr>
        <p:spPr>
          <a:xfrm xmlns:a="http://schemas.openxmlformats.org/drawingml/2006/main" rot="0">
            <a:off x="1866900" y="5562600"/>
            <a:ext cx="2524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A6A3A0"/>
                </a:solidFill>
                <a:latin typeface="Courier New"/>
                <a:ea typeface="Courier New"/>
                <a:cs typeface="Courier New"/>
              </a:defRPr>
            </a:pPr>
            <a:r>
              <a:rPr sz="900" b="1">
                <a:solidFill>
                  <a:srgbClr val="A6A3A0"/>
                </a:solidFill>
                <a:latin typeface="Courier New"/>
                <a:ea typeface="Courier New"/>
                <a:cs typeface="Courier New"/>
              </a:rPr>
              <a:t>DIGITAL FOOTPRINT</a:t>
            </a:r>
          </a:p>
        </p:txBody>
      </p:sp>
      <p:sp>
        <p:nvSpPr>
          <p:cNvPr id="49" name="">
            <a:extLst xmlns:a="http://schemas.openxmlformats.org/drawingml/2006/main">
              <a:ext uri="{FF2B5EF4-FFF2-40B4-BE49-F238E27FC236}">
                <a16:creationId xmlns:a16="http://schemas.microsoft.com/office/drawing/2014/main" id="{8826B63B-51F2-4E0F-98BB-D5C27B198BC1}"/>
              </a:ext>
            </a:extLst>
          </p:cNvPr>
          <p:cNvSpPr>
            <a:spLocks xmlns:a="http://schemas.openxmlformats.org/drawingml/2006/main" noGrp="1"/>
          </p:cNvSpPr>
          <p:nvPr/>
        </p:nvSpPr>
        <p:spPr>
          <a:xfrm xmlns:a="http://schemas.openxmlformats.org/drawingml/2006/main">
            <a:off x="609600" y="5857875"/>
            <a:ext cx="1276350" cy="0"/>
          </a:xfrm>
          <a:prstGeom xmlns:a="http://schemas.openxmlformats.org/drawingml/2006/main" prst="line">
            <a:avLst/>
          </a:prstGeom>
          <a:noFill xmlns:a="http://schemas.openxmlformats.org/drawingml/2006/main"/>
          <a:ln xmlns:a="http://schemas.openxmlformats.org/drawingml/2006/main" w="19050">
            <a:solidFill>
              <a:srgbClr val="333337"/>
            </a:solidFill>
            <a:prstDash val="solid"/>
          </a:ln>
        </p:spPr>
      </p:sp>
      <p:sp>
        <p:nvSpPr>
          <p:cNvPr id="50" name="">
            <a:extLst xmlns:a="http://schemas.openxmlformats.org/drawingml/2006/main">
              <a:ext uri="{FF2B5EF4-FFF2-40B4-BE49-F238E27FC236}">
                <a16:creationId xmlns:a16="http://schemas.microsoft.com/office/drawing/2014/main" id="{15630A22-ABAB-463E-AD6C-D07D23634F59}"/>
              </a:ext>
            </a:extLst>
          </p:cNvPr>
          <p:cNvSpPr>
            <a:spLocks xmlns:a="http://schemas.openxmlformats.org/drawingml/2006/main" noGrp="1"/>
          </p:cNvSpPr>
          <p:nvPr/>
        </p:nvSpPr>
        <p:spPr>
          <a:xfrm xmlns:a="http://schemas.openxmlformats.org/drawingml/2006/main" rot="0">
            <a:off x="2076450" y="5781675"/>
            <a:ext cx="2524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A6A3A0"/>
                </a:solidFill>
                <a:latin typeface="Courier New"/>
                <a:ea typeface="Courier New"/>
                <a:cs typeface="Courier New"/>
              </a:defRPr>
            </a:pPr>
            <a:r>
              <a:rPr sz="900" b="1">
                <a:solidFill>
                  <a:srgbClr val="A6A3A0"/>
                </a:solidFill>
                <a:latin typeface="Courier New"/>
                <a:ea typeface="Courier New"/>
                <a:cs typeface="Courier New"/>
              </a:rPr>
              <a:t>LABOR</a:t>
            </a:r>
          </a:p>
        </p:txBody>
      </p:sp>
      <p:sp>
        <p:nvSpPr>
          <p:cNvPr id="51" name="">
            <a:extLst xmlns:a="http://schemas.openxmlformats.org/drawingml/2006/main">
              <a:ext uri="{FF2B5EF4-FFF2-40B4-BE49-F238E27FC236}">
                <a16:creationId xmlns:a16="http://schemas.microsoft.com/office/drawing/2014/main" id="{DE1CBE49-A73E-4AFC-8DAB-84BA31DC209F}"/>
              </a:ext>
            </a:extLst>
          </p:cNvPr>
          <p:cNvSpPr>
            <a:spLocks xmlns:a="http://schemas.openxmlformats.org/drawingml/2006/main" noGrp="1"/>
          </p:cNvSpPr>
          <p:nvPr/>
        </p:nvSpPr>
        <p:spPr>
          <a:xfrm xmlns:a="http://schemas.openxmlformats.org/drawingml/2006/main">
            <a:off x="609600" y="6076950"/>
            <a:ext cx="1485900" cy="0"/>
          </a:xfrm>
          <a:prstGeom xmlns:a="http://schemas.openxmlformats.org/drawingml/2006/main" prst="line">
            <a:avLst/>
          </a:prstGeom>
          <a:noFill xmlns:a="http://schemas.openxmlformats.org/drawingml/2006/main"/>
          <a:ln xmlns:a="http://schemas.openxmlformats.org/drawingml/2006/main" w="19050">
            <a:solidFill>
              <a:srgbClr val="333337"/>
            </a:solidFill>
            <a:prstDash val="solid"/>
          </a:ln>
        </p:spPr>
      </p:sp>
      <p:sp>
        <p:nvSpPr>
          <p:cNvPr id="52" name="">
            <a:extLst xmlns:a="http://schemas.openxmlformats.org/drawingml/2006/main">
              <a:ext uri="{FF2B5EF4-FFF2-40B4-BE49-F238E27FC236}">
                <a16:creationId xmlns:a16="http://schemas.microsoft.com/office/drawing/2014/main" id="{6DFC4353-6F8A-4E4F-8A12-AAE17D5FFC1C}"/>
              </a:ext>
            </a:extLst>
          </p:cNvPr>
          <p:cNvSpPr>
            <a:spLocks xmlns:a="http://schemas.openxmlformats.org/drawingml/2006/main" noGrp="1"/>
          </p:cNvSpPr>
          <p:nvPr/>
        </p:nvSpPr>
        <p:spPr>
          <a:xfrm xmlns:a="http://schemas.openxmlformats.org/drawingml/2006/main" rot="0">
            <a:off x="2286000" y="6000750"/>
            <a:ext cx="2524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A6A3A0"/>
                </a:solidFill>
                <a:latin typeface="Courier New"/>
                <a:ea typeface="Courier New"/>
                <a:cs typeface="Courier New"/>
              </a:defRPr>
            </a:pPr>
            <a:r>
              <a:rPr sz="900" b="1">
                <a:solidFill>
                  <a:srgbClr val="A6A3A0"/>
                </a:solidFill>
                <a:latin typeface="Courier New"/>
                <a:ea typeface="Courier New"/>
                <a:cs typeface="Courier New"/>
              </a:rPr>
              <a:t>SUPPLY CHAIN</a:t>
            </a:r>
          </a:p>
        </p:txBody>
      </p:sp>
      <p:sp>
        <p:nvSpPr>
          <p:cNvPr id="53" name="replay-shot-frame">
            <a:extLst xmlns:a="http://schemas.openxmlformats.org/drawingml/2006/main">
              <a:ext uri="{FF2B5EF4-FFF2-40B4-BE49-F238E27FC236}">
                <a16:creationId xmlns:a16="http://schemas.microsoft.com/office/drawing/2014/main" id="{CFB09304-BD02-4D00-AC8C-6D3BFFA219D2}"/>
              </a:ext>
            </a:extLst>
          </p:cNvPr>
          <p:cNvSpPr>
            <a:spLocks xmlns:a="http://schemas.openxmlformats.org/drawingml/2006/main" noGrp="1"/>
          </p:cNvSpPr>
          <p:nvPr/>
        </p:nvSpPr>
        <p:spPr>
          <a:xfrm xmlns:a="http://schemas.openxmlformats.org/drawingml/2006/main" rot="0">
            <a:off x="7458075" y="1743075"/>
            <a:ext cx="4152900" cy="2619375"/>
          </a:xfrm>
          <a:prstGeom xmlns:a="http://schemas.openxmlformats.org/drawingml/2006/main" prst="roundRect">
            <a:avLst>
              <a:gd name="adj" fmla="val 5091"/>
            </a:avLst>
          </a:prstGeom>
          <a:solidFill xmlns:a="http://schemas.openxmlformats.org/drawingml/2006/main">
            <a:srgbClr val="1A1A1D"/>
          </a:solidFill>
          <a:ln xmlns:a="http://schemas.openxmlformats.org/drawingml/2006/main" w="9525">
            <a:solidFill>
              <a:srgbClr val="FF5B22"/>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1ae509f8b95c4063"/>
          <a:srcRect xmlns:a="http://schemas.openxmlformats.org/drawingml/2006/main" l="46" t="0" r="46" b="0"/>
          <a:stretch xmlns:a="http://schemas.openxmlformats.org/drawingml/2006/main">
            <a:fillRect l="0" t="0" r="0" b="0"/>
          </a:stretch>
        </p:blipFill>
        <p:spPr>
          <a:xfrm xmlns:a="http://schemas.openxmlformats.org/drawingml/2006/main">
            <a:off x="7486650" y="1771650"/>
            <a:ext cx="4095750" cy="2562225"/>
          </a:xfrm>
          <a:prstGeom xmlns:a="http://schemas.openxmlformats.org/drawingml/2006/main" prst="roundRect">
            <a:avLst>
              <a:gd name="adj" fmla="val 4461"/>
            </a:avLst>
          </a:prstGeom>
        </p:spPr>
      </p:pic>
      <p:sp>
        <p:nvSpPr>
          <p:cNvPr id="55" name="">
            <a:extLst xmlns:a="http://schemas.openxmlformats.org/drawingml/2006/main">
              <a:ext uri="{FF2B5EF4-FFF2-40B4-BE49-F238E27FC236}">
                <a16:creationId xmlns:a16="http://schemas.microsoft.com/office/drawing/2014/main" id="{DC3CF779-B906-4FF3-B87B-746F53FE602B}"/>
              </a:ext>
            </a:extLst>
          </p:cNvPr>
          <p:cNvSpPr>
            <a:spLocks xmlns:a="http://schemas.openxmlformats.org/drawingml/2006/main" noGrp="1"/>
          </p:cNvSpPr>
          <p:nvPr/>
        </p:nvSpPr>
        <p:spPr>
          <a:xfrm xmlns:a="http://schemas.openxmlformats.org/drawingml/2006/main" rot="0">
            <a:off x="7486650" y="45910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5B22"/>
                </a:solidFill>
                <a:latin typeface="Courier New"/>
                <a:ea typeface="Courier New"/>
                <a:cs typeface="Courier New"/>
              </a:defRPr>
            </a:pPr>
            <a:r>
              <a:rPr sz="975" b="1">
                <a:solidFill>
                  <a:srgbClr val="FF5B22"/>
                </a:solidFill>
                <a:latin typeface="Courier New"/>
                <a:ea typeface="Courier New"/>
                <a:cs typeface="Courier New"/>
              </a:rPr>
              <a:t>THE CONTROLLED TRANSITION</a:t>
            </a:r>
          </a:p>
        </p:txBody>
      </p:sp>
      <p:sp>
        <p:nvSpPr>
          <p:cNvPr id="56" name="">
            <a:extLst xmlns:a="http://schemas.openxmlformats.org/drawingml/2006/main">
              <a:ext uri="{FF2B5EF4-FFF2-40B4-BE49-F238E27FC236}">
                <a16:creationId xmlns:a16="http://schemas.microsoft.com/office/drawing/2014/main" id="{C2FB2251-6958-4192-A1E5-3B657F8AC036}"/>
              </a:ext>
            </a:extLst>
          </p:cNvPr>
          <p:cNvSpPr>
            <a:spLocks xmlns:a="http://schemas.openxmlformats.org/drawingml/2006/main" noGrp="1"/>
          </p:cNvSpPr>
          <p:nvPr/>
        </p:nvSpPr>
        <p:spPr>
          <a:xfrm xmlns:a="http://schemas.openxmlformats.org/drawingml/2006/main" rot="0">
            <a:off x="7486650" y="4886325"/>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800" b="1">
                <a:solidFill>
                  <a:srgbClr val="F4F3EF"/>
                </a:solidFill>
                <a:latin typeface="Arial"/>
                <a:ea typeface="Arial"/>
                <a:cs typeface="Arial"/>
              </a:defRPr>
            </a:pPr>
            <a:r>
              <a:rPr sz="1800" b="1">
                <a:solidFill>
                  <a:srgbClr val="F4F3EF"/>
                </a:solidFill>
                <a:latin typeface="Arial"/>
                <a:ea typeface="Arial"/>
                <a:cs typeface="Arial"/>
              </a:rPr>
              <a:t>The Skeptic proposes an alternative. A separate demo interaction starts the deterministic replay.</a:t>
            </a:r>
          </a:p>
        </p:txBody>
      </p:sp>
      <p:sp>
        <p:nvSpPr>
          <p:cNvPr id="57" name="">
            <a:extLst xmlns:a="http://schemas.openxmlformats.org/drawingml/2006/main">
              <a:ext uri="{FF2B5EF4-FFF2-40B4-BE49-F238E27FC236}">
                <a16:creationId xmlns:a16="http://schemas.microsoft.com/office/drawing/2014/main" id="{CC33FEE3-F9D4-4594-B8F5-8B75EE56D6A5}"/>
              </a:ext>
            </a:extLst>
          </p:cNvPr>
          <p:cNvSpPr>
            <a:spLocks xmlns:a="http://schemas.openxmlformats.org/drawingml/2006/main" noGrp="1"/>
          </p:cNvSpPr>
          <p:nvPr/>
        </p:nvSpPr>
        <p:spPr>
          <a:xfrm xmlns:a="http://schemas.openxmlformats.org/drawingml/2006/main" rot="0">
            <a:off x="7486650" y="57340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defRPr sz="1200" b="0">
                <a:solidFill>
                  <a:srgbClr val="A6A3A0"/>
                </a:solidFill>
                <a:latin typeface="Arial"/>
                <a:ea typeface="Arial"/>
                <a:cs typeface="Arial"/>
              </a:defRPr>
            </a:pPr>
            <a:r>
              <a:rPr sz="1200" b="0">
                <a:solidFill>
                  <a:srgbClr val="A6A3A0"/>
                </a:solidFill>
                <a:latin typeface="Arial"/>
                <a:ea typeface="Arial"/>
                <a:cs typeface="Arial"/>
              </a:rPr>
              <a:t>Provenance + content hashes remain attached to each of the five aggregate receipts.</a:t>
            </a:r>
          </a:p>
        </p:txBody>
      </p:sp>
    </p:spTree>
    <p:extLst>
      <p:ext uri="{BB962C8B-B14F-4D97-AF65-F5344CB8AC3E}">
        <p14:creationId xmlns:p14="http://schemas.microsoft.com/office/powerpoint/2010/main" val="629310359"/>
      </p:ext>
    </p:extLst>
  </p:cSld>
</p:sld>
</file>

<file path=ppt/slides/slide5.xml><?xml version="1.0" encoding="utf-8"?>
<p:sld xmlns:p="http://schemas.openxmlformats.org/presentationml/2006/main">
  <p:cSld>
    <p:bg>
      <p:bgPr>
        <a:solidFill xmlns:a="http://schemas.openxmlformats.org/drawingml/2006/main">
          <a:srgbClr val="0D0D0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49DFB8B-2D98-4640-9CC9-95849333591C}"/>
              </a:ext>
            </a:extLst>
          </p:cNvPr>
          <p:cNvSpPr>
            <a:spLocks xmlns:a="http://schemas.openxmlformats.org/drawingml/2006/main" noGrp="1"/>
          </p:cNvSpPr>
          <p:nvPr/>
        </p:nvSpPr>
        <p:spPr>
          <a:xfrm xmlns:a="http://schemas.openxmlformats.org/drawingml/2006/main" rot="0">
            <a:off x="609600" y="466725"/>
            <a:ext cx="76200" cy="76200"/>
          </a:xfrm>
          <a:prstGeom xmlns:a="http://schemas.openxmlformats.org/drawingml/2006/main" prst="rect">
            <a:avLst/>
          </a:prstGeom>
          <a:solidFill xmlns:a="http://schemas.openxmlformats.org/drawingml/2006/main">
            <a:srgbClr val="FF5B22"/>
          </a:solidFill>
          <a:ln xmlns:a="http://schemas.openxmlformats.org/drawingml/2006/main" w="0">
            <a:solidFill>
              <a:srgbClr val="FF5B22"/>
            </a:solidFill>
            <a:prstDash val="solid"/>
          </a:ln>
        </p:spPr>
      </p:sp>
      <p:sp>
        <p:nvSpPr>
          <p:cNvPr id="2" name="">
            <a:extLst xmlns:a="http://schemas.openxmlformats.org/drawingml/2006/main">
              <a:ext uri="{FF2B5EF4-FFF2-40B4-BE49-F238E27FC236}">
                <a16:creationId xmlns:a16="http://schemas.microsoft.com/office/drawing/2014/main" id="{70853D8D-1838-458E-B26D-2E2500F02798}"/>
              </a:ext>
            </a:extLst>
          </p:cNvPr>
          <p:cNvSpPr>
            <a:spLocks xmlns:a="http://schemas.openxmlformats.org/drawingml/2006/main" noGrp="1"/>
          </p:cNvSpPr>
          <p:nvPr/>
        </p:nvSpPr>
        <p:spPr>
          <a:xfrm xmlns:a="http://schemas.openxmlformats.org/drawingml/2006/main" rot="0">
            <a:off x="781050" y="4381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INITIAL WEDGE</a:t>
            </a:r>
          </a:p>
        </p:txBody>
      </p:sp>
      <p:sp>
        <p:nvSpPr>
          <p:cNvPr id="3" name="">
            <a:extLst xmlns:a="http://schemas.openxmlformats.org/drawingml/2006/main">
              <a:ext uri="{FF2B5EF4-FFF2-40B4-BE49-F238E27FC236}">
                <a16:creationId xmlns:a16="http://schemas.microsoft.com/office/drawing/2014/main" id="{45221329-ADE0-479A-B17C-E9FAED9D6C9E}"/>
              </a:ext>
            </a:extLst>
          </p:cNvPr>
          <p:cNvSpPr>
            <a:spLocks xmlns:a="http://schemas.openxmlformats.org/drawingml/2006/main" noGrp="1"/>
          </p:cNvSpPr>
          <p:nvPr/>
        </p:nvSpPr>
        <p:spPr>
          <a:xfrm xmlns:a="http://schemas.openxmlformats.org/drawingml/2006/main" rot="0">
            <a:off x="10801350" y="438150"/>
            <a:ext cx="781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F6D6B"/>
                </a:solidFill>
                <a:latin typeface="Courier New"/>
                <a:ea typeface="Courier New"/>
                <a:cs typeface="Courier New"/>
              </a:defRPr>
            </a:pPr>
            <a:r>
              <a:rPr sz="975" b="0">
                <a:solidFill>
                  <a:srgbClr val="6F6D6B"/>
                </a:solidFill>
                <a:latin typeface="Courier New"/>
                <a:ea typeface="Courier New"/>
                <a:cs typeface="Courier New"/>
              </a:rPr>
              <a:t>05 / 08</a:t>
            </a:r>
          </a:p>
        </p:txBody>
      </p:sp>
      <p:sp>
        <p:nvSpPr>
          <p:cNvPr id="4" name="">
            <a:extLst xmlns:a="http://schemas.openxmlformats.org/drawingml/2006/main">
              <a:ext uri="{FF2B5EF4-FFF2-40B4-BE49-F238E27FC236}">
                <a16:creationId xmlns:a16="http://schemas.microsoft.com/office/drawing/2014/main" id="{4DACFA35-6439-47EF-8F0A-0CB876A62902}"/>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9525">
            <a:solidFill>
              <a:srgbClr val="242427"/>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e727cd658b54207">
            <a:extLst>
              <a:ext uri="{96DAC541-7B7A-43D3-8B79-37D633B846F1}">
                <asvg:svgBlip xmlns:asvg="http://schemas.microsoft.com/office/drawing/2016/SVG/main" r:embed="R2fd3fe12836c472e"/>
              </a:ext>
            </a:extLst>
          </a:blip>
          <a:stretch xmlns:a="http://schemas.openxmlformats.org/drawingml/2006/main"/>
        </p:blipFill>
        <p:spPr>
          <a:xfrm xmlns:a="http://schemas.openxmlformats.org/drawingml/2006/main">
            <a:off x="609600" y="6524625"/>
            <a:ext cx="171450" cy="171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651F722-6255-47F0-B60A-90F64F172B9F}"/>
              </a:ext>
            </a:extLst>
          </p:cNvPr>
          <p:cNvSpPr>
            <a:spLocks xmlns:a="http://schemas.openxmlformats.org/drawingml/2006/main" noGrp="1"/>
          </p:cNvSpPr>
          <p:nvPr/>
        </p:nvSpPr>
        <p:spPr>
          <a:xfrm xmlns:a="http://schemas.openxmlformats.org/drawingml/2006/main" rot="0">
            <a:off x="857250" y="6562725"/>
            <a:ext cx="3238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6F6D6B"/>
                </a:solidFill>
                <a:latin typeface="Courier New"/>
                <a:ea typeface="Courier New"/>
                <a:cs typeface="Courier New"/>
              </a:defRPr>
            </a:pPr>
            <a:r>
              <a:rPr sz="750" b="1">
                <a:solidFill>
                  <a:srgbClr val="6F6D6B"/>
                </a:solidFill>
                <a:latin typeface="Courier New"/>
                <a:ea typeface="Courier New"/>
                <a:cs typeface="Courier New"/>
              </a:rPr>
              <a:t>LRWA / LIVE REAL-WORLD ASSURANCE</a:t>
            </a:r>
          </a:p>
        </p:txBody>
      </p:sp>
      <p:sp>
        <p:nvSpPr>
          <p:cNvPr id="7" name="">
            <a:extLst xmlns:a="http://schemas.openxmlformats.org/drawingml/2006/main">
              <a:ext uri="{FF2B5EF4-FFF2-40B4-BE49-F238E27FC236}">
                <a16:creationId xmlns:a16="http://schemas.microsoft.com/office/drawing/2014/main" id="{7C4B2EBF-22E8-45AF-A461-A1BFD27A90B7}"/>
              </a:ext>
            </a:extLst>
          </p:cNvPr>
          <p:cNvSpPr>
            <a:spLocks xmlns:a="http://schemas.openxmlformats.org/drawingml/2006/main" noGrp="1"/>
          </p:cNvSpPr>
          <p:nvPr/>
        </p:nvSpPr>
        <p:spPr>
          <a:xfrm xmlns:a="http://schemas.openxmlformats.org/drawingml/2006/main" rot="0">
            <a:off x="9867900" y="6562725"/>
            <a:ext cx="1714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F6D6B"/>
                </a:solidFill>
                <a:latin typeface="Courier New"/>
                <a:ea typeface="Courier New"/>
                <a:cs typeface="Courier New"/>
              </a:defRPr>
            </a:pPr>
            <a:r>
              <a:rPr sz="750" b="1">
                <a:solidFill>
                  <a:srgbClr val="6F6D6B"/>
                </a:solidFill>
                <a:latin typeface="Courier New"/>
                <a:ea typeface="Courier New"/>
                <a:cs typeface="Courier New"/>
              </a:rPr>
              <a:t>PUBLIC DEMO DECK</a:t>
            </a:r>
          </a:p>
        </p:txBody>
      </p:sp>
      <p:sp>
        <p:nvSpPr>
          <p:cNvPr id="8" name="">
            <a:extLst xmlns:a="http://schemas.openxmlformats.org/drawingml/2006/main">
              <a:ext uri="{FF2B5EF4-FFF2-40B4-BE49-F238E27FC236}">
                <a16:creationId xmlns:a16="http://schemas.microsoft.com/office/drawing/2014/main" id="{5A85964D-DF88-41A5-9E3A-64A31B2A48F5}"/>
              </a:ext>
            </a:extLst>
          </p:cNvPr>
          <p:cNvSpPr>
            <a:spLocks xmlns:a="http://schemas.openxmlformats.org/drawingml/2006/main" noGrp="1"/>
          </p:cNvSpPr>
          <p:nvPr/>
        </p:nvSpPr>
        <p:spPr>
          <a:xfrm xmlns:a="http://schemas.openxmlformats.org/drawingml/2006/main" rot="0">
            <a:off x="609600" y="800100"/>
            <a:ext cx="10934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F4F3EF"/>
                </a:solidFill>
                <a:latin typeface="Arial"/>
                <a:ea typeface="Arial"/>
                <a:cs typeface="Arial"/>
              </a:defRPr>
            </a:pPr>
            <a:r>
              <a:rPr sz="3600" b="1">
                <a:solidFill>
                  <a:srgbClr val="F4F3EF"/>
                </a:solidFill>
                <a:latin typeface="Arial"/>
                <a:ea typeface="Arial"/>
                <a:cs typeface="Arial"/>
              </a:rPr>
              <a:t>Start where one contradiction can change a deal.</a:t>
            </a:r>
          </a:p>
        </p:txBody>
      </p:sp>
      <p:sp>
        <p:nvSpPr>
          <p:cNvPr id="9" name="">
            <a:extLst xmlns:a="http://schemas.openxmlformats.org/drawingml/2006/main">
              <a:ext uri="{FF2B5EF4-FFF2-40B4-BE49-F238E27FC236}">
                <a16:creationId xmlns:a16="http://schemas.microsoft.com/office/drawing/2014/main" id="{C03552FD-6AEB-4D7B-8E96-6EFCD1746135}"/>
              </a:ext>
            </a:extLst>
          </p:cNvPr>
          <p:cNvSpPr>
            <a:spLocks xmlns:a="http://schemas.openxmlformats.org/drawingml/2006/main" noGrp="1"/>
          </p:cNvSpPr>
          <p:nvPr/>
        </p:nvSpPr>
        <p:spPr>
          <a:xfrm xmlns:a="http://schemas.openxmlformats.org/drawingml/2006/main" rot="0">
            <a:off x="609600" y="1381125"/>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484"/>
          </a:bodyPr>
          <a:lstStyle xmlns:a="http://schemas.openxmlformats.org/drawingml/2006/main"/>
          <a:p xmlns:a="http://schemas.openxmlformats.org/drawingml/2006/main">
            <a:pPr algn="l">
              <a:defRPr sz="1650" b="0">
                <a:solidFill>
                  <a:srgbClr val="A6A3A0"/>
                </a:solidFill>
                <a:latin typeface="Arial"/>
                <a:ea typeface="Arial"/>
                <a:cs typeface="Arial"/>
              </a:defRPr>
            </a:pPr>
            <a:r>
              <a:rPr sz="1650" b="0">
                <a:solidFill>
                  <a:srgbClr val="A6A3A0"/>
                </a:solidFill>
                <a:latin typeface="Arial"/>
                <a:ea typeface="Arial"/>
                <a:cs typeface="Arial"/>
              </a:rPr>
              <a:t>Investment and commercial diligence for offline and omnichannel businesses.</a:t>
            </a:r>
          </a:p>
        </p:txBody>
      </p:sp>
      <p:sp>
        <p:nvSpPr>
          <p:cNvPr id="10" name="">
            <a:extLst xmlns:a="http://schemas.openxmlformats.org/drawingml/2006/main">
              <a:ext uri="{FF2B5EF4-FFF2-40B4-BE49-F238E27FC236}">
                <a16:creationId xmlns:a16="http://schemas.microsoft.com/office/drawing/2014/main" id="{B4AAA78E-5A65-41D4-9ADF-5A9EFE78CBDA}"/>
              </a:ext>
            </a:extLst>
          </p:cNvPr>
          <p:cNvSpPr>
            <a:spLocks xmlns:a="http://schemas.openxmlformats.org/drawingml/2006/main" noGrp="1"/>
          </p:cNvSpPr>
          <p:nvPr/>
        </p:nvSpPr>
        <p:spPr>
          <a:xfrm xmlns:a="http://schemas.openxmlformats.org/drawingml/2006/main">
            <a:off x="876300" y="2124075"/>
            <a:ext cx="0" cy="2590800"/>
          </a:xfrm>
          <a:prstGeom xmlns:a="http://schemas.openxmlformats.org/drawingml/2006/main" prst="line">
            <a:avLst/>
          </a:prstGeom>
          <a:noFill xmlns:a="http://schemas.openxmlformats.org/drawingml/2006/main"/>
          <a:ln xmlns:a="http://schemas.openxmlformats.org/drawingml/2006/main" w="19050">
            <a:solidFill>
              <a:srgbClr val="333337"/>
            </a:solidFill>
            <a:prstDash val="solid"/>
          </a:ln>
        </p:spPr>
      </p:sp>
      <p:sp>
        <p:nvSpPr>
          <p:cNvPr id="11" name="">
            <a:extLst xmlns:a="http://schemas.openxmlformats.org/drawingml/2006/main">
              <a:ext uri="{FF2B5EF4-FFF2-40B4-BE49-F238E27FC236}">
                <a16:creationId xmlns:a16="http://schemas.microsoft.com/office/drawing/2014/main" id="{382BD885-2388-4074-B326-81D30B290F55}"/>
              </a:ext>
            </a:extLst>
          </p:cNvPr>
          <p:cNvSpPr>
            <a:spLocks xmlns:a="http://schemas.openxmlformats.org/drawingml/2006/main" noGrp="1"/>
          </p:cNvSpPr>
          <p:nvPr/>
        </p:nvSpPr>
        <p:spPr>
          <a:xfrm xmlns:a="http://schemas.openxmlformats.org/drawingml/2006/main" rot="0">
            <a:off x="781050" y="1990725"/>
            <a:ext cx="190500" cy="190500"/>
          </a:xfrm>
          <a:prstGeom xmlns:a="http://schemas.openxmlformats.org/drawingml/2006/main" prst="ellipse">
            <a:avLst/>
          </a:prstGeom>
          <a:solidFill xmlns:a="http://schemas.openxmlformats.org/drawingml/2006/main">
            <a:srgbClr val="FF5B22"/>
          </a:solidFill>
          <a:ln xmlns:a="http://schemas.openxmlformats.org/drawingml/2006/main" w="19050">
            <a:solidFill>
              <a:srgbClr val="FF5B22"/>
            </a:solidFill>
            <a:prstDash val="solid"/>
          </a:ln>
        </p:spPr>
      </p:sp>
      <p:sp>
        <p:nvSpPr>
          <p:cNvPr id="12" name="">
            <a:extLst xmlns:a="http://schemas.openxmlformats.org/drawingml/2006/main">
              <a:ext uri="{FF2B5EF4-FFF2-40B4-BE49-F238E27FC236}">
                <a16:creationId xmlns:a16="http://schemas.microsoft.com/office/drawing/2014/main" id="{629995D3-7FE4-44F9-A193-F3DB0801E97B}"/>
              </a:ext>
            </a:extLst>
          </p:cNvPr>
          <p:cNvSpPr>
            <a:spLocks xmlns:a="http://schemas.openxmlformats.org/drawingml/2006/main" noGrp="1"/>
          </p:cNvSpPr>
          <p:nvPr/>
        </p:nvSpPr>
        <p:spPr>
          <a:xfrm xmlns:a="http://schemas.openxmlformats.org/drawingml/2006/main" rot="0">
            <a:off x="1200150" y="19621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01</a:t>
            </a:r>
          </a:p>
        </p:txBody>
      </p:sp>
      <p:sp>
        <p:nvSpPr>
          <p:cNvPr id="13" name="">
            <a:extLst xmlns:a="http://schemas.openxmlformats.org/drawingml/2006/main">
              <a:ext uri="{FF2B5EF4-FFF2-40B4-BE49-F238E27FC236}">
                <a16:creationId xmlns:a16="http://schemas.microsoft.com/office/drawing/2014/main" id="{D1503566-2715-41BC-937C-6AC92809C5E5}"/>
              </a:ext>
            </a:extLst>
          </p:cNvPr>
          <p:cNvSpPr>
            <a:spLocks xmlns:a="http://schemas.openxmlformats.org/drawingml/2006/main" noGrp="1"/>
          </p:cNvSpPr>
          <p:nvPr/>
        </p:nvSpPr>
        <p:spPr>
          <a:xfrm xmlns:a="http://schemas.openxmlformats.org/drawingml/2006/main" rot="0">
            <a:off x="1695450" y="19335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800" b="1">
                <a:solidFill>
                  <a:srgbClr val="F4F3EF"/>
                </a:solidFill>
                <a:latin typeface="Arial"/>
                <a:ea typeface="Arial"/>
                <a:cs typeface="Arial"/>
              </a:defRPr>
            </a:pPr>
            <a:r>
              <a:rPr sz="1800" b="1">
                <a:solidFill>
                  <a:srgbClr val="F4F3EF"/>
                </a:solidFill>
                <a:latin typeface="Arial"/>
                <a:ea typeface="Arial"/>
                <a:cs typeface="Arial"/>
              </a:rPr>
              <a:t>1 design-partner fund</a:t>
            </a:r>
          </a:p>
        </p:txBody>
      </p:sp>
      <p:sp>
        <p:nvSpPr>
          <p:cNvPr id="14" name="">
            <a:extLst xmlns:a="http://schemas.openxmlformats.org/drawingml/2006/main">
              <a:ext uri="{FF2B5EF4-FFF2-40B4-BE49-F238E27FC236}">
                <a16:creationId xmlns:a16="http://schemas.microsoft.com/office/drawing/2014/main" id="{939ABD3F-84FA-4AB4-A2AC-A8A9777E57A3}"/>
              </a:ext>
            </a:extLst>
          </p:cNvPr>
          <p:cNvSpPr>
            <a:spLocks xmlns:a="http://schemas.openxmlformats.org/drawingml/2006/main" noGrp="1"/>
          </p:cNvSpPr>
          <p:nvPr/>
        </p:nvSpPr>
        <p:spPr>
          <a:xfrm xmlns:a="http://schemas.openxmlformats.org/drawingml/2006/main" rot="0">
            <a:off x="1695450" y="22574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6A3A0"/>
                </a:solidFill>
                <a:latin typeface="Arial"/>
                <a:ea typeface="Arial"/>
                <a:cs typeface="Arial"/>
              </a:defRPr>
            </a:pPr>
            <a:r>
              <a:rPr sz="1275" b="0">
                <a:solidFill>
                  <a:srgbClr val="A6A3A0"/>
                </a:solidFill>
                <a:latin typeface="Arial"/>
                <a:ea typeface="Arial"/>
                <a:cs typeface="Arial"/>
              </a:rPr>
              <a:t>One material operating claim</a:t>
            </a:r>
          </a:p>
        </p:txBody>
      </p:sp>
      <p:sp>
        <p:nvSpPr>
          <p:cNvPr id="15" name="">
            <a:extLst xmlns:a="http://schemas.openxmlformats.org/drawingml/2006/main">
              <a:ext uri="{FF2B5EF4-FFF2-40B4-BE49-F238E27FC236}">
                <a16:creationId xmlns:a16="http://schemas.microsoft.com/office/drawing/2014/main" id="{51245AC4-5AA2-4EDE-B833-F95CB47ADA0C}"/>
              </a:ext>
            </a:extLst>
          </p:cNvPr>
          <p:cNvSpPr>
            <a:spLocks xmlns:a="http://schemas.openxmlformats.org/drawingml/2006/main" noGrp="1"/>
          </p:cNvSpPr>
          <p:nvPr/>
        </p:nvSpPr>
        <p:spPr>
          <a:xfrm xmlns:a="http://schemas.openxmlformats.org/drawingml/2006/main" rot="0">
            <a:off x="781050" y="2876550"/>
            <a:ext cx="190500" cy="190500"/>
          </a:xfrm>
          <a:prstGeom xmlns:a="http://schemas.openxmlformats.org/drawingml/2006/main" prst="ellipse">
            <a:avLst/>
          </a:prstGeom>
          <a:solidFill xmlns:a="http://schemas.openxmlformats.org/drawingml/2006/main">
            <a:srgbClr val="0D0D0F"/>
          </a:solidFill>
          <a:ln xmlns:a="http://schemas.openxmlformats.org/drawingml/2006/main" w="19050">
            <a:solidFill>
              <a:srgbClr val="333337"/>
            </a:solidFill>
            <a:prstDash val="solid"/>
          </a:ln>
        </p:spPr>
      </p:sp>
      <p:sp>
        <p:nvSpPr>
          <p:cNvPr id="16" name="">
            <a:extLst xmlns:a="http://schemas.openxmlformats.org/drawingml/2006/main">
              <a:ext uri="{FF2B5EF4-FFF2-40B4-BE49-F238E27FC236}">
                <a16:creationId xmlns:a16="http://schemas.microsoft.com/office/drawing/2014/main" id="{D65D5B28-484F-41DE-ABC3-CC33AF7ECAAC}"/>
              </a:ext>
            </a:extLst>
          </p:cNvPr>
          <p:cNvSpPr>
            <a:spLocks xmlns:a="http://schemas.openxmlformats.org/drawingml/2006/main" noGrp="1"/>
          </p:cNvSpPr>
          <p:nvPr/>
        </p:nvSpPr>
        <p:spPr>
          <a:xfrm xmlns:a="http://schemas.openxmlformats.org/drawingml/2006/main" rot="0">
            <a:off x="1200150" y="28479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F6D6B"/>
                </a:solidFill>
                <a:latin typeface="Courier New"/>
                <a:ea typeface="Courier New"/>
                <a:cs typeface="Courier New"/>
              </a:defRPr>
            </a:pPr>
            <a:r>
              <a:rPr sz="1050" b="1">
                <a:solidFill>
                  <a:srgbClr val="6F6D6B"/>
                </a:solidFill>
                <a:latin typeface="Courier New"/>
                <a:ea typeface="Courier New"/>
                <a:cs typeface="Courier New"/>
              </a:rPr>
              <a:t>02</a:t>
            </a:r>
          </a:p>
        </p:txBody>
      </p:sp>
      <p:sp>
        <p:nvSpPr>
          <p:cNvPr id="17" name="">
            <a:extLst xmlns:a="http://schemas.openxmlformats.org/drawingml/2006/main">
              <a:ext uri="{FF2B5EF4-FFF2-40B4-BE49-F238E27FC236}">
                <a16:creationId xmlns:a16="http://schemas.microsoft.com/office/drawing/2014/main" id="{FC57177D-5089-4219-A48F-D02C0FFC47AD}"/>
              </a:ext>
            </a:extLst>
          </p:cNvPr>
          <p:cNvSpPr>
            <a:spLocks xmlns:a="http://schemas.openxmlformats.org/drawingml/2006/main" noGrp="1"/>
          </p:cNvSpPr>
          <p:nvPr/>
        </p:nvSpPr>
        <p:spPr>
          <a:xfrm xmlns:a="http://schemas.openxmlformats.org/drawingml/2006/main" rot="0">
            <a:off x="1695450" y="28194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800" b="1">
                <a:solidFill>
                  <a:srgbClr val="F4F3EF"/>
                </a:solidFill>
                <a:latin typeface="Arial"/>
                <a:ea typeface="Arial"/>
                <a:cs typeface="Arial"/>
              </a:defRPr>
            </a:pPr>
            <a:r>
              <a:rPr sz="1800" b="1">
                <a:solidFill>
                  <a:srgbClr val="F4F3EF"/>
                </a:solidFill>
                <a:latin typeface="Arial"/>
                <a:ea typeface="Arial"/>
                <a:cs typeface="Arial"/>
              </a:rPr>
              <a:t>Repeated deal missions</a:t>
            </a:r>
          </a:p>
        </p:txBody>
      </p:sp>
      <p:sp>
        <p:nvSpPr>
          <p:cNvPr id="18" name="">
            <a:extLst xmlns:a="http://schemas.openxmlformats.org/drawingml/2006/main">
              <a:ext uri="{FF2B5EF4-FFF2-40B4-BE49-F238E27FC236}">
                <a16:creationId xmlns:a16="http://schemas.microsoft.com/office/drawing/2014/main" id="{61E2A90C-118D-40A0-8135-E48DAD2EC9C3}"/>
              </a:ext>
            </a:extLst>
          </p:cNvPr>
          <p:cNvSpPr>
            <a:spLocks xmlns:a="http://schemas.openxmlformats.org/drawingml/2006/main" noGrp="1"/>
          </p:cNvSpPr>
          <p:nvPr/>
        </p:nvSpPr>
        <p:spPr>
          <a:xfrm xmlns:a="http://schemas.openxmlformats.org/drawingml/2006/main" rot="0">
            <a:off x="1695450" y="31432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6A3A0"/>
                </a:solidFill>
                <a:latin typeface="Arial"/>
                <a:ea typeface="Arial"/>
                <a:cs typeface="Arial"/>
              </a:defRPr>
            </a:pPr>
            <a:r>
              <a:rPr sz="1275" b="0">
                <a:solidFill>
                  <a:srgbClr val="A6A3A0"/>
                </a:solidFill>
                <a:latin typeface="Arial"/>
                <a:ea typeface="Arial"/>
                <a:cs typeface="Arial"/>
              </a:rPr>
              <a:t>Paid, scoped verification work</a:t>
            </a:r>
          </a:p>
        </p:txBody>
      </p:sp>
      <p:sp>
        <p:nvSpPr>
          <p:cNvPr id="19" name="">
            <a:extLst xmlns:a="http://schemas.openxmlformats.org/drawingml/2006/main">
              <a:ext uri="{FF2B5EF4-FFF2-40B4-BE49-F238E27FC236}">
                <a16:creationId xmlns:a16="http://schemas.microsoft.com/office/drawing/2014/main" id="{D0513210-2BD7-4737-BC9C-2101CD212797}"/>
              </a:ext>
            </a:extLst>
          </p:cNvPr>
          <p:cNvSpPr>
            <a:spLocks xmlns:a="http://schemas.openxmlformats.org/drawingml/2006/main" noGrp="1"/>
          </p:cNvSpPr>
          <p:nvPr/>
        </p:nvSpPr>
        <p:spPr>
          <a:xfrm xmlns:a="http://schemas.openxmlformats.org/drawingml/2006/main" rot="0">
            <a:off x="781050" y="3762375"/>
            <a:ext cx="190500" cy="190500"/>
          </a:xfrm>
          <a:prstGeom xmlns:a="http://schemas.openxmlformats.org/drawingml/2006/main" prst="ellipse">
            <a:avLst/>
          </a:prstGeom>
          <a:solidFill xmlns:a="http://schemas.openxmlformats.org/drawingml/2006/main">
            <a:srgbClr val="0D0D0F"/>
          </a:solidFill>
          <a:ln xmlns:a="http://schemas.openxmlformats.org/drawingml/2006/main" w="19050">
            <a:solidFill>
              <a:srgbClr val="333337"/>
            </a:solidFill>
            <a:prstDash val="solid"/>
          </a:ln>
        </p:spPr>
      </p:sp>
      <p:sp>
        <p:nvSpPr>
          <p:cNvPr id="20" name="">
            <a:extLst xmlns:a="http://schemas.openxmlformats.org/drawingml/2006/main">
              <a:ext uri="{FF2B5EF4-FFF2-40B4-BE49-F238E27FC236}">
                <a16:creationId xmlns:a16="http://schemas.microsoft.com/office/drawing/2014/main" id="{A70BFED2-8893-4C75-86CF-3A0B98AC78AD}"/>
              </a:ext>
            </a:extLst>
          </p:cNvPr>
          <p:cNvSpPr>
            <a:spLocks xmlns:a="http://schemas.openxmlformats.org/drawingml/2006/main" noGrp="1"/>
          </p:cNvSpPr>
          <p:nvPr/>
        </p:nvSpPr>
        <p:spPr>
          <a:xfrm xmlns:a="http://schemas.openxmlformats.org/drawingml/2006/main" rot="0">
            <a:off x="1200150" y="37338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F6D6B"/>
                </a:solidFill>
                <a:latin typeface="Courier New"/>
                <a:ea typeface="Courier New"/>
                <a:cs typeface="Courier New"/>
              </a:defRPr>
            </a:pPr>
            <a:r>
              <a:rPr sz="1050" b="1">
                <a:solidFill>
                  <a:srgbClr val="6F6D6B"/>
                </a:solidFill>
                <a:latin typeface="Courier New"/>
                <a:ea typeface="Courier New"/>
                <a:cs typeface="Courier New"/>
              </a:rPr>
              <a:t>03</a:t>
            </a:r>
          </a:p>
        </p:txBody>
      </p:sp>
      <p:sp>
        <p:nvSpPr>
          <p:cNvPr id="21" name="">
            <a:extLst xmlns:a="http://schemas.openxmlformats.org/drawingml/2006/main">
              <a:ext uri="{FF2B5EF4-FFF2-40B4-BE49-F238E27FC236}">
                <a16:creationId xmlns:a16="http://schemas.microsoft.com/office/drawing/2014/main" id="{48F8A8F5-E1E8-45DA-9493-62CDE0D36A4B}"/>
              </a:ext>
            </a:extLst>
          </p:cNvPr>
          <p:cNvSpPr>
            <a:spLocks xmlns:a="http://schemas.openxmlformats.org/drawingml/2006/main" noGrp="1"/>
          </p:cNvSpPr>
          <p:nvPr/>
        </p:nvSpPr>
        <p:spPr>
          <a:xfrm xmlns:a="http://schemas.openxmlformats.org/drawingml/2006/main" rot="0">
            <a:off x="1695450" y="37052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800" b="1">
                <a:solidFill>
                  <a:srgbClr val="F4F3EF"/>
                </a:solidFill>
                <a:latin typeface="Arial"/>
                <a:ea typeface="Arial"/>
                <a:cs typeface="Arial"/>
              </a:defRPr>
            </a:pPr>
            <a:r>
              <a:rPr sz="1800" b="1">
                <a:solidFill>
                  <a:srgbClr val="F4F3EF"/>
                </a:solidFill>
                <a:latin typeface="Arial"/>
                <a:ea typeface="Arial"/>
                <a:cs typeface="Arial"/>
              </a:rPr>
              <a:t>Portfolio workflows</a:t>
            </a:r>
          </a:p>
        </p:txBody>
      </p:sp>
      <p:sp>
        <p:nvSpPr>
          <p:cNvPr id="22" name="">
            <a:extLst xmlns:a="http://schemas.openxmlformats.org/drawingml/2006/main">
              <a:ext uri="{FF2B5EF4-FFF2-40B4-BE49-F238E27FC236}">
                <a16:creationId xmlns:a16="http://schemas.microsoft.com/office/drawing/2014/main" id="{655581B0-45BF-4BB7-803D-C38DFA409B0A}"/>
              </a:ext>
            </a:extLst>
          </p:cNvPr>
          <p:cNvSpPr>
            <a:spLocks xmlns:a="http://schemas.openxmlformats.org/drawingml/2006/main" noGrp="1"/>
          </p:cNvSpPr>
          <p:nvPr/>
        </p:nvSpPr>
        <p:spPr>
          <a:xfrm xmlns:a="http://schemas.openxmlformats.org/drawingml/2006/main" rot="0">
            <a:off x="1695450" y="40290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6A3A0"/>
                </a:solidFill>
                <a:latin typeface="Arial"/>
                <a:ea typeface="Arial"/>
                <a:cs typeface="Arial"/>
              </a:defRPr>
            </a:pPr>
            <a:r>
              <a:rPr sz="1275" b="0">
                <a:solidFill>
                  <a:srgbClr val="A6A3A0"/>
                </a:solidFill>
                <a:latin typeface="Arial"/>
                <a:ea typeface="Arial"/>
                <a:cs typeface="Arial"/>
              </a:rPr>
              <a:t>Reusable questions and monitoring</a:t>
            </a:r>
          </a:p>
        </p:txBody>
      </p:sp>
      <p:sp>
        <p:nvSpPr>
          <p:cNvPr id="23" name="">
            <a:extLst xmlns:a="http://schemas.openxmlformats.org/drawingml/2006/main">
              <a:ext uri="{FF2B5EF4-FFF2-40B4-BE49-F238E27FC236}">
                <a16:creationId xmlns:a16="http://schemas.microsoft.com/office/drawing/2014/main" id="{D8C538FD-7D73-4492-88ED-B8B3E2892DBC}"/>
              </a:ext>
            </a:extLst>
          </p:cNvPr>
          <p:cNvSpPr>
            <a:spLocks xmlns:a="http://schemas.openxmlformats.org/drawingml/2006/main" noGrp="1"/>
          </p:cNvSpPr>
          <p:nvPr/>
        </p:nvSpPr>
        <p:spPr>
          <a:xfrm xmlns:a="http://schemas.openxmlformats.org/drawingml/2006/main" rot="0">
            <a:off x="781050" y="4648200"/>
            <a:ext cx="190500" cy="190500"/>
          </a:xfrm>
          <a:prstGeom xmlns:a="http://schemas.openxmlformats.org/drawingml/2006/main" prst="ellipse">
            <a:avLst/>
          </a:prstGeom>
          <a:solidFill xmlns:a="http://schemas.openxmlformats.org/drawingml/2006/main">
            <a:srgbClr val="0D0D0F"/>
          </a:solidFill>
          <a:ln xmlns:a="http://schemas.openxmlformats.org/drawingml/2006/main" w="19050">
            <a:solidFill>
              <a:srgbClr val="333337"/>
            </a:solidFill>
            <a:prstDash val="solid"/>
          </a:ln>
        </p:spPr>
      </p:sp>
      <p:sp>
        <p:nvSpPr>
          <p:cNvPr id="24" name="">
            <a:extLst xmlns:a="http://schemas.openxmlformats.org/drawingml/2006/main">
              <a:ext uri="{FF2B5EF4-FFF2-40B4-BE49-F238E27FC236}">
                <a16:creationId xmlns:a16="http://schemas.microsoft.com/office/drawing/2014/main" id="{2676AA53-D5B4-4056-A5BD-E8C2FE26FEE7}"/>
              </a:ext>
            </a:extLst>
          </p:cNvPr>
          <p:cNvSpPr>
            <a:spLocks xmlns:a="http://schemas.openxmlformats.org/drawingml/2006/main" noGrp="1"/>
          </p:cNvSpPr>
          <p:nvPr/>
        </p:nvSpPr>
        <p:spPr>
          <a:xfrm xmlns:a="http://schemas.openxmlformats.org/drawingml/2006/main" rot="0">
            <a:off x="1200150" y="46196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F6D6B"/>
                </a:solidFill>
                <a:latin typeface="Courier New"/>
                <a:ea typeface="Courier New"/>
                <a:cs typeface="Courier New"/>
              </a:defRPr>
            </a:pPr>
            <a:r>
              <a:rPr sz="1050" b="1">
                <a:solidFill>
                  <a:srgbClr val="6F6D6B"/>
                </a:solidFill>
                <a:latin typeface="Courier New"/>
                <a:ea typeface="Courier New"/>
                <a:cs typeface="Courier New"/>
              </a:rPr>
              <a:t>04</a:t>
            </a:r>
          </a:p>
        </p:txBody>
      </p:sp>
      <p:sp>
        <p:nvSpPr>
          <p:cNvPr id="25" name="">
            <a:extLst xmlns:a="http://schemas.openxmlformats.org/drawingml/2006/main">
              <a:ext uri="{FF2B5EF4-FFF2-40B4-BE49-F238E27FC236}">
                <a16:creationId xmlns:a16="http://schemas.microsoft.com/office/drawing/2014/main" id="{CF80B474-097D-42D9-9312-8849AEBCEB52}"/>
              </a:ext>
            </a:extLst>
          </p:cNvPr>
          <p:cNvSpPr>
            <a:spLocks xmlns:a="http://schemas.openxmlformats.org/drawingml/2006/main" noGrp="1"/>
          </p:cNvSpPr>
          <p:nvPr/>
        </p:nvSpPr>
        <p:spPr>
          <a:xfrm xmlns:a="http://schemas.openxmlformats.org/drawingml/2006/main" rot="0">
            <a:off x="1695450" y="45910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800" b="1">
                <a:solidFill>
                  <a:srgbClr val="F4F3EF"/>
                </a:solidFill>
                <a:latin typeface="Arial"/>
                <a:ea typeface="Arial"/>
                <a:cs typeface="Arial"/>
              </a:defRPr>
            </a:pPr>
            <a:r>
              <a:rPr sz="1800" b="1">
                <a:solidFill>
                  <a:srgbClr val="F4F3EF"/>
                </a:solidFill>
                <a:latin typeface="Arial"/>
                <a:ea typeface="Arial"/>
                <a:cs typeface="Arial"/>
              </a:rPr>
              <a:t>Vertical mission library</a:t>
            </a:r>
          </a:p>
        </p:txBody>
      </p:sp>
      <p:sp>
        <p:nvSpPr>
          <p:cNvPr id="26" name="">
            <a:extLst xmlns:a="http://schemas.openxmlformats.org/drawingml/2006/main">
              <a:ext uri="{FF2B5EF4-FFF2-40B4-BE49-F238E27FC236}">
                <a16:creationId xmlns:a16="http://schemas.microsoft.com/office/drawing/2014/main" id="{55CCF9D1-33DC-40F0-BC76-BF22328BD28E}"/>
              </a:ext>
            </a:extLst>
          </p:cNvPr>
          <p:cNvSpPr>
            <a:spLocks xmlns:a="http://schemas.openxmlformats.org/drawingml/2006/main" noGrp="1"/>
          </p:cNvSpPr>
          <p:nvPr/>
        </p:nvSpPr>
        <p:spPr>
          <a:xfrm xmlns:a="http://schemas.openxmlformats.org/drawingml/2006/main" rot="0">
            <a:off x="1695450" y="4914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6A3A0"/>
                </a:solidFill>
                <a:latin typeface="Arial"/>
                <a:ea typeface="Arial"/>
                <a:cs typeface="Arial"/>
              </a:defRPr>
            </a:pPr>
            <a:r>
              <a:rPr sz="1275" b="0">
                <a:solidFill>
                  <a:srgbClr val="A6A3A0"/>
                </a:solidFill>
                <a:latin typeface="Arial"/>
                <a:ea typeface="Arial"/>
                <a:cs typeface="Arial"/>
              </a:rPr>
              <a:t>Calibrated claim-to-signal mappings</a:t>
            </a:r>
          </a:p>
        </p:txBody>
      </p:sp>
      <p:sp>
        <p:nvSpPr>
          <p:cNvPr id="27" name="action-queue-shot-frame">
            <a:extLst xmlns:a="http://schemas.openxmlformats.org/drawingml/2006/main">
              <a:ext uri="{FF2B5EF4-FFF2-40B4-BE49-F238E27FC236}">
                <a16:creationId xmlns:a16="http://schemas.microsoft.com/office/drawing/2014/main" id="{E9BC5D2B-DE75-4410-B284-BA148400C2B5}"/>
              </a:ext>
            </a:extLst>
          </p:cNvPr>
          <p:cNvSpPr>
            <a:spLocks xmlns:a="http://schemas.openxmlformats.org/drawingml/2006/main" noGrp="1"/>
          </p:cNvSpPr>
          <p:nvPr/>
        </p:nvSpPr>
        <p:spPr>
          <a:xfrm xmlns:a="http://schemas.openxmlformats.org/drawingml/2006/main" rot="0">
            <a:off x="5781675" y="1819275"/>
            <a:ext cx="5829300" cy="3667125"/>
          </a:xfrm>
          <a:prstGeom xmlns:a="http://schemas.openxmlformats.org/drawingml/2006/main" prst="roundRect">
            <a:avLst>
              <a:gd name="adj" fmla="val 3636"/>
            </a:avLst>
          </a:prstGeom>
          <a:solidFill xmlns:a="http://schemas.openxmlformats.org/drawingml/2006/main">
            <a:srgbClr val="1A1A1D"/>
          </a:solidFill>
          <a:ln xmlns:a="http://schemas.openxmlformats.org/drawingml/2006/main" w="9525">
            <a:solidFill>
              <a:srgbClr val="33333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d8376ee45cb94ece"/>
          <a:srcRect xmlns:a="http://schemas.openxmlformats.org/drawingml/2006/main" l="33" t="0" r="33" b="0"/>
          <a:stretch xmlns:a="http://schemas.openxmlformats.org/drawingml/2006/main">
            <a:fillRect l="0" t="0" r="0" b="0"/>
          </a:stretch>
        </p:blipFill>
        <p:spPr>
          <a:xfrm xmlns:a="http://schemas.openxmlformats.org/drawingml/2006/main">
            <a:off x="5810250" y="1847850"/>
            <a:ext cx="5772150" cy="3609975"/>
          </a:xfrm>
          <a:prstGeom xmlns:a="http://schemas.openxmlformats.org/drawingml/2006/main" prst="roundRect">
            <a:avLst>
              <a:gd name="adj" fmla="val 3166"/>
            </a:avLst>
          </a:prstGeom>
        </p:spPr>
      </p:pic>
      <p:sp>
        <p:nvSpPr>
          <p:cNvPr id="29" name="">
            <a:extLst xmlns:a="http://schemas.openxmlformats.org/drawingml/2006/main">
              <a:ext uri="{FF2B5EF4-FFF2-40B4-BE49-F238E27FC236}">
                <a16:creationId xmlns:a16="http://schemas.microsoft.com/office/drawing/2014/main" id="{835F600A-DFA9-4A67-BB77-758899059D97}"/>
              </a:ext>
            </a:extLst>
          </p:cNvPr>
          <p:cNvSpPr>
            <a:spLocks xmlns:a="http://schemas.openxmlformats.org/drawingml/2006/main" noGrp="1"/>
          </p:cNvSpPr>
          <p:nvPr/>
        </p:nvSpPr>
        <p:spPr>
          <a:xfrm xmlns:a="http://schemas.openxmlformats.org/drawingml/2006/main" rot="0">
            <a:off x="5810250" y="571500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5B22"/>
                </a:solidFill>
                <a:latin typeface="Courier New"/>
                <a:ea typeface="Courier New"/>
                <a:cs typeface="Courier New"/>
              </a:defRPr>
            </a:pPr>
            <a:r>
              <a:rPr sz="975" b="1">
                <a:solidFill>
                  <a:srgbClr val="FF5B22"/>
                </a:solidFill>
                <a:latin typeface="Courier New"/>
                <a:ea typeface="Courier New"/>
                <a:cs typeface="Courier New"/>
              </a:rPr>
              <a:t>THE PURCHASE IS A DECISION WORKFLOW</a:t>
            </a:r>
          </a:p>
        </p:txBody>
      </p:sp>
      <p:sp>
        <p:nvSpPr>
          <p:cNvPr id="30" name="">
            <a:extLst xmlns:a="http://schemas.openxmlformats.org/drawingml/2006/main">
              <a:ext uri="{FF2B5EF4-FFF2-40B4-BE49-F238E27FC236}">
                <a16:creationId xmlns:a16="http://schemas.microsoft.com/office/drawing/2014/main" id="{1E7B7CB6-6D50-4358-80F5-27C76DE70062}"/>
              </a:ext>
            </a:extLst>
          </p:cNvPr>
          <p:cNvSpPr>
            <a:spLocks xmlns:a="http://schemas.openxmlformats.org/drawingml/2006/main" noGrp="1"/>
          </p:cNvSpPr>
          <p:nvPr/>
        </p:nvSpPr>
        <p:spPr>
          <a:xfrm xmlns:a="http://schemas.openxmlformats.org/drawingml/2006/main" rot="0">
            <a:off x="5810250" y="5953125"/>
            <a:ext cx="577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650" b="1">
                <a:solidFill>
                  <a:srgbClr val="F4F3EF"/>
                </a:solidFill>
                <a:latin typeface="Arial"/>
                <a:ea typeface="Arial"/>
                <a:cs typeface="Arial"/>
              </a:defRPr>
            </a:pPr>
            <a:r>
              <a:rPr sz="1650" b="1">
                <a:solidFill>
                  <a:srgbClr val="F4F3EF"/>
                </a:solidFill>
                <a:latin typeface="Arial"/>
                <a:ea typeface="Arial"/>
                <a:cs typeface="Arial"/>
              </a:rPr>
              <a:t>VC access is distribution, not the entire market.</a:t>
            </a:r>
          </a:p>
        </p:txBody>
      </p:sp>
    </p:spTree>
    <p:extLst>
      <p:ext uri="{BB962C8B-B14F-4D97-AF65-F5344CB8AC3E}">
        <p14:creationId xmlns:p14="http://schemas.microsoft.com/office/powerpoint/2010/main" val="308439708"/>
      </p:ext>
    </p:extLst>
  </p:cSld>
</p:sld>
</file>

<file path=ppt/slides/slide6.xml><?xml version="1.0" encoding="utf-8"?>
<p:sld xmlns:p="http://schemas.openxmlformats.org/presentationml/2006/main">
  <p:cSld>
    <p:bg>
      <p:bgPr>
        <a:solidFill xmlns:a="http://schemas.openxmlformats.org/drawingml/2006/main">
          <a:srgbClr val="0D0D0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57DD452-C947-406D-86F4-A25B02571A1D}"/>
              </a:ext>
            </a:extLst>
          </p:cNvPr>
          <p:cNvSpPr>
            <a:spLocks xmlns:a="http://schemas.openxmlformats.org/drawingml/2006/main" noGrp="1"/>
          </p:cNvSpPr>
          <p:nvPr/>
        </p:nvSpPr>
        <p:spPr>
          <a:xfrm xmlns:a="http://schemas.openxmlformats.org/drawingml/2006/main" rot="0">
            <a:off x="609600" y="466725"/>
            <a:ext cx="76200" cy="76200"/>
          </a:xfrm>
          <a:prstGeom xmlns:a="http://schemas.openxmlformats.org/drawingml/2006/main" prst="rect">
            <a:avLst/>
          </a:prstGeom>
          <a:solidFill xmlns:a="http://schemas.openxmlformats.org/drawingml/2006/main">
            <a:srgbClr val="FF5B22"/>
          </a:solidFill>
          <a:ln xmlns:a="http://schemas.openxmlformats.org/drawingml/2006/main" w="0">
            <a:solidFill>
              <a:srgbClr val="FF5B22"/>
            </a:solidFill>
            <a:prstDash val="solid"/>
          </a:ln>
        </p:spPr>
      </p:sp>
      <p:sp>
        <p:nvSpPr>
          <p:cNvPr id="2" name="">
            <a:extLst xmlns:a="http://schemas.openxmlformats.org/drawingml/2006/main">
              <a:ext uri="{FF2B5EF4-FFF2-40B4-BE49-F238E27FC236}">
                <a16:creationId xmlns:a16="http://schemas.microsoft.com/office/drawing/2014/main" id="{EB9883A7-FE95-42EB-AB36-F2FD47309B54}"/>
              </a:ext>
            </a:extLst>
          </p:cNvPr>
          <p:cNvSpPr>
            <a:spLocks xmlns:a="http://schemas.openxmlformats.org/drawingml/2006/main" noGrp="1"/>
          </p:cNvSpPr>
          <p:nvPr/>
        </p:nvSpPr>
        <p:spPr>
          <a:xfrm xmlns:a="http://schemas.openxmlformats.org/drawingml/2006/main" rot="0">
            <a:off x="781050" y="4381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CATEGORY POSITION</a:t>
            </a:r>
          </a:p>
        </p:txBody>
      </p:sp>
      <p:sp>
        <p:nvSpPr>
          <p:cNvPr id="3" name="">
            <a:extLst xmlns:a="http://schemas.openxmlformats.org/drawingml/2006/main">
              <a:ext uri="{FF2B5EF4-FFF2-40B4-BE49-F238E27FC236}">
                <a16:creationId xmlns:a16="http://schemas.microsoft.com/office/drawing/2014/main" id="{13203BF0-3E60-4521-9D15-01816CD5359D}"/>
              </a:ext>
            </a:extLst>
          </p:cNvPr>
          <p:cNvSpPr>
            <a:spLocks xmlns:a="http://schemas.openxmlformats.org/drawingml/2006/main" noGrp="1"/>
          </p:cNvSpPr>
          <p:nvPr/>
        </p:nvSpPr>
        <p:spPr>
          <a:xfrm xmlns:a="http://schemas.openxmlformats.org/drawingml/2006/main" rot="0">
            <a:off x="10801350" y="438150"/>
            <a:ext cx="781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F6D6B"/>
                </a:solidFill>
                <a:latin typeface="Courier New"/>
                <a:ea typeface="Courier New"/>
                <a:cs typeface="Courier New"/>
              </a:defRPr>
            </a:pPr>
            <a:r>
              <a:rPr sz="975" b="0">
                <a:solidFill>
                  <a:srgbClr val="6F6D6B"/>
                </a:solidFill>
                <a:latin typeface="Courier New"/>
                <a:ea typeface="Courier New"/>
                <a:cs typeface="Courier New"/>
              </a:rPr>
              <a:t>06 / 08</a:t>
            </a:r>
          </a:p>
        </p:txBody>
      </p:sp>
      <p:sp>
        <p:nvSpPr>
          <p:cNvPr id="4" name="">
            <a:extLst xmlns:a="http://schemas.openxmlformats.org/drawingml/2006/main">
              <a:ext uri="{FF2B5EF4-FFF2-40B4-BE49-F238E27FC236}">
                <a16:creationId xmlns:a16="http://schemas.microsoft.com/office/drawing/2014/main" id="{73A5C577-56F7-4D78-B0FE-68255AD7C181}"/>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9525">
            <a:solidFill>
              <a:srgbClr val="242427"/>
            </a:solid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9ef94b2dcb26465c">
            <a:extLst>
              <a:ext uri="{96DAC541-7B7A-43D3-8B79-37D633B846F1}">
                <asvg:svgBlip xmlns:asvg="http://schemas.microsoft.com/office/drawing/2016/SVG/main" r:embed="R09508e2701bd4030"/>
              </a:ext>
            </a:extLst>
          </a:blip>
          <a:stretch xmlns:a="http://schemas.openxmlformats.org/drawingml/2006/main"/>
        </p:blipFill>
        <p:spPr>
          <a:xfrm xmlns:a="http://schemas.openxmlformats.org/drawingml/2006/main">
            <a:off x="609600" y="6524625"/>
            <a:ext cx="171450" cy="171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4FAA04A-D07A-48F7-8D2A-AA75B066A367}"/>
              </a:ext>
            </a:extLst>
          </p:cNvPr>
          <p:cNvSpPr>
            <a:spLocks xmlns:a="http://schemas.openxmlformats.org/drawingml/2006/main" noGrp="1"/>
          </p:cNvSpPr>
          <p:nvPr/>
        </p:nvSpPr>
        <p:spPr>
          <a:xfrm xmlns:a="http://schemas.openxmlformats.org/drawingml/2006/main" rot="0">
            <a:off x="857250" y="6562725"/>
            <a:ext cx="3238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6F6D6B"/>
                </a:solidFill>
                <a:latin typeface="Courier New"/>
                <a:ea typeface="Courier New"/>
                <a:cs typeface="Courier New"/>
              </a:defRPr>
            </a:pPr>
            <a:r>
              <a:rPr sz="750" b="1">
                <a:solidFill>
                  <a:srgbClr val="6F6D6B"/>
                </a:solidFill>
                <a:latin typeface="Courier New"/>
                <a:ea typeface="Courier New"/>
                <a:cs typeface="Courier New"/>
              </a:rPr>
              <a:t>LRWA / LIVE REAL-WORLD ASSURANCE</a:t>
            </a:r>
          </a:p>
        </p:txBody>
      </p:sp>
      <p:sp>
        <p:nvSpPr>
          <p:cNvPr id="7" name="">
            <a:extLst xmlns:a="http://schemas.openxmlformats.org/drawingml/2006/main">
              <a:ext uri="{FF2B5EF4-FFF2-40B4-BE49-F238E27FC236}">
                <a16:creationId xmlns:a16="http://schemas.microsoft.com/office/drawing/2014/main" id="{889283A1-D0CB-4B75-A156-46CD93B914E4}"/>
              </a:ext>
            </a:extLst>
          </p:cNvPr>
          <p:cNvSpPr>
            <a:spLocks xmlns:a="http://schemas.openxmlformats.org/drawingml/2006/main" noGrp="1"/>
          </p:cNvSpPr>
          <p:nvPr/>
        </p:nvSpPr>
        <p:spPr>
          <a:xfrm xmlns:a="http://schemas.openxmlformats.org/drawingml/2006/main" rot="0">
            <a:off x="9867900" y="6562725"/>
            <a:ext cx="1714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F6D6B"/>
                </a:solidFill>
                <a:latin typeface="Courier New"/>
                <a:ea typeface="Courier New"/>
                <a:cs typeface="Courier New"/>
              </a:defRPr>
            </a:pPr>
            <a:r>
              <a:rPr sz="750" b="1">
                <a:solidFill>
                  <a:srgbClr val="6F6D6B"/>
                </a:solidFill>
                <a:latin typeface="Courier New"/>
                <a:ea typeface="Courier New"/>
                <a:cs typeface="Courier New"/>
              </a:rPr>
              <a:t>PUBLIC DEMO DECK</a:t>
            </a:r>
          </a:p>
        </p:txBody>
      </p:sp>
      <p:sp>
        <p:nvSpPr>
          <p:cNvPr id="8" name="">
            <a:extLst xmlns:a="http://schemas.openxmlformats.org/drawingml/2006/main">
              <a:ext uri="{FF2B5EF4-FFF2-40B4-BE49-F238E27FC236}">
                <a16:creationId xmlns:a16="http://schemas.microsoft.com/office/drawing/2014/main" id="{15A1A36F-E8E4-4643-81EB-775595B289DB}"/>
              </a:ext>
            </a:extLst>
          </p:cNvPr>
          <p:cNvSpPr>
            <a:spLocks xmlns:a="http://schemas.openxmlformats.org/drawingml/2006/main" noGrp="1"/>
          </p:cNvSpPr>
          <p:nvPr/>
        </p:nvSpPr>
        <p:spPr>
          <a:xfrm xmlns:a="http://schemas.openxmlformats.org/drawingml/2006/main" rot="0">
            <a:off x="609600" y="800100"/>
            <a:ext cx="10934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F4F3EF"/>
                </a:solidFill>
                <a:latin typeface="Arial"/>
                <a:ea typeface="Arial"/>
                <a:cs typeface="Arial"/>
              </a:defRPr>
            </a:pPr>
            <a:r>
              <a:rPr sz="3600" b="1">
                <a:solidFill>
                  <a:srgbClr val="F4F3EF"/>
                </a:solidFill>
                <a:latin typeface="Arial"/>
                <a:ea typeface="Arial"/>
                <a:cs typeface="Arial"/>
              </a:rPr>
              <a:t>A verification mission is a new unit of work.</a:t>
            </a:r>
          </a:p>
        </p:txBody>
      </p:sp>
      <p:sp>
        <p:nvSpPr>
          <p:cNvPr id="9" name="">
            <a:extLst xmlns:a="http://schemas.openxmlformats.org/drawingml/2006/main">
              <a:ext uri="{FF2B5EF4-FFF2-40B4-BE49-F238E27FC236}">
                <a16:creationId xmlns:a16="http://schemas.microsoft.com/office/drawing/2014/main" id="{BF6DD27F-F69D-4096-B645-2D98D80DC86B}"/>
              </a:ext>
            </a:extLst>
          </p:cNvPr>
          <p:cNvSpPr>
            <a:spLocks xmlns:a="http://schemas.openxmlformats.org/drawingml/2006/main" noGrp="1"/>
          </p:cNvSpPr>
          <p:nvPr/>
        </p:nvSpPr>
        <p:spPr>
          <a:xfrm xmlns:a="http://schemas.openxmlformats.org/drawingml/2006/main" rot="0">
            <a:off x="609600" y="1390650"/>
            <a:ext cx="1019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A6A3A0"/>
                </a:solidFill>
                <a:latin typeface="Arial"/>
                <a:ea typeface="Arial"/>
                <a:cs typeface="Arial"/>
              </a:defRPr>
            </a:pPr>
            <a:r>
              <a:rPr sz="1575" b="0">
                <a:solidFill>
                  <a:srgbClr val="A6A3A0"/>
                </a:solidFill>
                <a:latin typeface="Arial"/>
                <a:ea typeface="Arial"/>
                <a:cs typeface="Arial"/>
              </a:rPr>
              <a:t>LRWA does not replace financial diligence, expert networks, or data platforms. It connects a material claim to the next decision.</a:t>
            </a:r>
          </a:p>
        </p:txBody>
      </p:sp>
      <p:sp>
        <p:nvSpPr>
          <p:cNvPr id="10" name="">
            <a:extLst xmlns:a="http://schemas.openxmlformats.org/drawingml/2006/main">
              <a:ext uri="{FF2B5EF4-FFF2-40B4-BE49-F238E27FC236}">
                <a16:creationId xmlns:a16="http://schemas.microsoft.com/office/drawing/2014/main" id="{5AFA0A07-72E7-4FFB-8A93-98C608D263CF}"/>
              </a:ext>
            </a:extLst>
          </p:cNvPr>
          <p:cNvSpPr>
            <a:spLocks xmlns:a="http://schemas.openxmlformats.org/drawingml/2006/main" noGrp="1"/>
          </p:cNvSpPr>
          <p:nvPr/>
        </p:nvSpPr>
        <p:spPr>
          <a:xfrm xmlns:a="http://schemas.openxmlformats.org/drawingml/2006/main" rot="0">
            <a:off x="609600" y="22098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WHY NOW</a:t>
            </a:r>
          </a:p>
        </p:txBody>
      </p:sp>
      <p:sp>
        <p:nvSpPr>
          <p:cNvPr id="11" name="">
            <a:extLst xmlns:a="http://schemas.openxmlformats.org/drawingml/2006/main">
              <a:ext uri="{FF2B5EF4-FFF2-40B4-BE49-F238E27FC236}">
                <a16:creationId xmlns:a16="http://schemas.microsoft.com/office/drawing/2014/main" id="{52A07173-8B10-46AF-A58B-CA644371B6DF}"/>
              </a:ext>
            </a:extLst>
          </p:cNvPr>
          <p:cNvSpPr>
            <a:spLocks xmlns:a="http://schemas.openxmlformats.org/drawingml/2006/main" noGrp="1"/>
          </p:cNvSpPr>
          <p:nvPr/>
        </p:nvSpPr>
        <p:spPr>
          <a:xfrm xmlns:a="http://schemas.openxmlformats.org/drawingml/2006/main" rot="0">
            <a:off x="609600" y="26098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F6D6B"/>
                </a:solidFill>
                <a:latin typeface="Courier New"/>
                <a:ea typeface="Courier New"/>
                <a:cs typeface="Courier New"/>
              </a:defRPr>
            </a:pPr>
            <a:r>
              <a:rPr sz="1200" b="1">
                <a:solidFill>
                  <a:srgbClr val="6F6D6B"/>
                </a:solidFill>
                <a:latin typeface="Courier New"/>
                <a:ea typeface="Courier New"/>
                <a:cs typeface="Courier New"/>
              </a:rPr>
              <a:t>01</a:t>
            </a:r>
          </a:p>
        </p:txBody>
      </p:sp>
      <p:sp>
        <p:nvSpPr>
          <p:cNvPr id="12" name="">
            <a:extLst xmlns:a="http://schemas.openxmlformats.org/drawingml/2006/main">
              <a:ext uri="{FF2B5EF4-FFF2-40B4-BE49-F238E27FC236}">
                <a16:creationId xmlns:a16="http://schemas.microsoft.com/office/drawing/2014/main" id="{3157AF99-FA21-47AB-A562-59A380DE6327}"/>
              </a:ext>
            </a:extLst>
          </p:cNvPr>
          <p:cNvSpPr>
            <a:spLocks xmlns:a="http://schemas.openxmlformats.org/drawingml/2006/main" noGrp="1"/>
          </p:cNvSpPr>
          <p:nvPr/>
        </p:nvSpPr>
        <p:spPr>
          <a:xfrm xmlns:a="http://schemas.openxmlformats.org/drawingml/2006/main" rot="0">
            <a:off x="1085850" y="2581275"/>
            <a:ext cx="443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725" b="1">
                <a:solidFill>
                  <a:srgbClr val="F4F3EF"/>
                </a:solidFill>
                <a:latin typeface="Arial"/>
                <a:ea typeface="Arial"/>
                <a:cs typeface="Arial"/>
              </a:defRPr>
            </a:pPr>
            <a:r>
              <a:rPr sz="1725" b="1">
                <a:solidFill>
                  <a:srgbClr val="F4F3EF"/>
                </a:solidFill>
                <a:latin typeface="Arial"/>
                <a:ea typeface="Arial"/>
                <a:cs typeface="Arial"/>
              </a:rPr>
              <a:t>Agents execute multi-step research</a:t>
            </a:r>
          </a:p>
        </p:txBody>
      </p:sp>
      <p:sp>
        <p:nvSpPr>
          <p:cNvPr id="13" name="">
            <a:extLst xmlns:a="http://schemas.openxmlformats.org/drawingml/2006/main">
              <a:ext uri="{FF2B5EF4-FFF2-40B4-BE49-F238E27FC236}">
                <a16:creationId xmlns:a16="http://schemas.microsoft.com/office/drawing/2014/main" id="{E752770E-3AA0-4717-A28C-D132191040F8}"/>
              </a:ext>
            </a:extLst>
          </p:cNvPr>
          <p:cNvSpPr>
            <a:spLocks xmlns:a="http://schemas.openxmlformats.org/drawingml/2006/main" noGrp="1"/>
          </p:cNvSpPr>
          <p:nvPr/>
        </p:nvSpPr>
        <p:spPr>
          <a:xfrm xmlns:a="http://schemas.openxmlformats.org/drawingml/2006/main" rot="0">
            <a:off x="609600" y="32575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F6D6B"/>
                </a:solidFill>
                <a:latin typeface="Courier New"/>
                <a:ea typeface="Courier New"/>
                <a:cs typeface="Courier New"/>
              </a:defRPr>
            </a:pPr>
            <a:r>
              <a:rPr sz="1200" b="1">
                <a:solidFill>
                  <a:srgbClr val="6F6D6B"/>
                </a:solidFill>
                <a:latin typeface="Courier New"/>
                <a:ea typeface="Courier New"/>
                <a:cs typeface="Courier New"/>
              </a:rPr>
              <a:t>02</a:t>
            </a:r>
          </a:p>
        </p:txBody>
      </p:sp>
      <p:sp>
        <p:nvSpPr>
          <p:cNvPr id="14" name="">
            <a:extLst xmlns:a="http://schemas.openxmlformats.org/drawingml/2006/main">
              <a:ext uri="{FF2B5EF4-FFF2-40B4-BE49-F238E27FC236}">
                <a16:creationId xmlns:a16="http://schemas.microsoft.com/office/drawing/2014/main" id="{DCAC7BF5-793E-4B4A-B239-766EF3E38841}"/>
              </a:ext>
            </a:extLst>
          </p:cNvPr>
          <p:cNvSpPr>
            <a:spLocks xmlns:a="http://schemas.openxmlformats.org/drawingml/2006/main" noGrp="1"/>
          </p:cNvSpPr>
          <p:nvPr/>
        </p:nvSpPr>
        <p:spPr>
          <a:xfrm xmlns:a="http://schemas.openxmlformats.org/drawingml/2006/main" rot="0">
            <a:off x="1085850" y="3228975"/>
            <a:ext cx="443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76"/>
          </a:bodyPr>
          <a:lstStyle xmlns:a="http://schemas.openxmlformats.org/drawingml/2006/main"/>
          <a:p xmlns:a="http://schemas.openxmlformats.org/drawingml/2006/main">
            <a:pPr algn="l">
              <a:lnSpc>
                <a:spcPct val="103000"/>
              </a:lnSpc>
              <a:buNone/>
              <a:defRPr sz="1725" b="1">
                <a:solidFill>
                  <a:srgbClr val="F4F3EF"/>
                </a:solidFill>
                <a:latin typeface="Arial"/>
                <a:ea typeface="Arial"/>
                <a:cs typeface="Arial"/>
              </a:defRPr>
            </a:pPr>
            <a:r>
              <a:rPr sz="1725" b="1">
                <a:solidFill>
                  <a:srgbClr val="F4F3EF"/>
                </a:solidFill>
                <a:latin typeface="Arial"/>
                <a:ea typeface="Arial"/>
                <a:cs typeface="Arial"/>
              </a:rPr>
              <a:t>Commercial operations leave queryable signals</a:t>
            </a:r>
          </a:p>
        </p:txBody>
      </p:sp>
      <p:sp>
        <p:nvSpPr>
          <p:cNvPr id="15" name="">
            <a:extLst xmlns:a="http://schemas.openxmlformats.org/drawingml/2006/main">
              <a:ext uri="{FF2B5EF4-FFF2-40B4-BE49-F238E27FC236}">
                <a16:creationId xmlns:a16="http://schemas.microsoft.com/office/drawing/2014/main" id="{CB47F56F-43AB-4DD0-A3EF-4E36E977A553}"/>
              </a:ext>
            </a:extLst>
          </p:cNvPr>
          <p:cNvSpPr>
            <a:spLocks xmlns:a="http://schemas.openxmlformats.org/drawingml/2006/main" noGrp="1"/>
          </p:cNvSpPr>
          <p:nvPr/>
        </p:nvSpPr>
        <p:spPr>
          <a:xfrm xmlns:a="http://schemas.openxmlformats.org/drawingml/2006/main" rot="0">
            <a:off x="609600" y="39052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F6D6B"/>
                </a:solidFill>
                <a:latin typeface="Courier New"/>
                <a:ea typeface="Courier New"/>
                <a:cs typeface="Courier New"/>
              </a:defRPr>
            </a:pPr>
            <a:r>
              <a:rPr sz="1200" b="1">
                <a:solidFill>
                  <a:srgbClr val="6F6D6B"/>
                </a:solidFill>
                <a:latin typeface="Courier New"/>
                <a:ea typeface="Courier New"/>
                <a:cs typeface="Courier New"/>
              </a:rPr>
              <a:t>03</a:t>
            </a:r>
          </a:p>
        </p:txBody>
      </p:sp>
      <p:sp>
        <p:nvSpPr>
          <p:cNvPr id="16" name="">
            <a:extLst xmlns:a="http://schemas.openxmlformats.org/drawingml/2006/main">
              <a:ext uri="{FF2B5EF4-FFF2-40B4-BE49-F238E27FC236}">
                <a16:creationId xmlns:a16="http://schemas.microsoft.com/office/drawing/2014/main" id="{C9F3F97D-3318-40DB-8C8E-9975090E6D75}"/>
              </a:ext>
            </a:extLst>
          </p:cNvPr>
          <p:cNvSpPr>
            <a:spLocks xmlns:a="http://schemas.openxmlformats.org/drawingml/2006/main" noGrp="1"/>
          </p:cNvSpPr>
          <p:nvPr/>
        </p:nvSpPr>
        <p:spPr>
          <a:xfrm xmlns:a="http://schemas.openxmlformats.org/drawingml/2006/main" rot="0">
            <a:off x="1085850" y="3876675"/>
            <a:ext cx="443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76"/>
          </a:bodyPr>
          <a:lstStyle xmlns:a="http://schemas.openxmlformats.org/drawingml/2006/main"/>
          <a:p xmlns:a="http://schemas.openxmlformats.org/drawingml/2006/main">
            <a:pPr algn="l">
              <a:lnSpc>
                <a:spcPct val="103000"/>
              </a:lnSpc>
              <a:buNone/>
              <a:defRPr sz="1725" b="1">
                <a:solidFill>
                  <a:srgbClr val="F4F3EF"/>
                </a:solidFill>
                <a:latin typeface="Arial"/>
                <a:ea typeface="Arial"/>
                <a:cs typeface="Arial"/>
              </a:defRPr>
            </a:pPr>
            <a:r>
              <a:rPr sz="1725" b="1">
                <a:solidFill>
                  <a:srgbClr val="F4F3EF"/>
                </a:solidFill>
                <a:latin typeface="Arial"/>
                <a:ea typeface="Arial"/>
                <a:cs typeface="Arial"/>
              </a:rPr>
              <a:t>Buyers need provenance, permission, and replay</a:t>
            </a:r>
          </a:p>
        </p:txBody>
      </p:sp>
      <p:sp>
        <p:nvSpPr>
          <p:cNvPr id="17" name="">
            <a:extLst xmlns:a="http://schemas.openxmlformats.org/drawingml/2006/main">
              <a:ext uri="{FF2B5EF4-FFF2-40B4-BE49-F238E27FC236}">
                <a16:creationId xmlns:a16="http://schemas.microsoft.com/office/drawing/2014/main" id="{32383B46-22E3-4478-9CD4-74334A312C0D}"/>
              </a:ext>
            </a:extLst>
          </p:cNvPr>
          <p:cNvSpPr>
            <a:spLocks xmlns:a="http://schemas.openxmlformats.org/drawingml/2006/main" noGrp="1"/>
          </p:cNvSpPr>
          <p:nvPr/>
        </p:nvSpPr>
        <p:spPr>
          <a:xfrm xmlns:a="http://schemas.openxmlformats.org/drawingml/2006/main">
            <a:off x="6096000" y="2152650"/>
            <a:ext cx="0" cy="2857500"/>
          </a:xfrm>
          <a:prstGeom xmlns:a="http://schemas.openxmlformats.org/drawingml/2006/main" prst="line">
            <a:avLst/>
          </a:prstGeom>
          <a:noFill xmlns:a="http://schemas.openxmlformats.org/drawingml/2006/main"/>
          <a:ln xmlns:a="http://schemas.openxmlformats.org/drawingml/2006/main" w="9525">
            <a:solidFill>
              <a:srgbClr val="333337"/>
            </a:solidFill>
            <a:prstDash val="solid"/>
          </a:ln>
        </p:spPr>
      </p:sp>
      <p:sp>
        <p:nvSpPr>
          <p:cNvPr id="18" name="">
            <a:extLst xmlns:a="http://schemas.openxmlformats.org/drawingml/2006/main">
              <a:ext uri="{FF2B5EF4-FFF2-40B4-BE49-F238E27FC236}">
                <a16:creationId xmlns:a16="http://schemas.microsoft.com/office/drawing/2014/main" id="{9FF3BF14-222F-4B7C-B515-5A0AC012FD6F}"/>
              </a:ext>
            </a:extLst>
          </p:cNvPr>
          <p:cNvSpPr>
            <a:spLocks xmlns:a="http://schemas.openxmlformats.org/drawingml/2006/main" noGrp="1"/>
          </p:cNvSpPr>
          <p:nvPr/>
        </p:nvSpPr>
        <p:spPr>
          <a:xfrm xmlns:a="http://schemas.openxmlformats.org/drawingml/2006/main" rot="0">
            <a:off x="6496050" y="220980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UNIT OF WORK</a:t>
            </a:r>
          </a:p>
        </p:txBody>
      </p:sp>
      <p:sp>
        <p:nvSpPr>
          <p:cNvPr id="19" name="">
            <a:extLst xmlns:a="http://schemas.openxmlformats.org/drawingml/2006/main">
              <a:ext uri="{FF2B5EF4-FFF2-40B4-BE49-F238E27FC236}">
                <a16:creationId xmlns:a16="http://schemas.microsoft.com/office/drawing/2014/main" id="{DCD4732E-8854-49F4-9D25-96B7C3CF3B36}"/>
              </a:ext>
            </a:extLst>
          </p:cNvPr>
          <p:cNvSpPr>
            <a:spLocks xmlns:a="http://schemas.openxmlformats.org/drawingml/2006/main" noGrp="1"/>
          </p:cNvSpPr>
          <p:nvPr/>
        </p:nvSpPr>
        <p:spPr>
          <a:xfrm xmlns:a="http://schemas.openxmlformats.org/drawingml/2006/main" rot="0">
            <a:off x="6496050" y="26289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F6D6B"/>
                </a:solidFill>
                <a:latin typeface="Courier New"/>
                <a:ea typeface="Courier New"/>
                <a:cs typeface="Courier New"/>
              </a:defRPr>
            </a:pPr>
            <a:r>
              <a:rPr sz="1050" b="1">
                <a:solidFill>
                  <a:srgbClr val="6F6D6B"/>
                </a:solidFill>
                <a:latin typeface="Courier New"/>
                <a:ea typeface="Courier New"/>
                <a:cs typeface="Courier New"/>
              </a:rPr>
              <a:t>DATA-ROOM TOOLS</a:t>
            </a:r>
          </a:p>
        </p:txBody>
      </p:sp>
      <p:sp>
        <p:nvSpPr>
          <p:cNvPr id="20" name="">
            <a:extLst xmlns:a="http://schemas.openxmlformats.org/drawingml/2006/main">
              <a:ext uri="{FF2B5EF4-FFF2-40B4-BE49-F238E27FC236}">
                <a16:creationId xmlns:a16="http://schemas.microsoft.com/office/drawing/2014/main" id="{6F7FED53-0BBB-4359-A4FC-07BDF9B4EA76}"/>
              </a:ext>
            </a:extLst>
          </p:cNvPr>
          <p:cNvSpPr>
            <a:spLocks xmlns:a="http://schemas.openxmlformats.org/drawingml/2006/main" noGrp="1"/>
          </p:cNvSpPr>
          <p:nvPr/>
        </p:nvSpPr>
        <p:spPr>
          <a:xfrm xmlns:a="http://schemas.openxmlformats.org/drawingml/2006/main" rot="0">
            <a:off x="8858250" y="25908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725" b="0">
                <a:solidFill>
                  <a:srgbClr val="A6A3A0"/>
                </a:solidFill>
                <a:latin typeface="Arial"/>
                <a:ea typeface="Arial"/>
                <a:cs typeface="Arial"/>
              </a:defRPr>
            </a:pPr>
            <a:r>
              <a:rPr sz="1725" b="0">
                <a:solidFill>
                  <a:srgbClr val="A6A3A0"/>
                </a:solidFill>
                <a:latin typeface="Arial"/>
                <a:ea typeface="Arial"/>
                <a:cs typeface="Arial"/>
              </a:rPr>
              <a:t>Document</a:t>
            </a:r>
          </a:p>
        </p:txBody>
      </p:sp>
      <p:sp>
        <p:nvSpPr>
          <p:cNvPr id="21" name="">
            <a:extLst xmlns:a="http://schemas.openxmlformats.org/drawingml/2006/main">
              <a:ext uri="{FF2B5EF4-FFF2-40B4-BE49-F238E27FC236}">
                <a16:creationId xmlns:a16="http://schemas.microsoft.com/office/drawing/2014/main" id="{50C99A7F-0357-47DB-A952-A2B02889B663}"/>
              </a:ext>
            </a:extLst>
          </p:cNvPr>
          <p:cNvSpPr>
            <a:spLocks xmlns:a="http://schemas.openxmlformats.org/drawingml/2006/main" noGrp="1"/>
          </p:cNvSpPr>
          <p:nvPr/>
        </p:nvSpPr>
        <p:spPr>
          <a:xfrm xmlns:a="http://schemas.openxmlformats.org/drawingml/2006/main">
            <a:off x="6496050" y="3000375"/>
            <a:ext cx="4743450" cy="0"/>
          </a:xfrm>
          <a:prstGeom xmlns:a="http://schemas.openxmlformats.org/drawingml/2006/main" prst="line">
            <a:avLst/>
          </a:prstGeom>
          <a:noFill xmlns:a="http://schemas.openxmlformats.org/drawingml/2006/main"/>
          <a:ln xmlns:a="http://schemas.openxmlformats.org/drawingml/2006/main" w="9525">
            <a:solidFill>
              <a:srgbClr val="242427"/>
            </a:solidFill>
            <a:prstDash val="solid"/>
          </a:ln>
        </p:spPr>
      </p:sp>
      <p:sp>
        <p:nvSpPr>
          <p:cNvPr id="22" name="">
            <a:extLst xmlns:a="http://schemas.openxmlformats.org/drawingml/2006/main">
              <a:ext uri="{FF2B5EF4-FFF2-40B4-BE49-F238E27FC236}">
                <a16:creationId xmlns:a16="http://schemas.microsoft.com/office/drawing/2014/main" id="{D8CAB0A4-861E-4C92-9101-5CB6A9223866}"/>
              </a:ext>
            </a:extLst>
          </p:cNvPr>
          <p:cNvSpPr>
            <a:spLocks xmlns:a="http://schemas.openxmlformats.org/drawingml/2006/main" noGrp="1"/>
          </p:cNvSpPr>
          <p:nvPr/>
        </p:nvSpPr>
        <p:spPr>
          <a:xfrm xmlns:a="http://schemas.openxmlformats.org/drawingml/2006/main" rot="0">
            <a:off x="6496050" y="326707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F6D6B"/>
                </a:solidFill>
                <a:latin typeface="Courier New"/>
                <a:ea typeface="Courier New"/>
                <a:cs typeface="Courier New"/>
              </a:defRPr>
            </a:pPr>
            <a:r>
              <a:rPr sz="1050" b="1">
                <a:solidFill>
                  <a:srgbClr val="6F6D6B"/>
                </a:solidFill>
                <a:latin typeface="Courier New"/>
                <a:ea typeface="Courier New"/>
                <a:cs typeface="Courier New"/>
              </a:rPr>
              <a:t>EXPERT NETWORKS</a:t>
            </a:r>
          </a:p>
        </p:txBody>
      </p:sp>
      <p:sp>
        <p:nvSpPr>
          <p:cNvPr id="23" name="">
            <a:extLst xmlns:a="http://schemas.openxmlformats.org/drawingml/2006/main">
              <a:ext uri="{FF2B5EF4-FFF2-40B4-BE49-F238E27FC236}">
                <a16:creationId xmlns:a16="http://schemas.microsoft.com/office/drawing/2014/main" id="{B6DDBBDA-A49B-454B-8C2E-60E35A1EA3BC}"/>
              </a:ext>
            </a:extLst>
          </p:cNvPr>
          <p:cNvSpPr>
            <a:spLocks xmlns:a="http://schemas.openxmlformats.org/drawingml/2006/main" noGrp="1"/>
          </p:cNvSpPr>
          <p:nvPr/>
        </p:nvSpPr>
        <p:spPr>
          <a:xfrm xmlns:a="http://schemas.openxmlformats.org/drawingml/2006/main" rot="0">
            <a:off x="8858250" y="32289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725" b="0">
                <a:solidFill>
                  <a:srgbClr val="A6A3A0"/>
                </a:solidFill>
                <a:latin typeface="Arial"/>
                <a:ea typeface="Arial"/>
                <a:cs typeface="Arial"/>
              </a:defRPr>
            </a:pPr>
            <a:r>
              <a:rPr sz="1725" b="0">
                <a:solidFill>
                  <a:srgbClr val="A6A3A0"/>
                </a:solidFill>
                <a:latin typeface="Arial"/>
                <a:ea typeface="Arial"/>
                <a:cs typeface="Arial"/>
              </a:rPr>
              <a:t>Interview</a:t>
            </a:r>
          </a:p>
        </p:txBody>
      </p:sp>
      <p:sp>
        <p:nvSpPr>
          <p:cNvPr id="24" name="">
            <a:extLst xmlns:a="http://schemas.openxmlformats.org/drawingml/2006/main">
              <a:ext uri="{FF2B5EF4-FFF2-40B4-BE49-F238E27FC236}">
                <a16:creationId xmlns:a16="http://schemas.microsoft.com/office/drawing/2014/main" id="{2608041F-91A8-4ADB-B993-580EDC0ED86A}"/>
              </a:ext>
            </a:extLst>
          </p:cNvPr>
          <p:cNvSpPr>
            <a:spLocks xmlns:a="http://schemas.openxmlformats.org/drawingml/2006/main" noGrp="1"/>
          </p:cNvSpPr>
          <p:nvPr/>
        </p:nvSpPr>
        <p:spPr>
          <a:xfrm xmlns:a="http://schemas.openxmlformats.org/drawingml/2006/main">
            <a:off x="6496050" y="3638550"/>
            <a:ext cx="4743450" cy="0"/>
          </a:xfrm>
          <a:prstGeom xmlns:a="http://schemas.openxmlformats.org/drawingml/2006/main" prst="line">
            <a:avLst/>
          </a:prstGeom>
          <a:noFill xmlns:a="http://schemas.openxmlformats.org/drawingml/2006/main"/>
          <a:ln xmlns:a="http://schemas.openxmlformats.org/drawingml/2006/main" w="9525">
            <a:solidFill>
              <a:srgbClr val="242427"/>
            </a:solidFill>
            <a:prstDash val="solid"/>
          </a:ln>
        </p:spPr>
      </p:sp>
      <p:sp>
        <p:nvSpPr>
          <p:cNvPr id="25" name="">
            <a:extLst xmlns:a="http://schemas.openxmlformats.org/drawingml/2006/main">
              <a:ext uri="{FF2B5EF4-FFF2-40B4-BE49-F238E27FC236}">
                <a16:creationId xmlns:a16="http://schemas.microsoft.com/office/drawing/2014/main" id="{71F2EEEF-B193-4A23-8608-C2D981678CAA}"/>
              </a:ext>
            </a:extLst>
          </p:cNvPr>
          <p:cNvSpPr>
            <a:spLocks xmlns:a="http://schemas.openxmlformats.org/drawingml/2006/main" noGrp="1"/>
          </p:cNvSpPr>
          <p:nvPr/>
        </p:nvSpPr>
        <p:spPr>
          <a:xfrm xmlns:a="http://schemas.openxmlformats.org/drawingml/2006/main" rot="0">
            <a:off x="6496050" y="39052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F6D6B"/>
                </a:solidFill>
                <a:latin typeface="Courier New"/>
                <a:ea typeface="Courier New"/>
                <a:cs typeface="Courier New"/>
              </a:defRPr>
            </a:pPr>
            <a:r>
              <a:rPr sz="1050" b="1">
                <a:solidFill>
                  <a:srgbClr val="6F6D6B"/>
                </a:solidFill>
                <a:latin typeface="Courier New"/>
                <a:ea typeface="Courier New"/>
                <a:cs typeface="Courier New"/>
              </a:rPr>
              <a:t>DATA PLATFORMS</a:t>
            </a:r>
          </a:p>
        </p:txBody>
      </p:sp>
      <p:sp>
        <p:nvSpPr>
          <p:cNvPr id="26" name="">
            <a:extLst xmlns:a="http://schemas.openxmlformats.org/drawingml/2006/main">
              <a:ext uri="{FF2B5EF4-FFF2-40B4-BE49-F238E27FC236}">
                <a16:creationId xmlns:a16="http://schemas.microsoft.com/office/drawing/2014/main" id="{A264ED34-A087-4A00-AEC4-9BD8DB9F56F5}"/>
              </a:ext>
            </a:extLst>
          </p:cNvPr>
          <p:cNvSpPr>
            <a:spLocks xmlns:a="http://schemas.openxmlformats.org/drawingml/2006/main" noGrp="1"/>
          </p:cNvSpPr>
          <p:nvPr/>
        </p:nvSpPr>
        <p:spPr>
          <a:xfrm xmlns:a="http://schemas.openxmlformats.org/drawingml/2006/main" rot="0">
            <a:off x="8858250" y="38671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725" b="0">
                <a:solidFill>
                  <a:srgbClr val="A6A3A0"/>
                </a:solidFill>
                <a:latin typeface="Arial"/>
                <a:ea typeface="Arial"/>
                <a:cs typeface="Arial"/>
              </a:defRPr>
            </a:pPr>
            <a:r>
              <a:rPr sz="1725" b="0">
                <a:solidFill>
                  <a:srgbClr val="A6A3A0"/>
                </a:solidFill>
                <a:latin typeface="Arial"/>
                <a:ea typeface="Arial"/>
                <a:cs typeface="Arial"/>
              </a:rPr>
              <a:t>Dataset</a:t>
            </a:r>
          </a:p>
        </p:txBody>
      </p:sp>
      <p:sp>
        <p:nvSpPr>
          <p:cNvPr id="27" name="">
            <a:extLst xmlns:a="http://schemas.openxmlformats.org/drawingml/2006/main">
              <a:ext uri="{FF2B5EF4-FFF2-40B4-BE49-F238E27FC236}">
                <a16:creationId xmlns:a16="http://schemas.microsoft.com/office/drawing/2014/main" id="{75E44C15-AB80-4EE4-9663-EC2F914DCBCE}"/>
              </a:ext>
            </a:extLst>
          </p:cNvPr>
          <p:cNvSpPr>
            <a:spLocks xmlns:a="http://schemas.openxmlformats.org/drawingml/2006/main" noGrp="1"/>
          </p:cNvSpPr>
          <p:nvPr/>
        </p:nvSpPr>
        <p:spPr>
          <a:xfrm xmlns:a="http://schemas.openxmlformats.org/drawingml/2006/main">
            <a:off x="6496050" y="4276725"/>
            <a:ext cx="4743450" cy="0"/>
          </a:xfrm>
          <a:prstGeom xmlns:a="http://schemas.openxmlformats.org/drawingml/2006/main" prst="line">
            <a:avLst/>
          </a:prstGeom>
          <a:noFill xmlns:a="http://schemas.openxmlformats.org/drawingml/2006/main"/>
          <a:ln xmlns:a="http://schemas.openxmlformats.org/drawingml/2006/main" w="9525">
            <a:solidFill>
              <a:srgbClr val="242427"/>
            </a:solidFill>
            <a:prstDash val="solid"/>
          </a:ln>
        </p:spPr>
      </p:sp>
      <p:sp>
        <p:nvSpPr>
          <p:cNvPr id="28" name="">
            <a:extLst xmlns:a="http://schemas.openxmlformats.org/drawingml/2006/main">
              <a:ext uri="{FF2B5EF4-FFF2-40B4-BE49-F238E27FC236}">
                <a16:creationId xmlns:a16="http://schemas.microsoft.com/office/drawing/2014/main" id="{B037D4A4-1AD4-4736-885A-B9A3232B3079}"/>
              </a:ext>
            </a:extLst>
          </p:cNvPr>
          <p:cNvSpPr>
            <a:spLocks xmlns:a="http://schemas.openxmlformats.org/drawingml/2006/main" noGrp="1"/>
          </p:cNvSpPr>
          <p:nvPr/>
        </p:nvSpPr>
        <p:spPr>
          <a:xfrm xmlns:a="http://schemas.openxmlformats.org/drawingml/2006/main" rot="0">
            <a:off x="6496050" y="45434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LRWA</a:t>
            </a:r>
          </a:p>
        </p:txBody>
      </p:sp>
      <p:sp>
        <p:nvSpPr>
          <p:cNvPr id="29" name="">
            <a:extLst xmlns:a="http://schemas.openxmlformats.org/drawingml/2006/main">
              <a:ext uri="{FF2B5EF4-FFF2-40B4-BE49-F238E27FC236}">
                <a16:creationId xmlns:a16="http://schemas.microsoft.com/office/drawing/2014/main" id="{DA313895-2E4A-4CE2-93A7-2B9239F2A951}"/>
              </a:ext>
            </a:extLst>
          </p:cNvPr>
          <p:cNvSpPr>
            <a:spLocks xmlns:a="http://schemas.openxmlformats.org/drawingml/2006/main" noGrp="1"/>
          </p:cNvSpPr>
          <p:nvPr/>
        </p:nvSpPr>
        <p:spPr>
          <a:xfrm xmlns:a="http://schemas.openxmlformats.org/drawingml/2006/main" rot="0">
            <a:off x="8286750" y="45053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defRPr sz="1725" b="1">
                <a:solidFill>
                  <a:srgbClr val="F4F3EF"/>
                </a:solidFill>
                <a:latin typeface="Arial"/>
                <a:ea typeface="Arial"/>
                <a:cs typeface="Arial"/>
              </a:defRPr>
            </a:pPr>
            <a:r>
              <a:rPr sz="1725" b="1">
                <a:solidFill>
                  <a:srgbClr val="F4F3EF"/>
                </a:solidFill>
                <a:latin typeface="Arial"/>
                <a:ea typeface="Arial"/>
                <a:cs typeface="Arial"/>
              </a:rPr>
              <a:t>Verification mission</a:t>
            </a:r>
          </a:p>
        </p:txBody>
      </p:sp>
      <p:sp>
        <p:nvSpPr>
          <p:cNvPr id="30" name="">
            <a:extLst xmlns:a="http://schemas.openxmlformats.org/drawingml/2006/main">
              <a:ext uri="{FF2B5EF4-FFF2-40B4-BE49-F238E27FC236}">
                <a16:creationId xmlns:a16="http://schemas.microsoft.com/office/drawing/2014/main" id="{CBB84777-4E89-4943-96FF-B02BD9069D2E}"/>
              </a:ext>
            </a:extLst>
          </p:cNvPr>
          <p:cNvSpPr>
            <a:spLocks xmlns:a="http://schemas.openxmlformats.org/drawingml/2006/main" noGrp="1"/>
          </p:cNvSpPr>
          <p:nvPr/>
        </p:nvSpPr>
        <p:spPr>
          <a:xfrm xmlns:a="http://schemas.openxmlformats.org/drawingml/2006/main">
            <a:off x="6496050" y="4914900"/>
            <a:ext cx="4743450" cy="0"/>
          </a:xfrm>
          <a:prstGeom xmlns:a="http://schemas.openxmlformats.org/drawingml/2006/main" prst="line">
            <a:avLst/>
          </a:prstGeom>
          <a:noFill xmlns:a="http://schemas.openxmlformats.org/drawingml/2006/main"/>
          <a:ln xmlns:a="http://schemas.openxmlformats.org/drawingml/2006/main" w="19050">
            <a:solidFill>
              <a:srgbClr val="FF5B22"/>
            </a:solidFill>
            <a:prstDash val="solid"/>
          </a:ln>
        </p:spPr>
      </p:sp>
      <p:sp>
        <p:nvSpPr>
          <p:cNvPr id="31" name="">
            <a:extLst xmlns:a="http://schemas.openxmlformats.org/drawingml/2006/main">
              <a:ext uri="{FF2B5EF4-FFF2-40B4-BE49-F238E27FC236}">
                <a16:creationId xmlns:a16="http://schemas.microsoft.com/office/drawing/2014/main" id="{DCE24188-77AB-4E04-9EE4-1AFA4FEAADC4}"/>
              </a:ext>
            </a:extLst>
          </p:cNvPr>
          <p:cNvSpPr>
            <a:spLocks xmlns:a="http://schemas.openxmlformats.org/drawingml/2006/main" noGrp="1"/>
          </p:cNvSpPr>
          <p:nvPr/>
        </p:nvSpPr>
        <p:spPr>
          <a:xfrm xmlns:a="http://schemas.openxmlformats.org/drawingml/2006/main" rot="0">
            <a:off x="609600" y="5248275"/>
            <a:ext cx="10972800" cy="809625"/>
          </a:xfrm>
          <a:prstGeom xmlns:a="http://schemas.openxmlformats.org/drawingml/2006/main" prst="roundRect">
            <a:avLst>
              <a:gd name="adj" fmla="val 14118"/>
            </a:avLst>
          </a:prstGeom>
          <a:solidFill xmlns:a="http://schemas.openxmlformats.org/drawingml/2006/main">
            <a:srgbClr val="1B120E"/>
          </a:solidFill>
          <a:ln xmlns:a="http://schemas.openxmlformats.org/drawingml/2006/main" w="9525">
            <a:solidFill>
              <a:srgbClr val="FF5B22"/>
            </a:solidFill>
            <a:prstDash val="solid"/>
          </a:ln>
        </p:spPr>
      </p:sp>
      <p:sp>
        <p:nvSpPr>
          <p:cNvPr id="32" name="">
            <a:extLst xmlns:a="http://schemas.openxmlformats.org/drawingml/2006/main">
              <a:ext uri="{FF2B5EF4-FFF2-40B4-BE49-F238E27FC236}">
                <a16:creationId xmlns:a16="http://schemas.microsoft.com/office/drawing/2014/main" id="{26B4AF40-0DB6-4974-8846-2D35E1A82A29}"/>
              </a:ext>
            </a:extLst>
          </p:cNvPr>
          <p:cNvSpPr>
            <a:spLocks xmlns:a="http://schemas.openxmlformats.org/drawingml/2006/main" noGrp="1"/>
          </p:cNvSpPr>
          <p:nvPr/>
        </p:nvSpPr>
        <p:spPr>
          <a:xfrm xmlns:a="http://schemas.openxmlformats.org/drawingml/2006/main" rot="0">
            <a:off x="876300" y="5476875"/>
            <a:ext cx="2333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5B22"/>
                </a:solidFill>
                <a:latin typeface="Courier New"/>
                <a:ea typeface="Courier New"/>
                <a:cs typeface="Courier New"/>
              </a:defRPr>
            </a:pPr>
            <a:r>
              <a:rPr sz="975" b="1">
                <a:solidFill>
                  <a:srgbClr val="FF5B22"/>
                </a:solidFill>
                <a:latin typeface="Courier New"/>
                <a:ea typeface="Courier New"/>
                <a:cs typeface="Courier New"/>
              </a:rPr>
              <a:t>POSITIONING HYPOTHESIS</a:t>
            </a:r>
          </a:p>
        </p:txBody>
      </p:sp>
      <p:sp>
        <p:nvSpPr>
          <p:cNvPr id="33" name="">
            <a:extLst xmlns:a="http://schemas.openxmlformats.org/drawingml/2006/main">
              <a:ext uri="{FF2B5EF4-FFF2-40B4-BE49-F238E27FC236}">
                <a16:creationId xmlns:a16="http://schemas.microsoft.com/office/drawing/2014/main" id="{B5393B6F-09D6-43C9-AC12-047411342CBB}"/>
              </a:ext>
            </a:extLst>
          </p:cNvPr>
          <p:cNvSpPr>
            <a:spLocks xmlns:a="http://schemas.openxmlformats.org/drawingml/2006/main" noGrp="1"/>
          </p:cNvSpPr>
          <p:nvPr/>
        </p:nvSpPr>
        <p:spPr>
          <a:xfrm xmlns:a="http://schemas.openxmlformats.org/drawingml/2006/main" rot="0">
            <a:off x="3543300" y="5391150"/>
            <a:ext cx="771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250" b="1">
                <a:solidFill>
                  <a:srgbClr val="F4F3EF"/>
                </a:solidFill>
                <a:latin typeface="Arial"/>
                <a:ea typeface="Arial"/>
                <a:cs typeface="Arial"/>
              </a:defRPr>
            </a:pPr>
            <a:r>
              <a:rPr sz="2250" b="1">
                <a:solidFill>
                  <a:srgbClr val="F4F3EF"/>
                </a:solidFill>
                <a:latin typeface="Arial"/>
                <a:ea typeface="Arial"/>
                <a:cs typeface="Arial"/>
              </a:rPr>
              <a:t>The category is commercial verification infrastructure.</a:t>
            </a:r>
          </a:p>
        </p:txBody>
      </p:sp>
    </p:spTree>
    <p:extLst>
      <p:ext uri="{BB962C8B-B14F-4D97-AF65-F5344CB8AC3E}">
        <p14:creationId xmlns:p14="http://schemas.microsoft.com/office/powerpoint/2010/main" val="1033349908"/>
      </p:ext>
    </p:extLst>
  </p:cSld>
</p:sld>
</file>

<file path=ppt/slides/slide7.xml><?xml version="1.0" encoding="utf-8"?>
<p:sld xmlns:p="http://schemas.openxmlformats.org/presentationml/2006/main">
  <p:cSld>
    <p:bg>
      <p:bgPr>
        <a:solidFill xmlns:a="http://schemas.openxmlformats.org/drawingml/2006/main">
          <a:srgbClr val="0D0D0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3D21ED1-4432-4282-8657-4848E4370382}"/>
              </a:ext>
            </a:extLst>
          </p:cNvPr>
          <p:cNvSpPr>
            <a:spLocks xmlns:a="http://schemas.openxmlformats.org/drawingml/2006/main" noGrp="1"/>
          </p:cNvSpPr>
          <p:nvPr/>
        </p:nvSpPr>
        <p:spPr>
          <a:xfrm xmlns:a="http://schemas.openxmlformats.org/drawingml/2006/main" rot="0">
            <a:off x="609600" y="466725"/>
            <a:ext cx="76200" cy="76200"/>
          </a:xfrm>
          <a:prstGeom xmlns:a="http://schemas.openxmlformats.org/drawingml/2006/main" prst="rect">
            <a:avLst/>
          </a:prstGeom>
          <a:solidFill xmlns:a="http://schemas.openxmlformats.org/drawingml/2006/main">
            <a:srgbClr val="FF5B22"/>
          </a:solidFill>
          <a:ln xmlns:a="http://schemas.openxmlformats.org/drawingml/2006/main" w="0">
            <a:solidFill>
              <a:srgbClr val="FF5B22"/>
            </a:solidFill>
            <a:prstDash val="solid"/>
          </a:ln>
        </p:spPr>
      </p:sp>
      <p:sp>
        <p:nvSpPr>
          <p:cNvPr id="2" name="">
            <a:extLst xmlns:a="http://schemas.openxmlformats.org/drawingml/2006/main">
              <a:ext uri="{FF2B5EF4-FFF2-40B4-BE49-F238E27FC236}">
                <a16:creationId xmlns:a16="http://schemas.microsoft.com/office/drawing/2014/main" id="{987F3A70-209A-4AE9-A5D4-A31972998B70}"/>
              </a:ext>
            </a:extLst>
          </p:cNvPr>
          <p:cNvSpPr>
            <a:spLocks xmlns:a="http://schemas.openxmlformats.org/drawingml/2006/main" noGrp="1"/>
          </p:cNvSpPr>
          <p:nvPr/>
        </p:nvSpPr>
        <p:spPr>
          <a:xfrm xmlns:a="http://schemas.openxmlformats.org/drawingml/2006/main" rot="0">
            <a:off x="781050" y="4381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BUSINESS MODEL</a:t>
            </a:r>
          </a:p>
        </p:txBody>
      </p:sp>
      <p:sp>
        <p:nvSpPr>
          <p:cNvPr id="3" name="">
            <a:extLst xmlns:a="http://schemas.openxmlformats.org/drawingml/2006/main">
              <a:ext uri="{FF2B5EF4-FFF2-40B4-BE49-F238E27FC236}">
                <a16:creationId xmlns:a16="http://schemas.microsoft.com/office/drawing/2014/main" id="{4E7453AC-62E0-4B49-AFE7-9B160EDC179D}"/>
              </a:ext>
            </a:extLst>
          </p:cNvPr>
          <p:cNvSpPr>
            <a:spLocks xmlns:a="http://schemas.openxmlformats.org/drawingml/2006/main" noGrp="1"/>
          </p:cNvSpPr>
          <p:nvPr/>
        </p:nvSpPr>
        <p:spPr>
          <a:xfrm xmlns:a="http://schemas.openxmlformats.org/drawingml/2006/main" rot="0">
            <a:off x="10801350" y="438150"/>
            <a:ext cx="781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F6D6B"/>
                </a:solidFill>
                <a:latin typeface="Courier New"/>
                <a:ea typeface="Courier New"/>
                <a:cs typeface="Courier New"/>
              </a:defRPr>
            </a:pPr>
            <a:r>
              <a:rPr sz="975" b="0">
                <a:solidFill>
                  <a:srgbClr val="6F6D6B"/>
                </a:solidFill>
                <a:latin typeface="Courier New"/>
                <a:ea typeface="Courier New"/>
                <a:cs typeface="Courier New"/>
              </a:rPr>
              <a:t>07 / 08</a:t>
            </a:r>
          </a:p>
        </p:txBody>
      </p:sp>
      <p:sp>
        <p:nvSpPr>
          <p:cNvPr id="4" name="">
            <a:extLst xmlns:a="http://schemas.openxmlformats.org/drawingml/2006/main">
              <a:ext uri="{FF2B5EF4-FFF2-40B4-BE49-F238E27FC236}">
                <a16:creationId xmlns:a16="http://schemas.microsoft.com/office/drawing/2014/main" id="{4748C9EE-7941-4FE9-B277-DA70166D74D0}"/>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9525">
            <a:solidFill>
              <a:srgbClr val="242427"/>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5a041005de441b4">
            <a:extLst>
              <a:ext uri="{96DAC541-7B7A-43D3-8B79-37D633B846F1}">
                <asvg:svgBlip xmlns:asvg="http://schemas.microsoft.com/office/drawing/2016/SVG/main" r:embed="Rb133f72790164373"/>
              </a:ext>
            </a:extLst>
          </a:blip>
          <a:stretch xmlns:a="http://schemas.openxmlformats.org/drawingml/2006/main"/>
        </p:blipFill>
        <p:spPr>
          <a:xfrm xmlns:a="http://schemas.openxmlformats.org/drawingml/2006/main">
            <a:off x="609600" y="6524625"/>
            <a:ext cx="171450" cy="171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7D1FA2A-4D91-4BA8-9167-DAE5FB4E0AA6}"/>
              </a:ext>
            </a:extLst>
          </p:cNvPr>
          <p:cNvSpPr>
            <a:spLocks xmlns:a="http://schemas.openxmlformats.org/drawingml/2006/main" noGrp="1"/>
          </p:cNvSpPr>
          <p:nvPr/>
        </p:nvSpPr>
        <p:spPr>
          <a:xfrm xmlns:a="http://schemas.openxmlformats.org/drawingml/2006/main" rot="0">
            <a:off x="857250" y="6562725"/>
            <a:ext cx="3238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6F6D6B"/>
                </a:solidFill>
                <a:latin typeface="Courier New"/>
                <a:ea typeface="Courier New"/>
                <a:cs typeface="Courier New"/>
              </a:defRPr>
            </a:pPr>
            <a:r>
              <a:rPr sz="750" b="1">
                <a:solidFill>
                  <a:srgbClr val="6F6D6B"/>
                </a:solidFill>
                <a:latin typeface="Courier New"/>
                <a:ea typeface="Courier New"/>
                <a:cs typeface="Courier New"/>
              </a:rPr>
              <a:t>LRWA / LIVE REAL-WORLD ASSURANCE</a:t>
            </a:r>
          </a:p>
        </p:txBody>
      </p:sp>
      <p:sp>
        <p:nvSpPr>
          <p:cNvPr id="7" name="">
            <a:extLst xmlns:a="http://schemas.openxmlformats.org/drawingml/2006/main">
              <a:ext uri="{FF2B5EF4-FFF2-40B4-BE49-F238E27FC236}">
                <a16:creationId xmlns:a16="http://schemas.microsoft.com/office/drawing/2014/main" id="{BDA6BE30-80D0-4326-AB5C-7EDDF43CC4E1}"/>
              </a:ext>
            </a:extLst>
          </p:cNvPr>
          <p:cNvSpPr>
            <a:spLocks xmlns:a="http://schemas.openxmlformats.org/drawingml/2006/main" noGrp="1"/>
          </p:cNvSpPr>
          <p:nvPr/>
        </p:nvSpPr>
        <p:spPr>
          <a:xfrm xmlns:a="http://schemas.openxmlformats.org/drawingml/2006/main" rot="0">
            <a:off x="9867900" y="6562725"/>
            <a:ext cx="1714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F6D6B"/>
                </a:solidFill>
                <a:latin typeface="Courier New"/>
                <a:ea typeface="Courier New"/>
                <a:cs typeface="Courier New"/>
              </a:defRPr>
            </a:pPr>
            <a:r>
              <a:rPr sz="750" b="1">
                <a:solidFill>
                  <a:srgbClr val="6F6D6B"/>
                </a:solidFill>
                <a:latin typeface="Courier New"/>
                <a:ea typeface="Courier New"/>
                <a:cs typeface="Courier New"/>
              </a:rPr>
              <a:t>PUBLIC DEMO DECK</a:t>
            </a:r>
          </a:p>
        </p:txBody>
      </p:sp>
      <p:sp>
        <p:nvSpPr>
          <p:cNvPr id="8" name="">
            <a:extLst xmlns:a="http://schemas.openxmlformats.org/drawingml/2006/main">
              <a:ext uri="{FF2B5EF4-FFF2-40B4-BE49-F238E27FC236}">
                <a16:creationId xmlns:a16="http://schemas.microsoft.com/office/drawing/2014/main" id="{FD4A69CC-AFC9-48DC-A6A7-DB4E580C74F8}"/>
              </a:ext>
            </a:extLst>
          </p:cNvPr>
          <p:cNvSpPr>
            <a:spLocks xmlns:a="http://schemas.openxmlformats.org/drawingml/2006/main" noGrp="1"/>
          </p:cNvSpPr>
          <p:nvPr/>
        </p:nvSpPr>
        <p:spPr>
          <a:xfrm xmlns:a="http://schemas.openxmlformats.org/drawingml/2006/main" rot="0">
            <a:off x="609600" y="800100"/>
            <a:ext cx="10934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809"/>
          </a:bodyPr>
          <a:lstStyle xmlns:a="http://schemas.openxmlformats.org/drawingml/2006/main"/>
          <a:p xmlns:a="http://schemas.openxmlformats.org/drawingml/2006/main">
            <a:pPr algn="l">
              <a:lnSpc>
                <a:spcPct val="94000"/>
              </a:lnSpc>
              <a:buNone/>
              <a:defRPr sz="3600" b="1">
                <a:solidFill>
                  <a:srgbClr val="F4F3EF"/>
                </a:solidFill>
                <a:latin typeface="Arial"/>
                <a:ea typeface="Arial"/>
                <a:cs typeface="Arial"/>
              </a:defRPr>
            </a:pPr>
            <a:r>
              <a:rPr sz="3600" b="1">
                <a:solidFill>
                  <a:srgbClr val="F4F3EF"/>
                </a:solidFill>
                <a:latin typeface="Arial"/>
                <a:ea typeface="Arial"/>
                <a:cs typeface="Arial"/>
              </a:rPr>
              <a:t>One mission engine expands across decision surfaces.</a:t>
            </a:r>
          </a:p>
        </p:txBody>
      </p:sp>
      <p:sp>
        <p:nvSpPr>
          <p:cNvPr id="9" name="">
            <a:extLst xmlns:a="http://schemas.openxmlformats.org/drawingml/2006/main">
              <a:ext uri="{FF2B5EF4-FFF2-40B4-BE49-F238E27FC236}">
                <a16:creationId xmlns:a16="http://schemas.microsoft.com/office/drawing/2014/main" id="{CEF23AF5-505F-4839-9202-C715A7E0EF29}"/>
              </a:ext>
            </a:extLst>
          </p:cNvPr>
          <p:cNvSpPr>
            <a:spLocks xmlns:a="http://schemas.openxmlformats.org/drawingml/2006/main" noGrp="1"/>
          </p:cNvSpPr>
          <p:nvPr/>
        </p:nvSpPr>
        <p:spPr>
          <a:xfrm xmlns:a="http://schemas.openxmlformats.org/drawingml/2006/main" rot="0">
            <a:off x="609600" y="1381125"/>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6A3A0"/>
                </a:solidFill>
                <a:latin typeface="Arial"/>
                <a:ea typeface="Arial"/>
                <a:cs typeface="Arial"/>
              </a:defRPr>
            </a:pPr>
            <a:r>
              <a:rPr sz="1650" b="0">
                <a:solidFill>
                  <a:srgbClr val="A6A3A0"/>
                </a:solidFill>
                <a:latin typeface="Arial"/>
                <a:ea typeface="Arial"/>
                <a:cs typeface="Arial"/>
              </a:rPr>
              <a:t>Institutional verification is the wedge. Merchant and self-service questions come later.</a:t>
            </a:r>
          </a:p>
        </p:txBody>
      </p:sp>
      <p:sp>
        <p:nvSpPr>
          <p:cNvPr id="10" name="">
            <a:extLst xmlns:a="http://schemas.openxmlformats.org/drawingml/2006/main">
              <a:ext uri="{FF2B5EF4-FFF2-40B4-BE49-F238E27FC236}">
                <a16:creationId xmlns:a16="http://schemas.microsoft.com/office/drawing/2014/main" id="{2455E094-B6B1-43EA-A1B3-45430C0F56D9}"/>
              </a:ext>
            </a:extLst>
          </p:cNvPr>
          <p:cNvSpPr>
            <a:spLocks xmlns:a="http://schemas.openxmlformats.org/drawingml/2006/main" noGrp="1"/>
          </p:cNvSpPr>
          <p:nvPr/>
        </p:nvSpPr>
        <p:spPr>
          <a:xfrm xmlns:a="http://schemas.openxmlformats.org/drawingml/2006/main" rot="0">
            <a:off x="2400300" y="2952750"/>
            <a:ext cx="342900" cy="114300"/>
          </a:xfrm>
          <a:prstGeom xmlns:a="http://schemas.openxmlformats.org/drawingml/2006/main" prst="rightArrow">
            <a:avLst/>
          </a:prstGeom>
          <a:solidFill xmlns:a="http://schemas.openxmlformats.org/drawingml/2006/main">
            <a:srgbClr val="FF5B2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8DE0A5A-3B30-483D-A93B-3828CECE8189}"/>
              </a:ext>
            </a:extLst>
          </p:cNvPr>
          <p:cNvSpPr>
            <a:spLocks xmlns:a="http://schemas.openxmlformats.org/drawingml/2006/main" noGrp="1"/>
          </p:cNvSpPr>
          <p:nvPr/>
        </p:nvSpPr>
        <p:spPr>
          <a:xfrm xmlns:a="http://schemas.openxmlformats.org/drawingml/2006/main" rot="0">
            <a:off x="4686300" y="2952750"/>
            <a:ext cx="342900" cy="114300"/>
          </a:xfrm>
          <a:prstGeom xmlns:a="http://schemas.openxmlformats.org/drawingml/2006/main" prst="rightArrow">
            <a:avLst/>
          </a:prstGeom>
          <a:solidFill xmlns:a="http://schemas.openxmlformats.org/drawingml/2006/main">
            <a:srgbClr val="33333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898CC8D-A479-45AD-BAD2-3A5EE1987AF9}"/>
              </a:ext>
            </a:extLst>
          </p:cNvPr>
          <p:cNvSpPr>
            <a:spLocks xmlns:a="http://schemas.openxmlformats.org/drawingml/2006/main" noGrp="1"/>
          </p:cNvSpPr>
          <p:nvPr/>
        </p:nvSpPr>
        <p:spPr>
          <a:xfrm xmlns:a="http://schemas.openxmlformats.org/drawingml/2006/main" rot="0">
            <a:off x="6972300" y="2952750"/>
            <a:ext cx="342900" cy="114300"/>
          </a:xfrm>
          <a:prstGeom xmlns:a="http://schemas.openxmlformats.org/drawingml/2006/main" prst="rightArrow">
            <a:avLst/>
          </a:prstGeom>
          <a:solidFill xmlns:a="http://schemas.openxmlformats.org/drawingml/2006/main">
            <a:srgbClr val="33333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A6FEBB7-E070-407D-AE4A-D2DA5B9E4EB4}"/>
              </a:ext>
            </a:extLst>
          </p:cNvPr>
          <p:cNvSpPr>
            <a:spLocks xmlns:a="http://schemas.openxmlformats.org/drawingml/2006/main" noGrp="1"/>
          </p:cNvSpPr>
          <p:nvPr/>
        </p:nvSpPr>
        <p:spPr>
          <a:xfrm xmlns:a="http://schemas.openxmlformats.org/drawingml/2006/main" rot="0">
            <a:off x="609600" y="22098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F5B22"/>
                </a:solidFill>
                <a:latin typeface="Courier New"/>
                <a:ea typeface="Courier New"/>
                <a:cs typeface="Courier New"/>
              </a:defRPr>
            </a:pPr>
            <a:r>
              <a:rPr sz="1275" b="1">
                <a:solidFill>
                  <a:srgbClr val="FF5B22"/>
                </a:solidFill>
                <a:latin typeface="Courier New"/>
                <a:ea typeface="Courier New"/>
                <a:cs typeface="Courier New"/>
              </a:rPr>
              <a:t>01</a:t>
            </a:r>
          </a:p>
        </p:txBody>
      </p:sp>
      <p:sp>
        <p:nvSpPr>
          <p:cNvPr id="14" name="">
            <a:extLst xmlns:a="http://schemas.openxmlformats.org/drawingml/2006/main">
              <a:ext uri="{FF2B5EF4-FFF2-40B4-BE49-F238E27FC236}">
                <a16:creationId xmlns:a16="http://schemas.microsoft.com/office/drawing/2014/main" id="{9DB8711F-BEC9-4BB8-A9D5-CB0AA939DE9D}"/>
              </a:ext>
            </a:extLst>
          </p:cNvPr>
          <p:cNvSpPr>
            <a:spLocks xmlns:a="http://schemas.openxmlformats.org/drawingml/2006/main" noGrp="1"/>
          </p:cNvSpPr>
          <p:nvPr/>
        </p:nvSpPr>
        <p:spPr>
          <a:xfrm xmlns:a="http://schemas.openxmlformats.org/drawingml/2006/main" rot="0">
            <a:off x="609600" y="25431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4F3EF"/>
                </a:solidFill>
                <a:latin typeface="Courier New"/>
                <a:ea typeface="Courier New"/>
                <a:cs typeface="Courier New"/>
              </a:defRPr>
            </a:pPr>
            <a:r>
              <a:rPr sz="1275" b="1">
                <a:solidFill>
                  <a:srgbClr val="F4F3EF"/>
                </a:solidFill>
                <a:latin typeface="Courier New"/>
                <a:ea typeface="Courier New"/>
                <a:cs typeface="Courier New"/>
              </a:rPr>
              <a:t>PAID MISSION</a:t>
            </a:r>
          </a:p>
        </p:txBody>
      </p:sp>
      <p:sp>
        <p:nvSpPr>
          <p:cNvPr id="15" name="">
            <a:extLst xmlns:a="http://schemas.openxmlformats.org/drawingml/2006/main">
              <a:ext uri="{FF2B5EF4-FFF2-40B4-BE49-F238E27FC236}">
                <a16:creationId xmlns:a16="http://schemas.microsoft.com/office/drawing/2014/main" id="{288B20DB-FA0A-4D5F-8705-B10026AC73AA}"/>
              </a:ext>
            </a:extLst>
          </p:cNvPr>
          <p:cNvSpPr>
            <a:spLocks xmlns:a="http://schemas.openxmlformats.org/drawingml/2006/main" noGrp="1"/>
          </p:cNvSpPr>
          <p:nvPr/>
        </p:nvSpPr>
        <p:spPr>
          <a:xfrm xmlns:a="http://schemas.openxmlformats.org/drawingml/2006/main">
            <a:off x="609600" y="3152775"/>
            <a:ext cx="1790700" cy="0"/>
          </a:xfrm>
          <a:prstGeom xmlns:a="http://schemas.openxmlformats.org/drawingml/2006/main" prst="line">
            <a:avLst/>
          </a:prstGeom>
          <a:noFill xmlns:a="http://schemas.openxmlformats.org/drawingml/2006/main"/>
          <a:ln xmlns:a="http://schemas.openxmlformats.org/drawingml/2006/main" w="28575">
            <a:solidFill>
              <a:srgbClr val="FF5B22"/>
            </a:solidFill>
            <a:prstDash val="solid"/>
          </a:ln>
        </p:spPr>
      </p:sp>
      <p:sp>
        <p:nvSpPr>
          <p:cNvPr id="16" name="">
            <a:extLst xmlns:a="http://schemas.openxmlformats.org/drawingml/2006/main">
              <a:ext uri="{FF2B5EF4-FFF2-40B4-BE49-F238E27FC236}">
                <a16:creationId xmlns:a16="http://schemas.microsoft.com/office/drawing/2014/main" id="{CDFB983D-272F-432D-A552-80289AEF3C4D}"/>
              </a:ext>
            </a:extLst>
          </p:cNvPr>
          <p:cNvSpPr>
            <a:spLocks xmlns:a="http://schemas.openxmlformats.org/drawingml/2006/main" noGrp="1"/>
          </p:cNvSpPr>
          <p:nvPr/>
        </p:nvSpPr>
        <p:spPr>
          <a:xfrm xmlns:a="http://schemas.openxmlformats.org/drawingml/2006/main" rot="0">
            <a:off x="609600" y="3352800"/>
            <a:ext cx="1828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F4F3EF"/>
                </a:solidFill>
                <a:latin typeface="Arial"/>
                <a:ea typeface="Arial"/>
                <a:cs typeface="Arial"/>
              </a:defRPr>
            </a:pPr>
            <a:r>
              <a:rPr sz="1425" b="0">
                <a:solidFill>
                  <a:srgbClr val="F4F3EF"/>
                </a:solidFill>
                <a:latin typeface="Arial"/>
                <a:ea typeface="Arial"/>
                <a:cs typeface="Arial"/>
              </a:rPr>
              <a:t>One claim</a:t>
            </a:r>
          </a:p>
          <a:p xmlns:a="http://schemas.openxmlformats.org/drawingml/2006/main">
            <a:pPr algn="l">
              <a:lnSpc>
                <a:spcPct val="108000"/>
              </a:lnSpc>
              <a:buNone/>
              <a:defRPr sz="1425" b="0">
                <a:solidFill>
                  <a:srgbClr val="F4F3EF"/>
                </a:solidFill>
                <a:latin typeface="Arial"/>
                <a:ea typeface="Arial"/>
                <a:cs typeface="Arial"/>
              </a:defRPr>
            </a:pPr>
            <a:r>
              <a:rPr sz="1425" b="0">
                <a:solidFill>
                  <a:srgbClr val="F4F3EF"/>
                </a:solidFill>
                <a:latin typeface="Arial"/>
                <a:ea typeface="Arial"/>
                <a:cs typeface="Arial"/>
              </a:rPr>
              <a:t>One scoped plan</a:t>
            </a:r>
          </a:p>
        </p:txBody>
      </p:sp>
      <p:sp>
        <p:nvSpPr>
          <p:cNvPr id="17" name="">
            <a:extLst xmlns:a="http://schemas.openxmlformats.org/drawingml/2006/main">
              <a:ext uri="{FF2B5EF4-FFF2-40B4-BE49-F238E27FC236}">
                <a16:creationId xmlns:a16="http://schemas.microsoft.com/office/drawing/2014/main" id="{69658146-517A-442B-87D7-5D7A35F4F5EB}"/>
              </a:ext>
            </a:extLst>
          </p:cNvPr>
          <p:cNvSpPr>
            <a:spLocks xmlns:a="http://schemas.openxmlformats.org/drawingml/2006/main" noGrp="1"/>
          </p:cNvSpPr>
          <p:nvPr/>
        </p:nvSpPr>
        <p:spPr>
          <a:xfrm xmlns:a="http://schemas.openxmlformats.org/drawingml/2006/main" rot="0">
            <a:off x="2895600" y="22098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F5B22"/>
                </a:solidFill>
                <a:latin typeface="Courier New"/>
                <a:ea typeface="Courier New"/>
                <a:cs typeface="Courier New"/>
              </a:defRPr>
            </a:pPr>
            <a:r>
              <a:rPr sz="1275" b="1">
                <a:solidFill>
                  <a:srgbClr val="FF5B22"/>
                </a:solidFill>
                <a:latin typeface="Courier New"/>
                <a:ea typeface="Courier New"/>
                <a:cs typeface="Courier New"/>
              </a:rPr>
              <a:t>02</a:t>
            </a:r>
          </a:p>
        </p:txBody>
      </p:sp>
      <p:sp>
        <p:nvSpPr>
          <p:cNvPr id="18" name="">
            <a:extLst xmlns:a="http://schemas.openxmlformats.org/drawingml/2006/main">
              <a:ext uri="{FF2B5EF4-FFF2-40B4-BE49-F238E27FC236}">
                <a16:creationId xmlns:a16="http://schemas.microsoft.com/office/drawing/2014/main" id="{0C1A5332-B2A9-48D3-9609-CA3C584A215D}"/>
              </a:ext>
            </a:extLst>
          </p:cNvPr>
          <p:cNvSpPr>
            <a:spLocks xmlns:a="http://schemas.openxmlformats.org/drawingml/2006/main" noGrp="1"/>
          </p:cNvSpPr>
          <p:nvPr/>
        </p:nvSpPr>
        <p:spPr>
          <a:xfrm xmlns:a="http://schemas.openxmlformats.org/drawingml/2006/main" rot="0">
            <a:off x="2895600" y="25431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4F3EF"/>
                </a:solidFill>
                <a:latin typeface="Courier New"/>
                <a:ea typeface="Courier New"/>
                <a:cs typeface="Courier New"/>
              </a:defRPr>
            </a:pPr>
            <a:r>
              <a:rPr sz="1350" b="1">
                <a:solidFill>
                  <a:srgbClr val="F4F3EF"/>
                </a:solidFill>
                <a:latin typeface="Courier New"/>
                <a:ea typeface="Courier New"/>
                <a:cs typeface="Courier New"/>
              </a:rPr>
              <a:t>PORTFOLIO SUBSCRIPTION</a:t>
            </a:r>
          </a:p>
        </p:txBody>
      </p:sp>
      <p:sp>
        <p:nvSpPr>
          <p:cNvPr id="19" name="">
            <a:extLst xmlns:a="http://schemas.openxmlformats.org/drawingml/2006/main">
              <a:ext uri="{FF2B5EF4-FFF2-40B4-BE49-F238E27FC236}">
                <a16:creationId xmlns:a16="http://schemas.microsoft.com/office/drawing/2014/main" id="{B863D380-30C2-488C-9473-464102EB9BD7}"/>
              </a:ext>
            </a:extLst>
          </p:cNvPr>
          <p:cNvSpPr>
            <a:spLocks xmlns:a="http://schemas.openxmlformats.org/drawingml/2006/main" noGrp="1"/>
          </p:cNvSpPr>
          <p:nvPr/>
        </p:nvSpPr>
        <p:spPr>
          <a:xfrm xmlns:a="http://schemas.openxmlformats.org/drawingml/2006/main">
            <a:off x="2895600" y="3152775"/>
            <a:ext cx="1790700" cy="0"/>
          </a:xfrm>
          <a:prstGeom xmlns:a="http://schemas.openxmlformats.org/drawingml/2006/main" prst="line">
            <a:avLst/>
          </a:prstGeom>
          <a:noFill xmlns:a="http://schemas.openxmlformats.org/drawingml/2006/main"/>
          <a:ln xmlns:a="http://schemas.openxmlformats.org/drawingml/2006/main" w="28575">
            <a:solidFill>
              <a:srgbClr val="FF5B22"/>
            </a:solidFill>
            <a:prstDash val="solid"/>
          </a:ln>
        </p:spPr>
      </p:sp>
      <p:sp>
        <p:nvSpPr>
          <p:cNvPr id="20" name="">
            <a:extLst xmlns:a="http://schemas.openxmlformats.org/drawingml/2006/main">
              <a:ext uri="{FF2B5EF4-FFF2-40B4-BE49-F238E27FC236}">
                <a16:creationId xmlns:a16="http://schemas.microsoft.com/office/drawing/2014/main" id="{5E352C3B-5015-4F3C-BDD0-1F10EA614974}"/>
              </a:ext>
            </a:extLst>
          </p:cNvPr>
          <p:cNvSpPr>
            <a:spLocks xmlns:a="http://schemas.openxmlformats.org/drawingml/2006/main" noGrp="1"/>
          </p:cNvSpPr>
          <p:nvPr/>
        </p:nvSpPr>
        <p:spPr>
          <a:xfrm xmlns:a="http://schemas.openxmlformats.org/drawingml/2006/main" rot="0">
            <a:off x="2895600" y="3352800"/>
            <a:ext cx="1828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976"/>
          </a:bodyPr>
          <a:lstStyle xmlns:a="http://schemas.openxmlformats.org/drawingml/2006/main"/>
          <a:p xmlns:a="http://schemas.openxmlformats.org/drawingml/2006/main">
            <a:pPr algn="l">
              <a:lnSpc>
                <a:spcPct val="108000"/>
              </a:lnSpc>
              <a:buNone/>
              <a:defRPr sz="1425" b="0">
                <a:solidFill>
                  <a:srgbClr val="F4F3EF"/>
                </a:solidFill>
                <a:latin typeface="Arial"/>
                <a:ea typeface="Arial"/>
                <a:cs typeface="Arial"/>
              </a:defRPr>
            </a:pPr>
            <a:r>
              <a:rPr sz="1425" b="0">
                <a:solidFill>
                  <a:srgbClr val="F4F3EF"/>
                </a:solidFill>
                <a:latin typeface="Arial"/>
                <a:ea typeface="Arial"/>
                <a:cs typeface="Arial"/>
              </a:rPr>
              <a:t>Reusable missions</a:t>
            </a:r>
          </a:p>
          <a:p xmlns:a="http://schemas.openxmlformats.org/drawingml/2006/main">
            <a:pPr algn="l">
              <a:lnSpc>
                <a:spcPct val="108000"/>
              </a:lnSpc>
              <a:buNone/>
              <a:defRPr sz="1425" b="0">
                <a:solidFill>
                  <a:srgbClr val="F4F3EF"/>
                </a:solidFill>
                <a:latin typeface="Arial"/>
                <a:ea typeface="Arial"/>
                <a:cs typeface="Arial"/>
              </a:defRPr>
            </a:pPr>
            <a:r>
              <a:rPr sz="1425" b="0">
                <a:solidFill>
                  <a:srgbClr val="F4F3EF"/>
                </a:solidFill>
                <a:latin typeface="Arial"/>
                <a:ea typeface="Arial"/>
                <a:cs typeface="Arial"/>
              </a:rPr>
              <a:t>Longitudinal monitoring</a:t>
            </a:r>
          </a:p>
        </p:txBody>
      </p:sp>
      <p:sp>
        <p:nvSpPr>
          <p:cNvPr id="21" name="">
            <a:extLst xmlns:a="http://schemas.openxmlformats.org/drawingml/2006/main">
              <a:ext uri="{FF2B5EF4-FFF2-40B4-BE49-F238E27FC236}">
                <a16:creationId xmlns:a16="http://schemas.microsoft.com/office/drawing/2014/main" id="{3575E96D-3201-4FF2-A242-2C18344682E2}"/>
              </a:ext>
            </a:extLst>
          </p:cNvPr>
          <p:cNvSpPr>
            <a:spLocks xmlns:a="http://schemas.openxmlformats.org/drawingml/2006/main" noGrp="1"/>
          </p:cNvSpPr>
          <p:nvPr/>
        </p:nvSpPr>
        <p:spPr>
          <a:xfrm xmlns:a="http://schemas.openxmlformats.org/drawingml/2006/main" rot="0">
            <a:off x="5181600" y="22098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F6D6B"/>
                </a:solidFill>
                <a:latin typeface="Courier New"/>
                <a:ea typeface="Courier New"/>
                <a:cs typeface="Courier New"/>
              </a:defRPr>
            </a:pPr>
            <a:r>
              <a:rPr sz="1275" b="1">
                <a:solidFill>
                  <a:srgbClr val="6F6D6B"/>
                </a:solidFill>
                <a:latin typeface="Courier New"/>
                <a:ea typeface="Courier New"/>
                <a:cs typeface="Courier New"/>
              </a:rPr>
              <a:t>03</a:t>
            </a:r>
          </a:p>
        </p:txBody>
      </p:sp>
      <p:sp>
        <p:nvSpPr>
          <p:cNvPr id="22" name="">
            <a:extLst xmlns:a="http://schemas.openxmlformats.org/drawingml/2006/main">
              <a:ext uri="{FF2B5EF4-FFF2-40B4-BE49-F238E27FC236}">
                <a16:creationId xmlns:a16="http://schemas.microsoft.com/office/drawing/2014/main" id="{8063CCC4-7DD2-4566-B5B9-024AE98FC391}"/>
              </a:ext>
            </a:extLst>
          </p:cNvPr>
          <p:cNvSpPr>
            <a:spLocks xmlns:a="http://schemas.openxmlformats.org/drawingml/2006/main" noGrp="1"/>
          </p:cNvSpPr>
          <p:nvPr/>
        </p:nvSpPr>
        <p:spPr>
          <a:xfrm xmlns:a="http://schemas.openxmlformats.org/drawingml/2006/main" rot="0">
            <a:off x="5181600" y="25431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A6A3A0"/>
                </a:solidFill>
                <a:latin typeface="Courier New"/>
                <a:ea typeface="Courier New"/>
                <a:cs typeface="Courier New"/>
              </a:defRPr>
            </a:pPr>
            <a:r>
              <a:rPr sz="1275" b="1">
                <a:solidFill>
                  <a:srgbClr val="A6A3A0"/>
                </a:solidFill>
                <a:latin typeface="Courier New"/>
                <a:ea typeface="Courier New"/>
                <a:cs typeface="Courier New"/>
              </a:rPr>
              <a:t>INTEGRATIONS</a:t>
            </a:r>
          </a:p>
        </p:txBody>
      </p:sp>
      <p:sp>
        <p:nvSpPr>
          <p:cNvPr id="23" name="">
            <a:extLst xmlns:a="http://schemas.openxmlformats.org/drawingml/2006/main">
              <a:ext uri="{FF2B5EF4-FFF2-40B4-BE49-F238E27FC236}">
                <a16:creationId xmlns:a16="http://schemas.microsoft.com/office/drawing/2014/main" id="{8A4D18A4-6684-4D47-B8E5-3BA6B892B3BE}"/>
              </a:ext>
            </a:extLst>
          </p:cNvPr>
          <p:cNvSpPr>
            <a:spLocks xmlns:a="http://schemas.openxmlformats.org/drawingml/2006/main" noGrp="1"/>
          </p:cNvSpPr>
          <p:nvPr/>
        </p:nvSpPr>
        <p:spPr>
          <a:xfrm xmlns:a="http://schemas.openxmlformats.org/drawingml/2006/main">
            <a:off x="5181600" y="3152775"/>
            <a:ext cx="1790700" cy="0"/>
          </a:xfrm>
          <a:prstGeom xmlns:a="http://schemas.openxmlformats.org/drawingml/2006/main" prst="line">
            <a:avLst/>
          </a:prstGeom>
          <a:noFill xmlns:a="http://schemas.openxmlformats.org/drawingml/2006/main"/>
          <a:ln xmlns:a="http://schemas.openxmlformats.org/drawingml/2006/main" w="9525">
            <a:solidFill>
              <a:srgbClr val="333337"/>
            </a:solidFill>
            <a:prstDash val="solid"/>
          </a:ln>
        </p:spPr>
      </p:sp>
      <p:sp>
        <p:nvSpPr>
          <p:cNvPr id="24" name="">
            <a:extLst xmlns:a="http://schemas.openxmlformats.org/drawingml/2006/main">
              <a:ext uri="{FF2B5EF4-FFF2-40B4-BE49-F238E27FC236}">
                <a16:creationId xmlns:a16="http://schemas.microsoft.com/office/drawing/2014/main" id="{38DA6A97-22CE-4E17-B210-00A65C846EEE}"/>
              </a:ext>
            </a:extLst>
          </p:cNvPr>
          <p:cNvSpPr>
            <a:spLocks xmlns:a="http://schemas.openxmlformats.org/drawingml/2006/main" noGrp="1"/>
          </p:cNvSpPr>
          <p:nvPr/>
        </p:nvSpPr>
        <p:spPr>
          <a:xfrm xmlns:a="http://schemas.openxmlformats.org/drawingml/2006/main" rot="0">
            <a:off x="5181600" y="3352800"/>
            <a:ext cx="1828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A6A3A0"/>
                </a:solidFill>
                <a:latin typeface="Arial"/>
                <a:ea typeface="Arial"/>
                <a:cs typeface="Arial"/>
              </a:defRPr>
            </a:pPr>
            <a:r>
              <a:rPr sz="1425" b="0">
                <a:solidFill>
                  <a:srgbClr val="A6A3A0"/>
                </a:solidFill>
                <a:latin typeface="Arial"/>
                <a:ea typeface="Arial"/>
                <a:cs typeface="Arial"/>
              </a:rPr>
              <a:t>Licensed sources</a:t>
            </a:r>
          </a:p>
          <a:p xmlns:a="http://schemas.openxmlformats.org/drawingml/2006/main">
            <a:pPr algn="l">
              <a:lnSpc>
                <a:spcPct val="108000"/>
              </a:lnSpc>
              <a:buNone/>
              <a:defRPr sz="1425" b="0">
                <a:solidFill>
                  <a:srgbClr val="A6A3A0"/>
                </a:solidFill>
                <a:latin typeface="Arial"/>
                <a:ea typeface="Arial"/>
                <a:cs typeface="Arial"/>
              </a:defRPr>
            </a:pPr>
            <a:r>
              <a:rPr sz="1425" b="0">
                <a:solidFill>
                  <a:srgbClr val="A6A3A0"/>
                </a:solidFill>
                <a:latin typeface="Arial"/>
                <a:ea typeface="Arial"/>
                <a:cs typeface="Arial"/>
              </a:rPr>
              <a:t>Authorized connectors</a:t>
            </a:r>
          </a:p>
        </p:txBody>
      </p:sp>
      <p:sp>
        <p:nvSpPr>
          <p:cNvPr id="25" name="">
            <a:extLst xmlns:a="http://schemas.openxmlformats.org/drawingml/2006/main">
              <a:ext uri="{FF2B5EF4-FFF2-40B4-BE49-F238E27FC236}">
                <a16:creationId xmlns:a16="http://schemas.microsoft.com/office/drawing/2014/main" id="{21BA4752-4C16-4AD0-AC9C-C6BD161B7C7C}"/>
              </a:ext>
            </a:extLst>
          </p:cNvPr>
          <p:cNvSpPr>
            <a:spLocks xmlns:a="http://schemas.openxmlformats.org/drawingml/2006/main" noGrp="1"/>
          </p:cNvSpPr>
          <p:nvPr/>
        </p:nvSpPr>
        <p:spPr>
          <a:xfrm xmlns:a="http://schemas.openxmlformats.org/drawingml/2006/main" rot="0">
            <a:off x="7467600" y="22098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F6D6B"/>
                </a:solidFill>
                <a:latin typeface="Courier New"/>
                <a:ea typeface="Courier New"/>
                <a:cs typeface="Courier New"/>
              </a:defRPr>
            </a:pPr>
            <a:r>
              <a:rPr sz="1275" b="1">
                <a:solidFill>
                  <a:srgbClr val="6F6D6B"/>
                </a:solidFill>
                <a:latin typeface="Courier New"/>
                <a:ea typeface="Courier New"/>
                <a:cs typeface="Courier New"/>
              </a:rPr>
              <a:t>04</a:t>
            </a:r>
          </a:p>
        </p:txBody>
      </p:sp>
      <p:sp>
        <p:nvSpPr>
          <p:cNvPr id="26" name="">
            <a:extLst xmlns:a="http://schemas.openxmlformats.org/drawingml/2006/main">
              <a:ext uri="{FF2B5EF4-FFF2-40B4-BE49-F238E27FC236}">
                <a16:creationId xmlns:a16="http://schemas.microsoft.com/office/drawing/2014/main" id="{37D8EDA5-E791-4B25-A87B-F2270E042CFC}"/>
              </a:ext>
            </a:extLst>
          </p:cNvPr>
          <p:cNvSpPr>
            <a:spLocks xmlns:a="http://schemas.openxmlformats.org/drawingml/2006/main" noGrp="1"/>
          </p:cNvSpPr>
          <p:nvPr/>
        </p:nvSpPr>
        <p:spPr>
          <a:xfrm xmlns:a="http://schemas.openxmlformats.org/drawingml/2006/main" rot="0">
            <a:off x="7467600" y="25431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A6A3A0"/>
                </a:solidFill>
                <a:latin typeface="Courier New"/>
                <a:ea typeface="Courier New"/>
                <a:cs typeface="Courier New"/>
              </a:defRPr>
            </a:pPr>
            <a:r>
              <a:rPr sz="1275" b="1">
                <a:solidFill>
                  <a:srgbClr val="A6A3A0"/>
                </a:solidFill>
                <a:latin typeface="Courier New"/>
                <a:ea typeface="Courier New"/>
                <a:cs typeface="Courier New"/>
              </a:rPr>
              <a:t>SELF-SERVICE</a:t>
            </a:r>
          </a:p>
        </p:txBody>
      </p:sp>
      <p:sp>
        <p:nvSpPr>
          <p:cNvPr id="27" name="">
            <a:extLst xmlns:a="http://schemas.openxmlformats.org/drawingml/2006/main">
              <a:ext uri="{FF2B5EF4-FFF2-40B4-BE49-F238E27FC236}">
                <a16:creationId xmlns:a16="http://schemas.microsoft.com/office/drawing/2014/main" id="{833A35C8-AFE0-47EE-A85D-AD897A44A129}"/>
              </a:ext>
            </a:extLst>
          </p:cNvPr>
          <p:cNvSpPr>
            <a:spLocks xmlns:a="http://schemas.openxmlformats.org/drawingml/2006/main" noGrp="1"/>
          </p:cNvSpPr>
          <p:nvPr/>
        </p:nvSpPr>
        <p:spPr>
          <a:xfrm xmlns:a="http://schemas.openxmlformats.org/drawingml/2006/main">
            <a:off x="7467600" y="3152775"/>
            <a:ext cx="1790700" cy="0"/>
          </a:xfrm>
          <a:prstGeom xmlns:a="http://schemas.openxmlformats.org/drawingml/2006/main" prst="line">
            <a:avLst/>
          </a:prstGeom>
          <a:noFill xmlns:a="http://schemas.openxmlformats.org/drawingml/2006/main"/>
          <a:ln xmlns:a="http://schemas.openxmlformats.org/drawingml/2006/main" w="9525">
            <a:solidFill>
              <a:srgbClr val="333337"/>
            </a:solidFill>
            <a:prstDash val="solid"/>
          </a:ln>
        </p:spPr>
      </p:sp>
      <p:sp>
        <p:nvSpPr>
          <p:cNvPr id="28" name="">
            <a:extLst xmlns:a="http://schemas.openxmlformats.org/drawingml/2006/main">
              <a:ext uri="{FF2B5EF4-FFF2-40B4-BE49-F238E27FC236}">
                <a16:creationId xmlns:a16="http://schemas.microsoft.com/office/drawing/2014/main" id="{8A36A26A-A5D3-44EE-901D-23F3312CB9F6}"/>
              </a:ext>
            </a:extLst>
          </p:cNvPr>
          <p:cNvSpPr>
            <a:spLocks xmlns:a="http://schemas.openxmlformats.org/drawingml/2006/main" noGrp="1"/>
          </p:cNvSpPr>
          <p:nvPr/>
        </p:nvSpPr>
        <p:spPr>
          <a:xfrm xmlns:a="http://schemas.openxmlformats.org/drawingml/2006/main" rot="0">
            <a:off x="7467600" y="3352800"/>
            <a:ext cx="1828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A6A3A0"/>
                </a:solidFill>
                <a:latin typeface="Arial"/>
                <a:ea typeface="Arial"/>
                <a:cs typeface="Arial"/>
              </a:defRPr>
            </a:pPr>
            <a:r>
              <a:rPr sz="1425" b="0">
                <a:solidFill>
                  <a:srgbClr val="A6A3A0"/>
                </a:solidFill>
                <a:latin typeface="Arial"/>
                <a:ea typeface="Arial"/>
                <a:cs typeface="Arial"/>
              </a:rPr>
              <a:t>Merchant location</a:t>
            </a:r>
          </a:p>
          <a:p xmlns:a="http://schemas.openxmlformats.org/drawingml/2006/main">
            <a:pPr algn="l">
              <a:lnSpc>
                <a:spcPct val="108000"/>
              </a:lnSpc>
              <a:buNone/>
              <a:defRPr sz="1425" b="0">
                <a:solidFill>
                  <a:srgbClr val="A6A3A0"/>
                </a:solidFill>
                <a:latin typeface="Arial"/>
                <a:ea typeface="Arial"/>
                <a:cs typeface="Arial"/>
              </a:defRPr>
            </a:pPr>
            <a:r>
              <a:rPr sz="1425" b="0">
                <a:solidFill>
                  <a:srgbClr val="A6A3A0"/>
                </a:solidFill>
                <a:latin typeface="Arial"/>
                <a:ea typeface="Arial"/>
                <a:cs typeface="Arial"/>
              </a:rPr>
              <a:t>Market questions</a:t>
            </a:r>
          </a:p>
        </p:txBody>
      </p:sp>
      <p:sp>
        <p:nvSpPr>
          <p:cNvPr id="29" name="">
            <a:extLst xmlns:a="http://schemas.openxmlformats.org/drawingml/2006/main">
              <a:ext uri="{FF2B5EF4-FFF2-40B4-BE49-F238E27FC236}">
                <a16:creationId xmlns:a16="http://schemas.microsoft.com/office/drawing/2014/main" id="{96624476-9D26-4401-98C7-2CB6733BA0A3}"/>
              </a:ext>
            </a:extLst>
          </p:cNvPr>
          <p:cNvSpPr>
            <a:spLocks xmlns:a="http://schemas.openxmlformats.org/drawingml/2006/main" noGrp="1"/>
          </p:cNvSpPr>
          <p:nvPr/>
        </p:nvSpPr>
        <p:spPr>
          <a:xfrm xmlns:a="http://schemas.openxmlformats.org/drawingml/2006/main" rot="0">
            <a:off x="609600" y="46386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5B22"/>
                </a:solidFill>
                <a:latin typeface="Courier New"/>
                <a:ea typeface="Courier New"/>
                <a:cs typeface="Courier New"/>
              </a:defRPr>
            </a:pPr>
            <a:r>
              <a:rPr sz="975" b="1">
                <a:solidFill>
                  <a:srgbClr val="FF5B22"/>
                </a:solidFill>
                <a:latin typeface="Courier New"/>
                <a:ea typeface="Courier New"/>
                <a:cs typeface="Courier New"/>
              </a:rPr>
              <a:t>SAME MISSION ENGINE</a:t>
            </a:r>
          </a:p>
        </p:txBody>
      </p:sp>
      <p:sp>
        <p:nvSpPr>
          <p:cNvPr id="30" name="">
            <a:extLst xmlns:a="http://schemas.openxmlformats.org/drawingml/2006/main">
              <a:ext uri="{FF2B5EF4-FFF2-40B4-BE49-F238E27FC236}">
                <a16:creationId xmlns:a16="http://schemas.microsoft.com/office/drawing/2014/main" id="{023AB1E5-6629-475A-BFD2-41FD508191A8}"/>
              </a:ext>
            </a:extLst>
          </p:cNvPr>
          <p:cNvSpPr>
            <a:spLocks xmlns:a="http://schemas.openxmlformats.org/drawingml/2006/main" noGrp="1"/>
          </p:cNvSpPr>
          <p:nvPr/>
        </p:nvSpPr>
        <p:spPr>
          <a:xfrm xmlns:a="http://schemas.openxmlformats.org/drawingml/2006/main" rot="0">
            <a:off x="609600" y="4914900"/>
            <a:ext cx="8362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1">
                <a:solidFill>
                  <a:srgbClr val="F4F3EF"/>
                </a:solidFill>
                <a:latin typeface="Arial"/>
                <a:ea typeface="Arial"/>
                <a:cs typeface="Arial"/>
              </a:defRPr>
            </a:pPr>
            <a:r>
              <a:rPr sz="1650" b="1">
                <a:solidFill>
                  <a:srgbClr val="F4F3EF"/>
                </a:solidFill>
                <a:latin typeface="Arial"/>
                <a:ea typeface="Arial"/>
                <a:cs typeface="Arial"/>
              </a:rPr>
              <a:t>Commercial diligence  →  Supplier + channel checks  →  Merchant decisions</a:t>
            </a:r>
          </a:p>
        </p:txBody>
      </p:sp>
      <p:sp>
        <p:nvSpPr>
          <p:cNvPr id="31" name="">
            <a:extLst xmlns:a="http://schemas.openxmlformats.org/drawingml/2006/main">
              <a:ext uri="{FF2B5EF4-FFF2-40B4-BE49-F238E27FC236}">
                <a16:creationId xmlns:a16="http://schemas.microsoft.com/office/drawing/2014/main" id="{19163CA7-8AAF-44DE-8466-673D3D6362C3}"/>
              </a:ext>
            </a:extLst>
          </p:cNvPr>
          <p:cNvSpPr>
            <a:spLocks xmlns:a="http://schemas.openxmlformats.org/drawingml/2006/main" noGrp="1"/>
          </p:cNvSpPr>
          <p:nvPr/>
        </p:nvSpPr>
        <p:spPr>
          <a:xfrm xmlns:a="http://schemas.openxmlformats.org/drawingml/2006/main" rot="0">
            <a:off x="609600" y="5657850"/>
            <a:ext cx="7334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F6D6B"/>
                </a:solidFill>
                <a:latin typeface="Arial"/>
                <a:ea typeface="Arial"/>
                <a:cs typeface="Arial"/>
              </a:defRPr>
            </a:pPr>
            <a:r>
              <a:rPr sz="1200" b="0">
                <a:solidFill>
                  <a:srgbClr val="6F6D6B"/>
                </a:solidFill>
                <a:latin typeface="Arial"/>
                <a:ea typeface="Arial"/>
                <a:cs typeface="Arial"/>
              </a:rPr>
              <a:t>Pricing remains a hypothesis until validated in buying processes.</a:t>
            </a:r>
          </a:p>
        </p:txBody>
      </p:sp>
      <p:sp>
        <p:nvSpPr>
          <p:cNvPr id="32" name="mobile-plan-shot-frame">
            <a:extLst xmlns:a="http://schemas.openxmlformats.org/drawingml/2006/main">
              <a:ext uri="{FF2B5EF4-FFF2-40B4-BE49-F238E27FC236}">
                <a16:creationId xmlns:a16="http://schemas.microsoft.com/office/drawing/2014/main" id="{09D161CE-1C66-4CA4-9AFA-F5FB138835BE}"/>
              </a:ext>
            </a:extLst>
          </p:cNvPr>
          <p:cNvSpPr>
            <a:spLocks xmlns:a="http://schemas.openxmlformats.org/drawingml/2006/main" noGrp="1"/>
          </p:cNvSpPr>
          <p:nvPr/>
        </p:nvSpPr>
        <p:spPr>
          <a:xfrm xmlns:a="http://schemas.openxmlformats.org/drawingml/2006/main" rot="0">
            <a:off x="9791700" y="2000250"/>
            <a:ext cx="1714500" cy="3648075"/>
          </a:xfrm>
          <a:prstGeom xmlns:a="http://schemas.openxmlformats.org/drawingml/2006/main" prst="roundRect">
            <a:avLst>
              <a:gd name="adj" fmla="val 10000"/>
            </a:avLst>
          </a:prstGeom>
          <a:solidFill xmlns:a="http://schemas.openxmlformats.org/drawingml/2006/main">
            <a:srgbClr val="1A1A1D"/>
          </a:solidFill>
          <a:ln xmlns:a="http://schemas.openxmlformats.org/drawingml/2006/main" w="9525">
            <a:solidFill>
              <a:srgbClr val="FF5B22"/>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9518fc6a3a624ab9"/>
          <a:srcRect xmlns:a="http://schemas.openxmlformats.org/drawingml/2006/main" l="59" t="0" r="59" b="0"/>
          <a:stretch xmlns:a="http://schemas.openxmlformats.org/drawingml/2006/main">
            <a:fillRect l="0" t="0" r="0" b="0"/>
          </a:stretch>
        </p:blipFill>
        <p:spPr>
          <a:xfrm xmlns:a="http://schemas.openxmlformats.org/drawingml/2006/main">
            <a:off x="9820275" y="2028825"/>
            <a:ext cx="1657350" cy="3590925"/>
          </a:xfrm>
          <a:prstGeom xmlns:a="http://schemas.openxmlformats.org/drawingml/2006/main" prst="roundRect">
            <a:avLst>
              <a:gd name="adj" fmla="val 10345"/>
            </a:avLst>
          </a:prstGeom>
        </p:spPr>
      </p:pic>
      <p:sp>
        <p:nvSpPr>
          <p:cNvPr id="34" name="">
            <a:extLst xmlns:a="http://schemas.openxmlformats.org/drawingml/2006/main">
              <a:ext uri="{FF2B5EF4-FFF2-40B4-BE49-F238E27FC236}">
                <a16:creationId xmlns:a16="http://schemas.microsoft.com/office/drawing/2014/main" id="{BF63469A-BFBE-4F5D-AE8F-F6FC677E0AD0}"/>
              </a:ext>
            </a:extLst>
          </p:cNvPr>
          <p:cNvSpPr>
            <a:spLocks xmlns:a="http://schemas.openxmlformats.org/drawingml/2006/main" noGrp="1"/>
          </p:cNvSpPr>
          <p:nvPr/>
        </p:nvSpPr>
        <p:spPr>
          <a:xfrm xmlns:a="http://schemas.openxmlformats.org/drawingml/2006/main" rot="0">
            <a:off x="9324975" y="5810250"/>
            <a:ext cx="2266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F5B22"/>
                </a:solidFill>
                <a:latin typeface="Courier New"/>
                <a:ea typeface="Courier New"/>
                <a:cs typeface="Courier New"/>
              </a:defRPr>
            </a:pPr>
            <a:r>
              <a:rPr sz="975" b="1">
                <a:solidFill>
                  <a:srgbClr val="FF5B22"/>
                </a:solidFill>
                <a:latin typeface="Courier New"/>
                <a:ea typeface="Courier New"/>
                <a:cs typeface="Courier New"/>
              </a:rPr>
              <a:t>SHOULD I OPEN HERE?</a:t>
            </a:r>
          </a:p>
        </p:txBody>
      </p:sp>
    </p:spTree>
    <p:extLst>
      <p:ext uri="{BB962C8B-B14F-4D97-AF65-F5344CB8AC3E}">
        <p14:creationId xmlns:p14="http://schemas.microsoft.com/office/powerpoint/2010/main" val="758381829"/>
      </p:ext>
    </p:extLst>
  </p:cSld>
</p:sld>
</file>

<file path=ppt/slides/slide8.xml><?xml version="1.0" encoding="utf-8"?>
<p:sld xmlns:p="http://schemas.openxmlformats.org/presentationml/2006/main">
  <p:cSld>
    <p:bg>
      <p:bgPr>
        <a:solidFill xmlns:a="http://schemas.openxmlformats.org/drawingml/2006/main">
          <a:srgbClr val="0D0D0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F5016B8-E488-4488-9CB7-ED6B6C5D5F47}"/>
              </a:ext>
            </a:extLst>
          </p:cNvPr>
          <p:cNvSpPr>
            <a:spLocks xmlns:a="http://schemas.openxmlformats.org/drawingml/2006/main" noGrp="1"/>
          </p:cNvSpPr>
          <p:nvPr/>
        </p:nvSpPr>
        <p:spPr>
          <a:xfrm xmlns:a="http://schemas.openxmlformats.org/drawingml/2006/main" rot="0">
            <a:off x="609600" y="466725"/>
            <a:ext cx="76200" cy="76200"/>
          </a:xfrm>
          <a:prstGeom xmlns:a="http://schemas.openxmlformats.org/drawingml/2006/main" prst="rect">
            <a:avLst/>
          </a:prstGeom>
          <a:solidFill xmlns:a="http://schemas.openxmlformats.org/drawingml/2006/main">
            <a:srgbClr val="FF5B22"/>
          </a:solidFill>
          <a:ln xmlns:a="http://schemas.openxmlformats.org/drawingml/2006/main" w="0">
            <a:solidFill>
              <a:srgbClr val="FF5B22"/>
            </a:solidFill>
            <a:prstDash val="solid"/>
          </a:ln>
        </p:spPr>
      </p:sp>
      <p:sp>
        <p:nvSpPr>
          <p:cNvPr id="2" name="">
            <a:extLst xmlns:a="http://schemas.openxmlformats.org/drawingml/2006/main">
              <a:ext uri="{FF2B5EF4-FFF2-40B4-BE49-F238E27FC236}">
                <a16:creationId xmlns:a16="http://schemas.microsoft.com/office/drawing/2014/main" id="{7865FD40-E469-4AE4-BE6A-1AF5B1FA1608}"/>
              </a:ext>
            </a:extLst>
          </p:cNvPr>
          <p:cNvSpPr>
            <a:spLocks xmlns:a="http://schemas.openxmlformats.org/drawingml/2006/main" noGrp="1"/>
          </p:cNvSpPr>
          <p:nvPr/>
        </p:nvSpPr>
        <p:spPr>
          <a:xfrm xmlns:a="http://schemas.openxmlformats.org/drawingml/2006/main" rot="0">
            <a:off x="781050" y="4381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PROOF PLAN + ASK</a:t>
            </a:r>
          </a:p>
        </p:txBody>
      </p:sp>
      <p:sp>
        <p:nvSpPr>
          <p:cNvPr id="3" name="">
            <a:extLst xmlns:a="http://schemas.openxmlformats.org/drawingml/2006/main">
              <a:ext uri="{FF2B5EF4-FFF2-40B4-BE49-F238E27FC236}">
                <a16:creationId xmlns:a16="http://schemas.microsoft.com/office/drawing/2014/main" id="{D681D986-501A-44FA-854D-00409755EF55}"/>
              </a:ext>
            </a:extLst>
          </p:cNvPr>
          <p:cNvSpPr>
            <a:spLocks xmlns:a="http://schemas.openxmlformats.org/drawingml/2006/main" noGrp="1"/>
          </p:cNvSpPr>
          <p:nvPr/>
        </p:nvSpPr>
        <p:spPr>
          <a:xfrm xmlns:a="http://schemas.openxmlformats.org/drawingml/2006/main" rot="0">
            <a:off x="10801350" y="438150"/>
            <a:ext cx="781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F6D6B"/>
                </a:solidFill>
                <a:latin typeface="Courier New"/>
                <a:ea typeface="Courier New"/>
                <a:cs typeface="Courier New"/>
              </a:defRPr>
            </a:pPr>
            <a:r>
              <a:rPr sz="975" b="0">
                <a:solidFill>
                  <a:srgbClr val="6F6D6B"/>
                </a:solidFill>
                <a:latin typeface="Courier New"/>
                <a:ea typeface="Courier New"/>
                <a:cs typeface="Courier New"/>
              </a:rPr>
              <a:t>08 / 08</a:t>
            </a:r>
          </a:p>
        </p:txBody>
      </p:sp>
      <p:sp>
        <p:nvSpPr>
          <p:cNvPr id="4" name="">
            <a:extLst xmlns:a="http://schemas.openxmlformats.org/drawingml/2006/main">
              <a:ext uri="{FF2B5EF4-FFF2-40B4-BE49-F238E27FC236}">
                <a16:creationId xmlns:a16="http://schemas.microsoft.com/office/drawing/2014/main" id="{A6493240-34E0-4179-8EAF-FDE95D7CC665}"/>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9525">
            <a:solidFill>
              <a:srgbClr val="242427"/>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e7a5ac9051a429c">
            <a:extLst>
              <a:ext uri="{96DAC541-7B7A-43D3-8B79-37D633B846F1}">
                <asvg:svgBlip xmlns:asvg="http://schemas.microsoft.com/office/drawing/2016/SVG/main" r:embed="R2ff964514e6745a9"/>
              </a:ext>
            </a:extLst>
          </a:blip>
          <a:stretch xmlns:a="http://schemas.openxmlformats.org/drawingml/2006/main"/>
        </p:blipFill>
        <p:spPr>
          <a:xfrm xmlns:a="http://schemas.openxmlformats.org/drawingml/2006/main">
            <a:off x="609600" y="6524625"/>
            <a:ext cx="171450" cy="171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2C97915-2421-4BE9-8E42-A27A1FEEC4E9}"/>
              </a:ext>
            </a:extLst>
          </p:cNvPr>
          <p:cNvSpPr>
            <a:spLocks xmlns:a="http://schemas.openxmlformats.org/drawingml/2006/main" noGrp="1"/>
          </p:cNvSpPr>
          <p:nvPr/>
        </p:nvSpPr>
        <p:spPr>
          <a:xfrm xmlns:a="http://schemas.openxmlformats.org/drawingml/2006/main" rot="0">
            <a:off x="857250" y="6562725"/>
            <a:ext cx="3238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6F6D6B"/>
                </a:solidFill>
                <a:latin typeface="Courier New"/>
                <a:ea typeface="Courier New"/>
                <a:cs typeface="Courier New"/>
              </a:defRPr>
            </a:pPr>
            <a:r>
              <a:rPr sz="750" b="1">
                <a:solidFill>
                  <a:srgbClr val="6F6D6B"/>
                </a:solidFill>
                <a:latin typeface="Courier New"/>
                <a:ea typeface="Courier New"/>
                <a:cs typeface="Courier New"/>
              </a:rPr>
              <a:t>LRWA / LIVE REAL-WORLD ASSURANCE</a:t>
            </a:r>
          </a:p>
        </p:txBody>
      </p:sp>
      <p:sp>
        <p:nvSpPr>
          <p:cNvPr id="7" name="">
            <a:extLst xmlns:a="http://schemas.openxmlformats.org/drawingml/2006/main">
              <a:ext uri="{FF2B5EF4-FFF2-40B4-BE49-F238E27FC236}">
                <a16:creationId xmlns:a16="http://schemas.microsoft.com/office/drawing/2014/main" id="{3B065AD5-2BDA-45ED-BF0F-D3E8660D9326}"/>
              </a:ext>
            </a:extLst>
          </p:cNvPr>
          <p:cNvSpPr>
            <a:spLocks xmlns:a="http://schemas.openxmlformats.org/drawingml/2006/main" noGrp="1"/>
          </p:cNvSpPr>
          <p:nvPr/>
        </p:nvSpPr>
        <p:spPr>
          <a:xfrm xmlns:a="http://schemas.openxmlformats.org/drawingml/2006/main" rot="0">
            <a:off x="9867900" y="6562725"/>
            <a:ext cx="1714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F6D6B"/>
                </a:solidFill>
                <a:latin typeface="Courier New"/>
                <a:ea typeface="Courier New"/>
                <a:cs typeface="Courier New"/>
              </a:defRPr>
            </a:pPr>
            <a:r>
              <a:rPr sz="750" b="1">
                <a:solidFill>
                  <a:srgbClr val="6F6D6B"/>
                </a:solidFill>
                <a:latin typeface="Courier New"/>
                <a:ea typeface="Courier New"/>
                <a:cs typeface="Courier New"/>
              </a:rPr>
              <a:t>PUBLIC DEMO DECK</a:t>
            </a:r>
          </a:p>
        </p:txBody>
      </p:sp>
      <p:sp>
        <p:nvSpPr>
          <p:cNvPr id="8" name="">
            <a:extLst xmlns:a="http://schemas.openxmlformats.org/drawingml/2006/main">
              <a:ext uri="{FF2B5EF4-FFF2-40B4-BE49-F238E27FC236}">
                <a16:creationId xmlns:a16="http://schemas.microsoft.com/office/drawing/2014/main" id="{70EE1904-FE54-4CF9-BE04-FCDF79FD81F9}"/>
              </a:ext>
            </a:extLst>
          </p:cNvPr>
          <p:cNvSpPr>
            <a:spLocks xmlns:a="http://schemas.openxmlformats.org/drawingml/2006/main" noGrp="1"/>
          </p:cNvSpPr>
          <p:nvPr/>
        </p:nvSpPr>
        <p:spPr>
          <a:xfrm xmlns:a="http://schemas.openxmlformats.org/drawingml/2006/main" rot="0">
            <a:off x="609600" y="800100"/>
            <a:ext cx="10934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F4F3EF"/>
                </a:solidFill>
                <a:latin typeface="Arial"/>
                <a:ea typeface="Arial"/>
                <a:cs typeface="Arial"/>
              </a:defRPr>
            </a:pPr>
            <a:r>
              <a:rPr sz="3600" b="1">
                <a:solidFill>
                  <a:srgbClr val="F4F3EF"/>
                </a:solidFill>
                <a:latin typeface="Arial"/>
                <a:ea typeface="Arial"/>
                <a:cs typeface="Arial"/>
              </a:rPr>
              <a:t>Prove one wedge before building the platform.</a:t>
            </a:r>
          </a:p>
        </p:txBody>
      </p:sp>
      <p:sp>
        <p:nvSpPr>
          <p:cNvPr id="9" name="">
            <a:extLst xmlns:a="http://schemas.openxmlformats.org/drawingml/2006/main">
              <a:ext uri="{FF2B5EF4-FFF2-40B4-BE49-F238E27FC236}">
                <a16:creationId xmlns:a16="http://schemas.microsoft.com/office/drawing/2014/main" id="{23B6D44C-78EA-429A-B85F-8D289C7B3408}"/>
              </a:ext>
            </a:extLst>
          </p:cNvPr>
          <p:cNvSpPr>
            <a:spLocks xmlns:a="http://schemas.openxmlformats.org/drawingml/2006/main" noGrp="1"/>
          </p:cNvSpPr>
          <p:nvPr/>
        </p:nvSpPr>
        <p:spPr>
          <a:xfrm xmlns:a="http://schemas.openxmlformats.org/drawingml/2006/main" rot="0">
            <a:off x="609600" y="1390650"/>
            <a:ext cx="704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6A3A0"/>
                </a:solidFill>
                <a:latin typeface="Arial"/>
                <a:ea typeface="Arial"/>
                <a:cs typeface="Arial"/>
              </a:defRPr>
            </a:pPr>
            <a:r>
              <a:rPr sz="1650" b="0">
                <a:solidFill>
                  <a:srgbClr val="A6A3A0"/>
                </a:solidFill>
                <a:latin typeface="Arial"/>
                <a:ea typeface="Arial"/>
                <a:cs typeface="Arial"/>
              </a:rPr>
              <a:t>The next round of evidence is commercial, not theatrical.</a:t>
            </a:r>
          </a:p>
        </p:txBody>
      </p:sp>
      <p:sp>
        <p:nvSpPr>
          <p:cNvPr id="10" name="">
            <a:extLst xmlns:a="http://schemas.openxmlformats.org/drawingml/2006/main">
              <a:ext uri="{FF2B5EF4-FFF2-40B4-BE49-F238E27FC236}">
                <a16:creationId xmlns:a16="http://schemas.microsoft.com/office/drawing/2014/main" id="{D5D50837-83D7-4C33-91B7-DB91D9B81D02}"/>
              </a:ext>
            </a:extLst>
          </p:cNvPr>
          <p:cNvSpPr>
            <a:spLocks xmlns:a="http://schemas.openxmlformats.org/drawingml/2006/main" noGrp="1"/>
          </p:cNvSpPr>
          <p:nvPr/>
        </p:nvSpPr>
        <p:spPr>
          <a:xfrm xmlns:a="http://schemas.openxmlformats.org/drawingml/2006/main">
            <a:off x="876300" y="2305050"/>
            <a:ext cx="8972550" cy="0"/>
          </a:xfrm>
          <a:prstGeom xmlns:a="http://schemas.openxmlformats.org/drawingml/2006/main" prst="line">
            <a:avLst/>
          </a:prstGeom>
          <a:noFill xmlns:a="http://schemas.openxmlformats.org/drawingml/2006/main"/>
          <a:ln xmlns:a="http://schemas.openxmlformats.org/drawingml/2006/main" w="28575">
            <a:solidFill>
              <a:srgbClr val="333337"/>
            </a:solidFill>
            <a:prstDash val="solid"/>
          </a:ln>
        </p:spPr>
      </p:sp>
      <p:sp>
        <p:nvSpPr>
          <p:cNvPr id="11" name="">
            <a:extLst xmlns:a="http://schemas.openxmlformats.org/drawingml/2006/main">
              <a:ext uri="{FF2B5EF4-FFF2-40B4-BE49-F238E27FC236}">
                <a16:creationId xmlns:a16="http://schemas.microsoft.com/office/drawing/2014/main" id="{E854ACC6-A8D7-4DAE-BCB5-5E2B22E45C94}"/>
              </a:ext>
            </a:extLst>
          </p:cNvPr>
          <p:cNvSpPr>
            <a:spLocks xmlns:a="http://schemas.openxmlformats.org/drawingml/2006/main" noGrp="1"/>
          </p:cNvSpPr>
          <p:nvPr/>
        </p:nvSpPr>
        <p:spPr>
          <a:xfrm xmlns:a="http://schemas.openxmlformats.org/drawingml/2006/main" rot="0">
            <a:off x="771525" y="2200275"/>
            <a:ext cx="209550" cy="209550"/>
          </a:xfrm>
          <a:prstGeom xmlns:a="http://schemas.openxmlformats.org/drawingml/2006/main" prst="ellipse">
            <a:avLst/>
          </a:prstGeom>
          <a:solidFill xmlns:a="http://schemas.openxmlformats.org/drawingml/2006/main">
            <a:srgbClr val="FF5B22"/>
          </a:solidFill>
          <a:ln xmlns:a="http://schemas.openxmlformats.org/drawingml/2006/main" w="28575">
            <a:solidFill>
              <a:srgbClr val="FF5B22"/>
            </a:solidFill>
            <a:prstDash val="solid"/>
          </a:ln>
        </p:spPr>
      </p:sp>
      <p:sp>
        <p:nvSpPr>
          <p:cNvPr id="12" name="">
            <a:extLst xmlns:a="http://schemas.openxmlformats.org/drawingml/2006/main">
              <a:ext uri="{FF2B5EF4-FFF2-40B4-BE49-F238E27FC236}">
                <a16:creationId xmlns:a16="http://schemas.microsoft.com/office/drawing/2014/main" id="{0581FF39-89E2-418E-9CF4-D4157A6C2CE8}"/>
              </a:ext>
            </a:extLst>
          </p:cNvPr>
          <p:cNvSpPr>
            <a:spLocks xmlns:a="http://schemas.openxmlformats.org/drawingml/2006/main" noGrp="1"/>
          </p:cNvSpPr>
          <p:nvPr/>
        </p:nvSpPr>
        <p:spPr>
          <a:xfrm xmlns:a="http://schemas.openxmlformats.org/drawingml/2006/main" rot="0">
            <a:off x="323850" y="2562225"/>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WORKING DEMO</a:t>
            </a:r>
          </a:p>
        </p:txBody>
      </p:sp>
      <p:sp>
        <p:nvSpPr>
          <p:cNvPr id="13" name="">
            <a:extLst xmlns:a="http://schemas.openxmlformats.org/drawingml/2006/main">
              <a:ext uri="{FF2B5EF4-FFF2-40B4-BE49-F238E27FC236}">
                <a16:creationId xmlns:a16="http://schemas.microsoft.com/office/drawing/2014/main" id="{C960A159-0B10-4CB2-8500-F0970E692F23}"/>
              </a:ext>
            </a:extLst>
          </p:cNvPr>
          <p:cNvSpPr>
            <a:spLocks xmlns:a="http://schemas.openxmlformats.org/drawingml/2006/main" noGrp="1"/>
          </p:cNvSpPr>
          <p:nvPr/>
        </p:nvSpPr>
        <p:spPr>
          <a:xfrm xmlns:a="http://schemas.openxmlformats.org/drawingml/2006/main" rot="0">
            <a:off x="323850" y="29432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5B22"/>
                </a:solidFill>
                <a:latin typeface="Courier New"/>
                <a:ea typeface="Courier New"/>
                <a:cs typeface="Courier New"/>
              </a:defRPr>
            </a:pPr>
            <a:r>
              <a:rPr sz="900" b="1">
                <a:solidFill>
                  <a:srgbClr val="FF5B22"/>
                </a:solidFill>
                <a:latin typeface="Courier New"/>
                <a:ea typeface="Courier New"/>
                <a:cs typeface="Courier New"/>
              </a:rPr>
              <a:t>COMPLETE</a:t>
            </a:r>
          </a:p>
        </p:txBody>
      </p:sp>
      <p:sp>
        <p:nvSpPr>
          <p:cNvPr id="14" name="">
            <a:extLst xmlns:a="http://schemas.openxmlformats.org/drawingml/2006/main">
              <a:ext uri="{FF2B5EF4-FFF2-40B4-BE49-F238E27FC236}">
                <a16:creationId xmlns:a16="http://schemas.microsoft.com/office/drawing/2014/main" id="{103118CE-DF78-4ADE-9B12-0922EE34A437}"/>
              </a:ext>
            </a:extLst>
          </p:cNvPr>
          <p:cNvSpPr>
            <a:spLocks xmlns:a="http://schemas.openxmlformats.org/drawingml/2006/main" noGrp="1"/>
          </p:cNvSpPr>
          <p:nvPr/>
        </p:nvSpPr>
        <p:spPr>
          <a:xfrm xmlns:a="http://schemas.openxmlformats.org/drawingml/2006/main" rot="0">
            <a:off x="3762375" y="2200275"/>
            <a:ext cx="209550" cy="209550"/>
          </a:xfrm>
          <a:prstGeom xmlns:a="http://schemas.openxmlformats.org/drawingml/2006/main" prst="ellipse">
            <a:avLst/>
          </a:prstGeom>
          <a:solidFill xmlns:a="http://schemas.openxmlformats.org/drawingml/2006/main">
            <a:srgbClr val="0D0D0F"/>
          </a:solidFill>
          <a:ln xmlns:a="http://schemas.openxmlformats.org/drawingml/2006/main" w="28575">
            <a:solidFill>
              <a:srgbClr val="333337"/>
            </a:solidFill>
            <a:prstDash val="solid"/>
          </a:ln>
        </p:spPr>
      </p:sp>
      <p:sp>
        <p:nvSpPr>
          <p:cNvPr id="15" name="">
            <a:extLst xmlns:a="http://schemas.openxmlformats.org/drawingml/2006/main">
              <a:ext uri="{FF2B5EF4-FFF2-40B4-BE49-F238E27FC236}">
                <a16:creationId xmlns:a16="http://schemas.microsoft.com/office/drawing/2014/main" id="{4EA3FD22-886B-4649-864D-9BD4A6130F70}"/>
              </a:ext>
            </a:extLst>
          </p:cNvPr>
          <p:cNvSpPr>
            <a:spLocks xmlns:a="http://schemas.openxmlformats.org/drawingml/2006/main" noGrp="1"/>
          </p:cNvSpPr>
          <p:nvPr/>
        </p:nvSpPr>
        <p:spPr>
          <a:xfrm xmlns:a="http://schemas.openxmlformats.org/drawingml/2006/main" rot="0">
            <a:off x="3314700" y="2562225"/>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4F3EF"/>
                </a:solidFill>
                <a:latin typeface="Courier New"/>
                <a:ea typeface="Courier New"/>
                <a:cs typeface="Courier New"/>
              </a:defRPr>
            </a:pPr>
            <a:r>
              <a:rPr sz="1050" b="1">
                <a:solidFill>
                  <a:srgbClr val="F4F3EF"/>
                </a:solidFill>
                <a:latin typeface="Courier New"/>
                <a:ea typeface="Courier New"/>
                <a:cs typeface="Courier New"/>
              </a:rPr>
              <a:t>DESIGN PARTNER</a:t>
            </a:r>
          </a:p>
        </p:txBody>
      </p:sp>
      <p:sp>
        <p:nvSpPr>
          <p:cNvPr id="16" name="">
            <a:extLst xmlns:a="http://schemas.openxmlformats.org/drawingml/2006/main">
              <a:ext uri="{FF2B5EF4-FFF2-40B4-BE49-F238E27FC236}">
                <a16:creationId xmlns:a16="http://schemas.microsoft.com/office/drawing/2014/main" id="{BA8E1140-C3D6-4A49-B966-70FF7686E002}"/>
              </a:ext>
            </a:extLst>
          </p:cNvPr>
          <p:cNvSpPr>
            <a:spLocks xmlns:a="http://schemas.openxmlformats.org/drawingml/2006/main" noGrp="1"/>
          </p:cNvSpPr>
          <p:nvPr/>
        </p:nvSpPr>
        <p:spPr>
          <a:xfrm xmlns:a="http://schemas.openxmlformats.org/drawingml/2006/main" rot="0">
            <a:off x="3314700" y="29432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6F6D6B"/>
                </a:solidFill>
                <a:latin typeface="Courier New"/>
                <a:ea typeface="Courier New"/>
                <a:cs typeface="Courier New"/>
              </a:defRPr>
            </a:pPr>
            <a:r>
              <a:rPr sz="900" b="1">
                <a:solidFill>
                  <a:srgbClr val="6F6D6B"/>
                </a:solidFill>
                <a:latin typeface="Courier New"/>
                <a:ea typeface="Courier New"/>
                <a:cs typeface="Courier New"/>
              </a:rPr>
              <a:t>TARGET</a:t>
            </a:r>
          </a:p>
        </p:txBody>
      </p:sp>
      <p:sp>
        <p:nvSpPr>
          <p:cNvPr id="17" name="">
            <a:extLst xmlns:a="http://schemas.openxmlformats.org/drawingml/2006/main">
              <a:ext uri="{FF2B5EF4-FFF2-40B4-BE49-F238E27FC236}">
                <a16:creationId xmlns:a16="http://schemas.microsoft.com/office/drawing/2014/main" id="{C99D430D-ED17-4926-9611-00CAA81FD6BF}"/>
              </a:ext>
            </a:extLst>
          </p:cNvPr>
          <p:cNvSpPr>
            <a:spLocks xmlns:a="http://schemas.openxmlformats.org/drawingml/2006/main" noGrp="1"/>
          </p:cNvSpPr>
          <p:nvPr/>
        </p:nvSpPr>
        <p:spPr>
          <a:xfrm xmlns:a="http://schemas.openxmlformats.org/drawingml/2006/main" rot="0">
            <a:off x="6753225" y="2200275"/>
            <a:ext cx="209550" cy="209550"/>
          </a:xfrm>
          <a:prstGeom xmlns:a="http://schemas.openxmlformats.org/drawingml/2006/main" prst="ellipse">
            <a:avLst/>
          </a:prstGeom>
          <a:solidFill xmlns:a="http://schemas.openxmlformats.org/drawingml/2006/main">
            <a:srgbClr val="0D0D0F"/>
          </a:solidFill>
          <a:ln xmlns:a="http://schemas.openxmlformats.org/drawingml/2006/main" w="28575">
            <a:solidFill>
              <a:srgbClr val="333337"/>
            </a:solidFill>
            <a:prstDash val="solid"/>
          </a:ln>
        </p:spPr>
      </p:sp>
      <p:sp>
        <p:nvSpPr>
          <p:cNvPr id="18" name="">
            <a:extLst xmlns:a="http://schemas.openxmlformats.org/drawingml/2006/main">
              <a:ext uri="{FF2B5EF4-FFF2-40B4-BE49-F238E27FC236}">
                <a16:creationId xmlns:a16="http://schemas.microsoft.com/office/drawing/2014/main" id="{9BD13BDC-5975-408C-9B35-64217C10355D}"/>
              </a:ext>
            </a:extLst>
          </p:cNvPr>
          <p:cNvSpPr>
            <a:spLocks xmlns:a="http://schemas.openxmlformats.org/drawingml/2006/main" noGrp="1"/>
          </p:cNvSpPr>
          <p:nvPr/>
        </p:nvSpPr>
        <p:spPr>
          <a:xfrm xmlns:a="http://schemas.openxmlformats.org/drawingml/2006/main" rot="0">
            <a:off x="6305550" y="2562225"/>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4F3EF"/>
                </a:solidFill>
                <a:latin typeface="Courier New"/>
                <a:ea typeface="Courier New"/>
                <a:cs typeface="Courier New"/>
              </a:defRPr>
            </a:pPr>
            <a:r>
              <a:rPr sz="1050" b="1">
                <a:solidFill>
                  <a:srgbClr val="F4F3EF"/>
                </a:solidFill>
                <a:latin typeface="Courier New"/>
                <a:ea typeface="Courier New"/>
                <a:cs typeface="Courier New"/>
              </a:rPr>
              <a:t>PAID PILOT</a:t>
            </a:r>
          </a:p>
        </p:txBody>
      </p:sp>
      <p:sp>
        <p:nvSpPr>
          <p:cNvPr id="19" name="">
            <a:extLst xmlns:a="http://schemas.openxmlformats.org/drawingml/2006/main">
              <a:ext uri="{FF2B5EF4-FFF2-40B4-BE49-F238E27FC236}">
                <a16:creationId xmlns:a16="http://schemas.microsoft.com/office/drawing/2014/main" id="{7FC91256-3063-4A14-A4A0-EE4E41BBBDFD}"/>
              </a:ext>
            </a:extLst>
          </p:cNvPr>
          <p:cNvSpPr>
            <a:spLocks xmlns:a="http://schemas.openxmlformats.org/drawingml/2006/main" noGrp="1"/>
          </p:cNvSpPr>
          <p:nvPr/>
        </p:nvSpPr>
        <p:spPr>
          <a:xfrm xmlns:a="http://schemas.openxmlformats.org/drawingml/2006/main" rot="0">
            <a:off x="6305550" y="29432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6F6D6B"/>
                </a:solidFill>
                <a:latin typeface="Courier New"/>
                <a:ea typeface="Courier New"/>
                <a:cs typeface="Courier New"/>
              </a:defRPr>
            </a:pPr>
            <a:r>
              <a:rPr sz="900" b="1">
                <a:solidFill>
                  <a:srgbClr val="6F6D6B"/>
                </a:solidFill>
                <a:latin typeface="Courier New"/>
                <a:ea typeface="Courier New"/>
                <a:cs typeface="Courier New"/>
              </a:rPr>
              <a:t>TARGET</a:t>
            </a:r>
          </a:p>
        </p:txBody>
      </p:sp>
      <p:sp>
        <p:nvSpPr>
          <p:cNvPr id="20" name="">
            <a:extLst xmlns:a="http://schemas.openxmlformats.org/drawingml/2006/main">
              <a:ext uri="{FF2B5EF4-FFF2-40B4-BE49-F238E27FC236}">
                <a16:creationId xmlns:a16="http://schemas.microsoft.com/office/drawing/2014/main" id="{5BCF483E-C97A-48BB-80E8-1BF9B1FE2218}"/>
              </a:ext>
            </a:extLst>
          </p:cNvPr>
          <p:cNvSpPr>
            <a:spLocks xmlns:a="http://schemas.openxmlformats.org/drawingml/2006/main" noGrp="1"/>
          </p:cNvSpPr>
          <p:nvPr/>
        </p:nvSpPr>
        <p:spPr>
          <a:xfrm xmlns:a="http://schemas.openxmlformats.org/drawingml/2006/main" rot="0">
            <a:off x="9744075" y="2200275"/>
            <a:ext cx="209550" cy="209550"/>
          </a:xfrm>
          <a:prstGeom xmlns:a="http://schemas.openxmlformats.org/drawingml/2006/main" prst="ellipse">
            <a:avLst/>
          </a:prstGeom>
          <a:solidFill xmlns:a="http://schemas.openxmlformats.org/drawingml/2006/main">
            <a:srgbClr val="0D0D0F"/>
          </a:solidFill>
          <a:ln xmlns:a="http://schemas.openxmlformats.org/drawingml/2006/main" w="28575">
            <a:solidFill>
              <a:srgbClr val="333337"/>
            </a:solidFill>
            <a:prstDash val="solid"/>
          </a:ln>
        </p:spPr>
      </p:sp>
      <p:sp>
        <p:nvSpPr>
          <p:cNvPr id="21" name="">
            <a:extLst xmlns:a="http://schemas.openxmlformats.org/drawingml/2006/main">
              <a:ext uri="{FF2B5EF4-FFF2-40B4-BE49-F238E27FC236}">
                <a16:creationId xmlns:a16="http://schemas.microsoft.com/office/drawing/2014/main" id="{AB66F379-5A46-4BFF-8300-C88CD09227A2}"/>
              </a:ext>
            </a:extLst>
          </p:cNvPr>
          <p:cNvSpPr>
            <a:spLocks xmlns:a="http://schemas.openxmlformats.org/drawingml/2006/main" noGrp="1"/>
          </p:cNvSpPr>
          <p:nvPr/>
        </p:nvSpPr>
        <p:spPr>
          <a:xfrm xmlns:a="http://schemas.openxmlformats.org/drawingml/2006/main" rot="0">
            <a:off x="9296400" y="2562225"/>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4F3EF"/>
                </a:solidFill>
                <a:latin typeface="Courier New"/>
                <a:ea typeface="Courier New"/>
                <a:cs typeface="Courier New"/>
              </a:defRPr>
            </a:pPr>
            <a:r>
              <a:rPr sz="1050" b="1">
                <a:solidFill>
                  <a:srgbClr val="F4F3EF"/>
                </a:solidFill>
                <a:latin typeface="Courier New"/>
                <a:ea typeface="Courier New"/>
                <a:cs typeface="Courier New"/>
              </a:rPr>
              <a:t>REPEATABLE MISSION</a:t>
            </a:r>
          </a:p>
        </p:txBody>
      </p:sp>
      <p:sp>
        <p:nvSpPr>
          <p:cNvPr id="22" name="">
            <a:extLst xmlns:a="http://schemas.openxmlformats.org/drawingml/2006/main">
              <a:ext uri="{FF2B5EF4-FFF2-40B4-BE49-F238E27FC236}">
                <a16:creationId xmlns:a16="http://schemas.microsoft.com/office/drawing/2014/main" id="{8758B0B9-2B65-44EB-9AFC-3EF5A65E6A94}"/>
              </a:ext>
            </a:extLst>
          </p:cNvPr>
          <p:cNvSpPr>
            <a:spLocks xmlns:a="http://schemas.openxmlformats.org/drawingml/2006/main" noGrp="1"/>
          </p:cNvSpPr>
          <p:nvPr/>
        </p:nvSpPr>
        <p:spPr>
          <a:xfrm xmlns:a="http://schemas.openxmlformats.org/drawingml/2006/main" rot="0">
            <a:off x="9296400" y="29432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6F6D6B"/>
                </a:solidFill>
                <a:latin typeface="Courier New"/>
                <a:ea typeface="Courier New"/>
                <a:cs typeface="Courier New"/>
              </a:defRPr>
            </a:pPr>
            <a:r>
              <a:rPr sz="900" b="1">
                <a:solidFill>
                  <a:srgbClr val="6F6D6B"/>
                </a:solidFill>
                <a:latin typeface="Courier New"/>
                <a:ea typeface="Courier New"/>
                <a:cs typeface="Courier New"/>
              </a:rPr>
              <a:t>TARGET</a:t>
            </a:r>
          </a:p>
        </p:txBody>
      </p:sp>
      <p:sp>
        <p:nvSpPr>
          <p:cNvPr id="23" name="">
            <a:extLst xmlns:a="http://schemas.openxmlformats.org/drawingml/2006/main">
              <a:ext uri="{FF2B5EF4-FFF2-40B4-BE49-F238E27FC236}">
                <a16:creationId xmlns:a16="http://schemas.microsoft.com/office/drawing/2014/main" id="{17DF8AE3-B4A7-404A-B082-9E16D71B627B}"/>
              </a:ext>
            </a:extLst>
          </p:cNvPr>
          <p:cNvSpPr>
            <a:spLocks xmlns:a="http://schemas.openxmlformats.org/drawingml/2006/main" noGrp="1"/>
          </p:cNvSpPr>
          <p:nvPr/>
        </p:nvSpPr>
        <p:spPr>
          <a:xfrm xmlns:a="http://schemas.openxmlformats.org/drawingml/2006/main" rot="0">
            <a:off x="609600" y="35623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WORKING TODAY</a:t>
            </a:r>
          </a:p>
        </p:txBody>
      </p:sp>
      <p:sp>
        <p:nvSpPr>
          <p:cNvPr id="24" name="">
            <a:extLst xmlns:a="http://schemas.openxmlformats.org/drawingml/2006/main">
              <a:ext uri="{FF2B5EF4-FFF2-40B4-BE49-F238E27FC236}">
                <a16:creationId xmlns:a16="http://schemas.microsoft.com/office/drawing/2014/main" id="{67AF3DC7-AC9F-4246-B028-A7115B22CF34}"/>
              </a:ext>
            </a:extLst>
          </p:cNvPr>
          <p:cNvSpPr>
            <a:spLocks xmlns:a="http://schemas.openxmlformats.org/drawingml/2006/main" noGrp="1"/>
          </p:cNvSpPr>
          <p:nvPr/>
        </p:nvSpPr>
        <p:spPr>
          <a:xfrm xmlns:a="http://schemas.openxmlformats.org/drawingml/2006/main" rot="0">
            <a:off x="609600" y="3876675"/>
            <a:ext cx="495300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425" b="0">
                <a:solidFill>
                  <a:srgbClr val="F4F3EF"/>
                </a:solidFill>
                <a:latin typeface="Arial"/>
                <a:ea typeface="Arial"/>
                <a:cs typeface="Arial"/>
              </a:defRPr>
            </a:pPr>
            <a:r>
              <a:rPr sz="1425" b="0">
                <a:solidFill>
                  <a:srgbClr val="F4F3EF"/>
                </a:solidFill>
                <a:latin typeface="Arial"/>
                <a:ea typeface="Arial"/>
                <a:cs typeface="Arial"/>
              </a:rPr>
              <a:t>•  Reproducible synthetic Morrow Coffee mission</a:t>
            </a:r>
          </a:p>
          <a:p xmlns:a="http://schemas.openxmlformats.org/drawingml/2006/main">
            <a:pPr algn="l">
              <a:lnSpc>
                <a:spcPct val="120000"/>
              </a:lnSpc>
              <a:buNone/>
              <a:defRPr sz="1425" b="0">
                <a:solidFill>
                  <a:srgbClr val="F4F3EF"/>
                </a:solidFill>
                <a:latin typeface="Arial"/>
                <a:ea typeface="Arial"/>
                <a:cs typeface="Arial"/>
              </a:defRPr>
            </a:pPr>
            <a:r>
              <a:rPr sz="1425" b="0">
                <a:solidFill>
                  <a:srgbClr val="F4F3EF"/>
                </a:solidFill>
                <a:latin typeface="Arial"/>
                <a:ea typeface="Arial"/>
                <a:cs typeface="Arial"/>
              </a:rPr>
              <a:t>•  Planned aggregate probe quota: 1,024; actual: 5 receipts</a:t>
            </a:r>
          </a:p>
          <a:p xmlns:a="http://schemas.openxmlformats.org/drawingml/2006/main">
            <a:pPr algn="l">
              <a:lnSpc>
                <a:spcPct val="120000"/>
              </a:lnSpc>
              <a:buNone/>
              <a:defRPr sz="1425" b="0">
                <a:solidFill>
                  <a:srgbClr val="F4F3EF"/>
                </a:solidFill>
                <a:latin typeface="Arial"/>
                <a:ea typeface="Arial"/>
                <a:cs typeface="Arial"/>
              </a:defRPr>
            </a:pPr>
            <a:r>
              <a:rPr sz="1425" b="0">
                <a:solidFill>
                  <a:srgbClr val="F4F3EF"/>
                </a:solidFill>
                <a:latin typeface="Arial"/>
                <a:ea typeface="Arial"/>
                <a:cs typeface="Arial"/>
              </a:rPr>
              <a:t>•  Skeptic replay behind a demo interaction gate</a:t>
            </a:r>
          </a:p>
          <a:p xmlns:a="http://schemas.openxmlformats.org/drawingml/2006/main">
            <a:pPr algn="l">
              <a:lnSpc>
                <a:spcPct val="120000"/>
              </a:lnSpc>
              <a:buNone/>
              <a:defRPr sz="1425" b="0">
                <a:solidFill>
                  <a:srgbClr val="F4F3EF"/>
                </a:solidFill>
                <a:latin typeface="Arial"/>
                <a:ea typeface="Arial"/>
                <a:cs typeface="Arial"/>
              </a:defRPr>
            </a:pPr>
            <a:r>
              <a:rPr sz="1425" b="0">
                <a:solidFill>
                  <a:srgbClr val="F4F3EF"/>
                </a:solidFill>
                <a:latin typeface="Arial"/>
                <a:ea typeface="Arial"/>
                <a:cs typeface="Arial"/>
              </a:rPr>
              <a:t>•  Prioritized evidence action queue</a:t>
            </a:r>
          </a:p>
        </p:txBody>
      </p:sp>
      <p:sp>
        <p:nvSpPr>
          <p:cNvPr id="25" name="">
            <a:extLst xmlns:a="http://schemas.openxmlformats.org/drawingml/2006/main">
              <a:ext uri="{FF2B5EF4-FFF2-40B4-BE49-F238E27FC236}">
                <a16:creationId xmlns:a16="http://schemas.microsoft.com/office/drawing/2014/main" id="{A17405EF-ABAB-4189-AF0F-7C42641CF016}"/>
              </a:ext>
            </a:extLst>
          </p:cNvPr>
          <p:cNvSpPr>
            <a:spLocks xmlns:a="http://schemas.openxmlformats.org/drawingml/2006/main" noGrp="1"/>
          </p:cNvSpPr>
          <p:nvPr/>
        </p:nvSpPr>
        <p:spPr>
          <a:xfrm xmlns:a="http://schemas.openxmlformats.org/drawingml/2006/main">
            <a:off x="5962650" y="3533775"/>
            <a:ext cx="0" cy="1809750"/>
          </a:xfrm>
          <a:prstGeom xmlns:a="http://schemas.openxmlformats.org/drawingml/2006/main" prst="line">
            <a:avLst/>
          </a:prstGeom>
          <a:noFill xmlns:a="http://schemas.openxmlformats.org/drawingml/2006/main"/>
          <a:ln xmlns:a="http://schemas.openxmlformats.org/drawingml/2006/main" w="9525">
            <a:solidFill>
              <a:srgbClr val="333337"/>
            </a:solidFill>
            <a:prstDash val="solid"/>
          </a:ln>
        </p:spPr>
      </p:sp>
      <p:sp>
        <p:nvSpPr>
          <p:cNvPr id="26" name="">
            <a:extLst xmlns:a="http://schemas.openxmlformats.org/drawingml/2006/main">
              <a:ext uri="{FF2B5EF4-FFF2-40B4-BE49-F238E27FC236}">
                <a16:creationId xmlns:a16="http://schemas.microsoft.com/office/drawing/2014/main" id="{DD4418BA-FFA4-47E0-A39F-A607AB3CBB21}"/>
              </a:ext>
            </a:extLst>
          </p:cNvPr>
          <p:cNvSpPr>
            <a:spLocks xmlns:a="http://schemas.openxmlformats.org/drawingml/2006/main" noGrp="1"/>
          </p:cNvSpPr>
          <p:nvPr/>
        </p:nvSpPr>
        <p:spPr>
          <a:xfrm xmlns:a="http://schemas.openxmlformats.org/drawingml/2006/main" rot="0">
            <a:off x="6419850" y="35623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5B22"/>
                </a:solidFill>
                <a:latin typeface="Courier New"/>
                <a:ea typeface="Courier New"/>
                <a:cs typeface="Courier New"/>
              </a:defRPr>
            </a:pPr>
            <a:r>
              <a:rPr sz="1050" b="1">
                <a:solidFill>
                  <a:srgbClr val="FF5B22"/>
                </a:solidFill>
                <a:latin typeface="Courier New"/>
                <a:ea typeface="Courier New"/>
                <a:cs typeface="Courier New"/>
              </a:rPr>
              <a:t>NEXT PROOF POINTS</a:t>
            </a:r>
          </a:p>
        </p:txBody>
      </p:sp>
      <p:sp>
        <p:nvSpPr>
          <p:cNvPr id="27" name="">
            <a:extLst xmlns:a="http://schemas.openxmlformats.org/drawingml/2006/main">
              <a:ext uri="{FF2B5EF4-FFF2-40B4-BE49-F238E27FC236}">
                <a16:creationId xmlns:a16="http://schemas.microsoft.com/office/drawing/2014/main" id="{34CB3FBE-F0E6-4484-AD34-47BF5519087D}"/>
              </a:ext>
            </a:extLst>
          </p:cNvPr>
          <p:cNvSpPr>
            <a:spLocks xmlns:a="http://schemas.openxmlformats.org/drawingml/2006/main" noGrp="1"/>
          </p:cNvSpPr>
          <p:nvPr/>
        </p:nvSpPr>
        <p:spPr>
          <a:xfrm xmlns:a="http://schemas.openxmlformats.org/drawingml/2006/main" rot="0">
            <a:off x="6419850" y="3876675"/>
            <a:ext cx="51625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425" b="0">
                <a:solidFill>
                  <a:srgbClr val="F4F3EF"/>
                </a:solidFill>
                <a:latin typeface="Arial"/>
                <a:ea typeface="Arial"/>
                <a:cs typeface="Arial"/>
              </a:defRPr>
            </a:pPr>
            <a:r>
              <a:rPr sz="1425" b="0">
                <a:solidFill>
                  <a:srgbClr val="F4F3EF"/>
                </a:solidFill>
                <a:latin typeface="Arial"/>
                <a:ea typeface="Arial"/>
                <a:cs typeface="Arial"/>
              </a:rPr>
              <a:t>•  Reproducible synthetic benchmark</a:t>
            </a:r>
          </a:p>
          <a:p xmlns:a="http://schemas.openxmlformats.org/drawingml/2006/main">
            <a:pPr algn="l">
              <a:lnSpc>
                <a:spcPct val="120000"/>
              </a:lnSpc>
              <a:buNone/>
              <a:defRPr sz="1425" b="0">
                <a:solidFill>
                  <a:srgbClr val="F4F3EF"/>
                </a:solidFill>
                <a:latin typeface="Arial"/>
                <a:ea typeface="Arial"/>
                <a:cs typeface="Arial"/>
              </a:defRPr>
            </a:pPr>
            <a:r>
              <a:rPr sz="1425" b="0">
                <a:solidFill>
                  <a:srgbClr val="F4F3EF"/>
                </a:solidFill>
                <a:latin typeface="Arial"/>
                <a:ea typeface="Arial"/>
                <a:cs typeface="Arial"/>
              </a:rPr>
              <a:t>•  3 design partners</a:t>
            </a:r>
          </a:p>
          <a:p xmlns:a="http://schemas.openxmlformats.org/drawingml/2006/main">
            <a:pPr algn="l">
              <a:lnSpc>
                <a:spcPct val="120000"/>
              </a:lnSpc>
              <a:buNone/>
              <a:defRPr sz="1425" b="0">
                <a:solidFill>
                  <a:srgbClr val="F4F3EF"/>
                </a:solidFill>
                <a:latin typeface="Arial"/>
                <a:ea typeface="Arial"/>
                <a:cs typeface="Arial"/>
              </a:defRPr>
            </a:pPr>
            <a:r>
              <a:rPr sz="1425" b="0">
                <a:solidFill>
                  <a:srgbClr val="F4F3EF"/>
                </a:solidFill>
                <a:latin typeface="Arial"/>
                <a:ea typeface="Arial"/>
                <a:cs typeface="Arial"/>
              </a:rPr>
              <a:t>•  1 paid authorized pilot</a:t>
            </a:r>
          </a:p>
          <a:p xmlns:a="http://schemas.openxmlformats.org/drawingml/2006/main">
            <a:pPr algn="l">
              <a:lnSpc>
                <a:spcPct val="120000"/>
              </a:lnSpc>
              <a:buNone/>
              <a:defRPr sz="1425" b="0">
                <a:solidFill>
                  <a:srgbClr val="F4F3EF"/>
                </a:solidFill>
                <a:latin typeface="Arial"/>
                <a:ea typeface="Arial"/>
                <a:cs typeface="Arial"/>
              </a:defRPr>
            </a:pPr>
            <a:r>
              <a:rPr sz="1425" b="0">
                <a:solidFill>
                  <a:srgbClr val="F4F3EF"/>
                </a:solidFill>
                <a:latin typeface="Arial"/>
                <a:ea typeface="Arial"/>
                <a:cs typeface="Arial"/>
              </a:rPr>
              <a:t>•  1 licensed or customer-authorized connector</a:t>
            </a:r>
          </a:p>
        </p:txBody>
      </p:sp>
      <p:sp>
        <p:nvSpPr>
          <p:cNvPr id="28" name="">
            <a:extLst xmlns:a="http://schemas.openxmlformats.org/drawingml/2006/main">
              <a:ext uri="{FF2B5EF4-FFF2-40B4-BE49-F238E27FC236}">
                <a16:creationId xmlns:a16="http://schemas.microsoft.com/office/drawing/2014/main" id="{53E0F188-E6B2-4354-A0E5-B48735A3F53E}"/>
              </a:ext>
            </a:extLst>
          </p:cNvPr>
          <p:cNvSpPr>
            <a:spLocks xmlns:a="http://schemas.openxmlformats.org/drawingml/2006/main" noGrp="1"/>
          </p:cNvSpPr>
          <p:nvPr/>
        </p:nvSpPr>
        <p:spPr>
          <a:xfrm xmlns:a="http://schemas.openxmlformats.org/drawingml/2006/main" rot="0">
            <a:off x="609600" y="5572125"/>
            <a:ext cx="10972800" cy="638175"/>
          </a:xfrm>
          <a:prstGeom xmlns:a="http://schemas.openxmlformats.org/drawingml/2006/main" prst="roundRect">
            <a:avLst>
              <a:gd name="adj" fmla="val 14925"/>
            </a:avLst>
          </a:prstGeom>
          <a:solidFill xmlns:a="http://schemas.openxmlformats.org/drawingml/2006/main">
            <a:srgbClr val="FF5B22"/>
          </a:solidFill>
          <a:ln xmlns:a="http://schemas.openxmlformats.org/drawingml/2006/main" w="0">
            <a:solidFill>
              <a:srgbClr val="FF5B22"/>
            </a:solidFill>
            <a:prstDash val="solid"/>
          </a:ln>
        </p:spPr>
      </p:sp>
      <p:sp>
        <p:nvSpPr>
          <p:cNvPr id="29" name="">
            <a:extLst xmlns:a="http://schemas.openxmlformats.org/drawingml/2006/main">
              <a:ext uri="{FF2B5EF4-FFF2-40B4-BE49-F238E27FC236}">
                <a16:creationId xmlns:a16="http://schemas.microsoft.com/office/drawing/2014/main" id="{15F5F280-9359-4996-B471-BAFB6EF77CED}"/>
              </a:ext>
            </a:extLst>
          </p:cNvPr>
          <p:cNvSpPr>
            <a:spLocks xmlns:a="http://schemas.openxmlformats.org/drawingml/2006/main" noGrp="1"/>
          </p:cNvSpPr>
          <p:nvPr/>
        </p:nvSpPr>
        <p:spPr>
          <a:xfrm xmlns:a="http://schemas.openxmlformats.org/drawingml/2006/main" rot="0">
            <a:off x="838200" y="57340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80809"/>
                </a:solidFill>
                <a:latin typeface="Courier New"/>
                <a:ea typeface="Courier New"/>
                <a:cs typeface="Courier New"/>
              </a:defRPr>
            </a:pPr>
            <a:r>
              <a:rPr sz="1200" b="1">
                <a:solidFill>
                  <a:srgbClr val="080809"/>
                </a:solidFill>
                <a:latin typeface="Courier New"/>
                <a:ea typeface="Courier New"/>
                <a:cs typeface="Courier New"/>
              </a:rPr>
              <a:t>SEED ROUND</a:t>
            </a:r>
          </a:p>
        </p:txBody>
      </p:sp>
      <p:sp>
        <p:nvSpPr>
          <p:cNvPr id="30" name="">
            <a:extLst xmlns:a="http://schemas.openxmlformats.org/drawingml/2006/main">
              <a:ext uri="{FF2B5EF4-FFF2-40B4-BE49-F238E27FC236}">
                <a16:creationId xmlns:a16="http://schemas.microsoft.com/office/drawing/2014/main" id="{C3D39847-86FB-4BA4-B785-D2B95BC7A3C4}"/>
              </a:ext>
            </a:extLst>
          </p:cNvPr>
          <p:cNvSpPr>
            <a:spLocks xmlns:a="http://schemas.openxmlformats.org/drawingml/2006/main" noGrp="1"/>
          </p:cNvSpPr>
          <p:nvPr/>
        </p:nvSpPr>
        <p:spPr>
          <a:xfrm xmlns:a="http://schemas.openxmlformats.org/drawingml/2006/main" rot="0">
            <a:off x="2533650" y="5734050"/>
            <a:ext cx="3867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80809"/>
                </a:solidFill>
                <a:latin typeface="Arial"/>
                <a:ea typeface="Arial"/>
                <a:cs typeface="Arial"/>
              </a:defRPr>
            </a:pPr>
            <a:r>
              <a:rPr sz="1350" b="1">
                <a:solidFill>
                  <a:srgbClr val="080809"/>
                </a:solidFill>
                <a:latin typeface="Arial"/>
                <a:ea typeface="Arial"/>
                <a:cs typeface="Arial"/>
              </a:rPr>
              <a:t>Terms and founder details shared privately</a:t>
            </a:r>
          </a:p>
        </p:txBody>
      </p:sp>
      <p:sp>
        <p:nvSpPr>
          <p:cNvPr id="31" name="">
            <a:extLst xmlns:a="http://schemas.openxmlformats.org/drawingml/2006/main">
              <a:ext uri="{FF2B5EF4-FFF2-40B4-BE49-F238E27FC236}">
                <a16:creationId xmlns:a16="http://schemas.microsoft.com/office/drawing/2014/main" id="{9F3EE6EA-79FD-4D67-823B-F5E48D541E7C}"/>
              </a:ext>
            </a:extLst>
          </p:cNvPr>
          <p:cNvSpPr>
            <a:spLocks xmlns:a="http://schemas.openxmlformats.org/drawingml/2006/main" noGrp="1"/>
          </p:cNvSpPr>
          <p:nvPr/>
        </p:nvSpPr>
        <p:spPr>
          <a:xfrm xmlns:a="http://schemas.openxmlformats.org/drawingml/2006/main" rot="0">
            <a:off x="6572250" y="56769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316"/>
          </a:bodyPr>
          <a:lstStyle xmlns:a="http://schemas.openxmlformats.org/drawingml/2006/main"/>
          <a:p xmlns:a="http://schemas.openxmlformats.org/drawingml/2006/main">
            <a:pPr algn="r">
              <a:lnSpc>
                <a:spcPct val="102000"/>
              </a:lnSpc>
              <a:buNone/>
              <a:defRPr sz="1350" b="1">
                <a:solidFill>
                  <a:srgbClr val="080809"/>
                </a:solidFill>
                <a:latin typeface="Arial"/>
                <a:ea typeface="Arial"/>
                <a:cs typeface="Arial"/>
              </a:defRPr>
            </a:pPr>
            <a:r>
              <a:rPr sz="1350" b="1">
                <a:solidFill>
                  <a:srgbClr val="080809"/>
                </a:solidFill>
                <a:latin typeface="Arial"/>
                <a:ea typeface="Arial"/>
                <a:cs typeface="Arial"/>
              </a:rPr>
              <a:t>Help us prove decision-changing contradictions with a better evidence trail.</a:t>
            </a:r>
          </a:p>
        </p:txBody>
      </p:sp>
    </p:spTree>
    <p:extLst>
      <p:ext uri="{BB962C8B-B14F-4D97-AF65-F5344CB8AC3E}">
        <p14:creationId xmlns:p14="http://schemas.microsoft.com/office/powerpoint/2010/main" val="7169314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2026-07-26T20:38:11.4800000Z</dcterms:created>
  <dcterms:modified xsi:type="dcterms:W3CDTF">2026-07-26T20:38:11.4800000Z</dcterms:modified>
</coreProperties>
</file>