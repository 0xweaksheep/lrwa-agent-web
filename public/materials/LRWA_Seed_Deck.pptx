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49b28cc0014c69" /><Relationship Type="http://schemas.openxmlformats.org/officeDocument/2006/relationships/extended-properties" Target="/docProps/app.xml" Id="R2d897f3d762e4d82" /><Relationship Type="http://schemas.openxmlformats.org/officeDocument/2006/relationships/officeDocument" Target="/ppt/presentation.xml" Id="R5fe0c2e8c2174b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b569cfb3e440d4"/>
  </p:sldMasterIdLst>
  <p:notesMasterIdLst>
    <p:notesMasterId xmlns:r="http://schemas.openxmlformats.org/officeDocument/2006/relationships" r:id="Rc200874a69864f9e"/>
  </p:notesMasterIdLst>
  <p:sldIdLst>
    <p:sldId xmlns:r="http://schemas.openxmlformats.org/officeDocument/2006/relationships" id="256" r:id="R93eb77c23f8e4b11"/>
    <p:sldId xmlns:r="http://schemas.openxmlformats.org/officeDocument/2006/relationships" id="257" r:id="R367336ce85764bc5"/>
    <p:sldId xmlns:r="http://schemas.openxmlformats.org/officeDocument/2006/relationships" id="258" r:id="R5738d316f92543ab"/>
    <p:sldId xmlns:r="http://schemas.openxmlformats.org/officeDocument/2006/relationships" id="259" r:id="R59d6ace0cec74f6c"/>
    <p:sldId xmlns:r="http://schemas.openxmlformats.org/officeDocument/2006/relationships" id="260" r:id="R3a5c1c19881d4390"/>
    <p:sldId xmlns:r="http://schemas.openxmlformats.org/officeDocument/2006/relationships" id="261" r:id="Rfeb7df68dad043ae"/>
    <p:sldId xmlns:r="http://schemas.openxmlformats.org/officeDocument/2006/relationships" id="262" r:id="Rd0897975c79f40f8"/>
    <p:sldId xmlns:r="http://schemas.openxmlformats.org/officeDocument/2006/relationships" id="263" r:id="R6b2aeff5b3f44c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bdcf82754b4f38" /><Relationship Type="http://schemas.openxmlformats.org/officeDocument/2006/relationships/slideMaster" Target="/ppt/slideMasters/slideMaster1.xml" Id="R22b569cfb3e440d4" /><Relationship Type="http://schemas.openxmlformats.org/officeDocument/2006/relationships/notesMaster" Target="/ppt/notesMasters/notesMaster1.xml" Id="Rc200874a69864f9e" /><Relationship Type="http://schemas.openxmlformats.org/officeDocument/2006/relationships/presProps" Target="/ppt/presProps.xml" Id="R0cfb02a6be754016" /><Relationship Type="http://schemas.openxmlformats.org/officeDocument/2006/relationships/tableStyles" Target="/ppt/tableStyles.xml" Id="R880b5081b6364e60" /><Relationship Type="http://schemas.openxmlformats.org/officeDocument/2006/relationships/slide" Target="/ppt/slides/slide1.xml" Id="R93eb77c23f8e4b11" /><Relationship Type="http://schemas.openxmlformats.org/officeDocument/2006/relationships/slide" Target="/ppt/slides/slide2.xml" Id="R367336ce85764bc5" /><Relationship Type="http://schemas.openxmlformats.org/officeDocument/2006/relationships/slide" Target="/ppt/slides/slide3.xml" Id="R5738d316f92543ab" /><Relationship Type="http://schemas.openxmlformats.org/officeDocument/2006/relationships/slide" Target="/ppt/slides/slide4.xml" Id="R59d6ace0cec74f6c" /><Relationship Type="http://schemas.openxmlformats.org/officeDocument/2006/relationships/slide" Target="/ppt/slides/slide5.xml" Id="R3a5c1c19881d4390" /><Relationship Type="http://schemas.openxmlformats.org/officeDocument/2006/relationships/slide" Target="/ppt/slides/slide6.xml" Id="Rfeb7df68dad043ae" /><Relationship Type="http://schemas.openxmlformats.org/officeDocument/2006/relationships/slide" Target="/ppt/slides/slide7.xml" Id="Rd0897975c79f40f8" /><Relationship Type="http://schemas.openxmlformats.org/officeDocument/2006/relationships/slide" Target="/ppt/slides/slide8.xml" Id="R6b2aeff5b3f44c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4295e3554243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d6d0d077fe4f0a" /><Relationship Type="http://schemas.openxmlformats.org/officeDocument/2006/relationships/notesMaster" Target="/ppt/notesMasters/notesMaster1.xml" Id="Rccf0600f6a2248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ad30745def44d4" /><Relationship Type="http://schemas.openxmlformats.org/officeDocument/2006/relationships/notesMaster" Target="/ppt/notesMasters/notesMaster1.xml" Id="R1e4f59ec507f4b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87a2fe64484294" /><Relationship Type="http://schemas.openxmlformats.org/officeDocument/2006/relationships/notesMaster" Target="/ppt/notesMasters/notesMaster1.xml" Id="R8f7ca83461cd44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4ddae644d04162" /><Relationship Type="http://schemas.openxmlformats.org/officeDocument/2006/relationships/notesMaster" Target="/ppt/notesMasters/notesMaster1.xml" Id="R70c084c462a545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dc03b484b946da" /><Relationship Type="http://schemas.openxmlformats.org/officeDocument/2006/relationships/notesMaster" Target="/ppt/notesMasters/notesMaster1.xml" Id="R5a21eafc850e4f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31b3e4b2054734" /><Relationship Type="http://schemas.openxmlformats.org/officeDocument/2006/relationships/notesMaster" Target="/ppt/notesMasters/notesMaster1.xml" Id="R3bca7eea6b1249f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7603d556dd4a70" /><Relationship Type="http://schemas.openxmlformats.org/officeDocument/2006/relationships/notesMaster" Target="/ppt/notesMasters/notesMaster1.xml" Id="Re479d8adcbc543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d35748386d14f84" /><Relationship Type="http://schemas.openxmlformats.org/officeDocument/2006/relationships/notesMaster" Target="/ppt/notesMasters/notesMaster1.xml" Id="Re0547a62c2c047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LRWA starts from a narrow rule: an AI plan is not evidence. The product turns one material commercial claim into four bounded role missions, then keeps preparation, external contact, receipts, integrity, and review as separate states.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product: lrwa-agent-web source repository.</a:t>
            </a:r>
          </a:p>
          <a:p xmlns:a="http://schemas.openxmlformats.org/drawingml/2006/main">
            <a:r>
              <a:t>- Current evidence API: lrwa-agent/src/evidence-operations.</a:t>
            </a:r>
          </a:p>
          <a:p xmlns:a="http://schemas.openxmlformats.org/drawingml/2006/main">
            <a:r>
              <a:t>- User-provided LRWA brand asset: favicon.svg.</a:t>
            </a:r>
          </a:p>
          <a:p xmlns:a="http://schemas.openxmlformats.org/drawingml/2006/main">
            <a:r>
              <a:t>- Founder and financing details intentionally omitted from this public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Financial statements and supplied documents can be checked for consistency, but they are not independent proof of real-world operations. LRWA is designed to make the missing external receipt visible instead of filling that gap with generated prose.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Problem framing: outputs/PITCH_DECK_OUTLINE.md.</a:t>
            </a:r>
          </a:p>
          <a:p xmlns:a="http://schemas.openxmlformats.org/drawingml/2006/main">
            <a:r>
              <a:t>- No market-size, time-saved, customer, or traction statistic is asserted.</a:t>
            </a:r>
          </a:p>
          <a:p xmlns:a="http://schemas.openxmlformats.org/drawingml/2006/main">
            <a:r>
              <a:t>- User-provided LRWA brand asset: favicon.svg.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shipped prototype demonstrates only truthful state transitions. A claim receives four role strategies. Copying a strategy marks it prepared, not sent. A user must confirm an authorized external contact, and only a user-submitted receipt enters the evidence room. With no receipt, the conclusion remains locked.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Screenshots: lrwa-agent-video/public/screens/evidence-plan.jpg, evidence-workbench.jpg, evidence-gate.jpg.</a:t>
            </a:r>
          </a:p>
          <a:p xmlns:a="http://schemas.openxmlformats.org/drawingml/2006/main">
            <a:r>
              <a:t>- Frontend state model: lrwa-agent-web/lib/investigation.ts.</a:t>
            </a:r>
          </a:p>
          <a:p xmlns:a="http://schemas.openxmlformats.org/drawingml/2006/main">
            <a:r>
              <a:t>- No external Meituan or Google connector is represented as configured.</a:t>
            </a:r>
          </a:p>
          <a:p xmlns:a="http://schemas.openxmlformats.org/drawingml/2006/main">
            <a:r>
              <a:t>- User-provided LRWA brand asset: favicon.svg.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DeepSeek is optional and may draft role questions only when the user opts in. It cannot create evidence or claim that contact happened. The API records user-confirmed contact and hashes submitted receipt content with SHA-256. Evidence absence is preserved as a decision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Evidence operations implementation: lrwa-agent/src/evidence-operations.</a:t>
            </a:r>
          </a:p>
          <a:p xmlns:a="http://schemas.openxmlformats.org/drawingml/2006/main">
            <a:r>
              <a:t>- Screenshot: lrwa-agent-video/public/screens/evidence-actions.jpg.</a:t>
            </a:r>
          </a:p>
          <a:p xmlns:a="http://schemas.openxmlformats.org/drawingml/2006/main">
            <a:r>
              <a:t>- Current storage is volatile in-memory and is not presented as production durability.</a:t>
            </a:r>
          </a:p>
          <a:p xmlns:a="http://schemas.openxmlformats.org/drawingml/2006/main">
            <a:r>
              <a:t>- User-provided LRWA brand asset: favicon.svg.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first commercial wedge is one material claim in one investment or commercial-diligence decision. The design-partner fund, paid mission, repeatable workflow, and vertical library are go-to-market targets, not current traction.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Wedge and milestone labels: outputs/PITCH_DECK_OUTLINE.md.</a:t>
            </a:r>
          </a:p>
          <a:p xmlns:a="http://schemas.openxmlformats.org/drawingml/2006/main">
            <a:r>
              <a:t>- Screenshot: lrwa-agent-video/public/screens/evidence-actions.jpg.</a:t>
            </a:r>
          </a:p>
          <a:p xmlns:a="http://schemas.openxmlformats.org/drawingml/2006/main">
            <a:r>
              <a:t>- No customer, revenue, or renewal claim is asserted.</a:t>
            </a:r>
          </a:p>
          <a:p xmlns:a="http://schemas.openxmlformats.org/drawingml/2006/main">
            <a:r>
              <a:t>- User-provided LRWA brand asset: favicon.svg.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 research products return a document, report, interview, or dataset. LRWA's positioning hypothesis is a verification mission: a claim, bounded roles, explicit action states, inspectable receipts, integrity metadata, and a human decision 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Category framing: outputs/PITCH_DECK_OUTLINE.md.</a:t>
            </a:r>
          </a:p>
          <a:p xmlns:a="http://schemas.openxmlformats.org/drawingml/2006/main">
            <a:r>
              <a:t>- Current LRWA workflow: lrwa-agent and lrwa-agent-web source repositories.</a:t>
            </a:r>
          </a:p>
          <a:p xmlns:a="http://schemas.openxmlformats.org/drawingml/2006/main">
            <a:r>
              <a:t>- This is a positioning hypothesis, not an exclusivity or market-share claim.</a:t>
            </a:r>
          </a:p>
          <a:p xmlns:a="http://schemas.openxmlformats.org/drawingml/2006/main">
            <a:r>
              <a:t>- User-provided LRWA brand asset: favicon.svg.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Institutional diligence is the initial wedge. Team subscriptions, licensed sources, authorized connectors, and merchant location decisions are expansion hypotheses. The current prototype does not claim direct platform access.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Expansion hypotheses: outputs/PITCH_DECK_OUTLINE.md.</a:t>
            </a:r>
          </a:p>
          <a:p xmlns:a="http://schemas.openxmlformats.org/drawingml/2006/main">
            <a:r>
              <a:t>- Screenshot: lrwa-agent-video/public/screens/evidence-home.jpg.</a:t>
            </a:r>
          </a:p>
          <a:p xmlns:a="http://schemas.openxmlformats.org/drawingml/2006/main">
            <a:r>
              <a:t>- No pricing, recurring revenue, platform partnership, or customer renewal claim is asserted.</a:t>
            </a:r>
          </a:p>
          <a:p xmlns:a="http://schemas.openxmlformats.org/drawingml/2006/main">
            <a:r>
              <a:t>- User-provided LRWA brand asset: favicon.svg.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What exists today is a local web prototype, a NestJS evidence-operations API, four role routes, explicit prepared/contact/receipt states, manual receipt intake, server-side SHA-256 hashing, and a conclusion gate that stays locked when evidence is empty. Design partners, a paid authorized pilot, durable storage, authentication, and a licensed connector remain targets.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implementation: lrwa-agent-web and lrwa-agent source repositories.</a:t>
            </a:r>
          </a:p>
          <a:p xmlns:a="http://schemas.openxmlformats.org/drawingml/2006/main">
            <a:r>
              <a:t>- Current proof plan: outputs/PITCH_DECK_OUTLINE.md.</a:t>
            </a:r>
          </a:p>
          <a:p xmlns:a="http://schemas.openxmlformats.org/drawingml/2006/main">
            <a:r>
              <a:t>- Future milestones are labeled targets and are not current traction.</a:t>
            </a:r>
          </a:p>
          <a:p xmlns:a="http://schemas.openxmlformats.org/drawingml/2006/main">
            <a:r>
              <a:t>- User-provided LRWA brand asset: favicon.svg.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e8d4a6fef14f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67d084b5c64126" /><Relationship Type="http://schemas.openxmlformats.org/officeDocument/2006/relationships/slideLayout" Target="/ppt/slideLayouts/slideLayout1.xml" Id="Rb81a22adfb0642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1a22adfb0642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b6ad318b334318" /><Relationship Type="http://schemas.openxmlformats.org/officeDocument/2006/relationships/image" Target="/ppt/media/image.png" Id="Rbcdd2ae7e0f946f0" /><Relationship Type="http://schemas.openxmlformats.org/officeDocument/2006/relationships/image" Target="/ppt/media/image.jpeg" Id="R4227bc84422049f9" /><Relationship Type="http://schemas.openxmlformats.org/officeDocument/2006/relationships/image" Target="/ppt/media/image.svg" Id="R215ce5f5784d4222" /><Relationship Type="http://schemas.openxmlformats.org/officeDocument/2006/relationships/notesSlide" Target="/ppt/notesSlides/notesSlide1.xml" Id="R157b521dff3e46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3a4cbf5a4f4efe" /><Relationship Type="http://schemas.openxmlformats.org/officeDocument/2006/relationships/image" Target="/ppt/media/image2.jpeg" Id="R4ed2f6917dc143a8" /><Relationship Type="http://schemas.openxmlformats.org/officeDocument/2006/relationships/image" Target="/ppt/media/image2.svg" Id="R5b9db7f4a6cd413d" /><Relationship Type="http://schemas.openxmlformats.org/officeDocument/2006/relationships/notesSlide" Target="/ppt/notesSlides/notesSlide2.xml" Id="R171fd4b05b984b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b92361e1e4385" /><Relationship Type="http://schemas.openxmlformats.org/officeDocument/2006/relationships/image" Target="/ppt/media/image3.jpeg" Id="R5a55a688fb79431a" /><Relationship Type="http://schemas.openxmlformats.org/officeDocument/2006/relationships/image" Target="/ppt/media/image3.svg" Id="R15dd6311dd8e4224" /><Relationship Type="http://schemas.openxmlformats.org/officeDocument/2006/relationships/image" Target="/ppt/media/image.jpeg" Id="R5de16ecba73b473c" /><Relationship Type="http://schemas.openxmlformats.org/officeDocument/2006/relationships/image" Target="/ppt/media/image2.jpeg" Id="R678deafa400e44e5" /><Relationship Type="http://schemas.openxmlformats.org/officeDocument/2006/relationships/notesSlide" Target="/ppt/notesSlides/notesSlide3.xml" Id="Rf08d5c210e5f4c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23fdefac794f1f" /><Relationship Type="http://schemas.openxmlformats.org/officeDocument/2006/relationships/image" Target="/ppt/media/image4.jpeg" Id="Re8ad3ef22a264998" /><Relationship Type="http://schemas.openxmlformats.org/officeDocument/2006/relationships/image" Target="/ppt/media/image4.svg" Id="R47c5f8f4c51a4dc5" /><Relationship Type="http://schemas.openxmlformats.org/officeDocument/2006/relationships/notesSlide" Target="/ppt/notesSlides/notesSlide4.xml" Id="R783cdd12352043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a3ff9e40b4a2e" /><Relationship Type="http://schemas.openxmlformats.org/officeDocument/2006/relationships/image" Target="/ppt/media/image5.jpeg" Id="R07f48a4a649744ed" /><Relationship Type="http://schemas.openxmlformats.org/officeDocument/2006/relationships/image" Target="/ppt/media/image5.svg" Id="Rf0fc815a2ebd4be1" /><Relationship Type="http://schemas.openxmlformats.org/officeDocument/2006/relationships/notesSlide" Target="/ppt/notesSlides/notesSlide5.xml" Id="R72809b42076f4d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dbffee01442ab" /><Relationship Type="http://schemas.openxmlformats.org/officeDocument/2006/relationships/image" Target="/ppt/media/image6.jpeg" Id="Rdf2073bd20f24668" /><Relationship Type="http://schemas.openxmlformats.org/officeDocument/2006/relationships/image" Target="/ppt/media/image6.svg" Id="R9c14e86effdc4dfa" /><Relationship Type="http://schemas.openxmlformats.org/officeDocument/2006/relationships/notesSlide" Target="/ppt/notesSlides/notesSlide6.xml" Id="R655f4812195942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1db21f6894fa7" /><Relationship Type="http://schemas.openxmlformats.org/officeDocument/2006/relationships/image" Target="/ppt/media/image2.png" Id="Rf916374bc1024246" /><Relationship Type="http://schemas.openxmlformats.org/officeDocument/2006/relationships/image" Target="/ppt/media/image7.svg" Id="R78f14e78715b4092" /><Relationship Type="http://schemas.openxmlformats.org/officeDocument/2006/relationships/image" Target="/ppt/media/image6.jpeg" Id="Rffebb65fca7d4468" /><Relationship Type="http://schemas.openxmlformats.org/officeDocument/2006/relationships/notesSlide" Target="/ppt/notesSlides/notesSlide7.xml" Id="R76e0928c36f148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a6cbd4c862405e" /><Relationship Type="http://schemas.openxmlformats.org/officeDocument/2006/relationships/image" Target="/ppt/media/image3.png" Id="Rc4886e056f7642ce" /><Relationship Type="http://schemas.openxmlformats.org/officeDocument/2006/relationships/image" Target="/ppt/media/image8.svg" Id="R2c2a939ad5db42a6" /><Relationship Type="http://schemas.openxmlformats.org/officeDocument/2006/relationships/notesSlide" Target="/ppt/notesSlides/notesSlide8.xml" Id="R00ea8acef80f40b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8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d2ae7e0f946f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24BD6-C9F7-4CA8-A540-EDBA1114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7239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80809"/>
              </a:gs>
              <a:gs pos="78000">
                <a:srgbClr val="080809">
                  <a:alpha val="90000"/>
                </a:srgbClr>
              </a:gs>
              <a:gs pos="100000">
                <a:srgbClr val="080809">
                  <a:alpha val="5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7bc84422049f9">
            <a:extLst>
              <a:ext uri="{96DAC541-7B7A-43D3-8B79-37D633B846F1}">
                <asvg:svgBlip xmlns:asvg="http://schemas.microsoft.com/office/drawing/2016/SVG/main" r:embed="R215ce5f5784d422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47700" y="428625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377D2A-3F6B-4799-85AF-3DCAF06A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0150" y="5429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LIVE REAL-WORLD ASSURANCE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B34435-3243-44CF-9343-F14054BE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" y="1200150"/>
            <a:ext cx="361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615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LRWA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D560CC-35EA-455D-A985-F167ECAC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" y="2162175"/>
            <a:ext cx="56197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38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05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Evidence before answers.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405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No receipt, no conclusion.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201A0C-B7B0-4AF7-B603-9569F179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838575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Four roles. Exact receipts. Human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65368-E70C-4FCE-B41D-C39EE812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447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B2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C5CA9B-D632-4D69-83F5-57251B2C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72440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8A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FF8A55"/>
                </a:solidFill>
                <a:latin typeface="Courier New"/>
                <a:ea typeface="Courier New"/>
                <a:cs typeface="Courier New"/>
              </a:rPr>
              <a:t>SEED  |  OPENARENA  |  PUBLIC 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7D394-3E0A-42EE-8BCB-DCCA552A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6115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F6D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6D6B"/>
                </a:solidFill>
                <a:latin typeface="Arial"/>
                <a:ea typeface="Arial"/>
                <a:cs typeface="Arial"/>
              </a:rPr>
              <a:t>Founder and financing details shared in private diligence.</a:t>
            </a:r>
          </a:p>
        </p:txBody>
      </p:sp>
    </p:spTree>
    <p:extLst>
      <p:ext uri="{BB962C8B-B14F-4D97-AF65-F5344CB8AC3E}">
        <p14:creationId xmlns:p14="http://schemas.microsoft.com/office/powerpoint/2010/main" val="6183570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D0D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367070-A22D-4B28-98FC-E58FBFD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66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B22"/>
          </a:solidFill>
          <a:ln xmlns:a="http://schemas.openxmlformats.org/drawingml/2006/main" w="0">
            <a:solidFill>
              <a:srgbClr val="FF5B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FB4104-ADBA-49AE-A5BD-2E7A6D3F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4381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THE DECISION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9A1E1B-C569-44BA-A3EB-4DBCB1E8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01350" y="438150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02 /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A8147E-1CB1-4F6B-8DA4-8D82BAB0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d2f6917dc143a8">
            <a:extLst>
              <a:ext uri="{96DAC541-7B7A-43D3-8B79-37D633B846F1}">
                <asvg:svgBlip xmlns:asvg="http://schemas.microsoft.com/office/drawing/2016/SVG/main" r:embed="R5b9db7f4a6cd413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6524625"/>
            <a:ext cx="171450" cy="171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219448-4473-483B-9CB3-B33B1BF2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6562725"/>
            <a:ext cx="3238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LRWA / LIVE REAL-WORLD ASSURANCE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01824F-54ED-40F2-973E-F98D5EF3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6562725"/>
            <a:ext cx="1714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PUBLIC DEMO DECK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F6FBE1-942A-4EEF-8394-E991F0CF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876300"/>
            <a:ext cx="58102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The data room is the claim.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75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It is not the proof.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7D2109-C500-4A15-92B2-2E46F30D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276475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AI can test internal consistency. It cannot turn a supplied narrative into independent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AA0FBF-7803-4A78-BAE9-79B66BFE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066800"/>
            <a:ext cx="0" cy="409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333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1BE180-9069-4D22-B598-2EAF969C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9715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DECISION TEAMS STILL RECONCILE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3967F2-1691-40EF-A6C5-B0327FE6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14382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40B3C-A858-4320-BC06-988DE9FC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1419225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Financial statements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51774F-EA3D-4E76-96D6-E1BFEBD4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7907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3F0A96-136C-4D5B-8E54-11199EE9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20955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B7B8EF-4167-44E2-B088-194E73868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20764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Expert calls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79CDF-C83F-4880-A1B5-61032413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4479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40FD97-F560-4223-B06F-3DBB9277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275272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E4A159-3AB1-4C66-A499-B2D3787B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2733675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Public 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820A69-9A95-4D74-8CD6-4603047C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051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8E72F9-14BD-42B1-9ECD-7CBFEB1C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34099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185D08-17C2-4FAA-B4B5-2FF4B2E5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339090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Authorized field contact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F14FAE-8F68-4723-B33D-9AE1A560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6237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C4AAD3-1C89-420D-A146-4888AB8A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40671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4BF859-C1F9-4979-8977-976B477F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4048125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Manual reconciliation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D2F627-A6FE-4FE7-946E-12333A87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4196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B2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CDA739-5C89-4C62-B164-7257E309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086350"/>
            <a:ext cx="10972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41416"/>
          </a:solidFill>
          <a:ln xmlns:a="http://schemas.openxmlformats.org/drawingml/2006/main" w="9525">
            <a:solidFill>
              <a:srgbClr val="33333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2C92C1-3848-4BBB-8886-6FF6FC8D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53054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6A62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6A62"/>
                </a:solidFill>
                <a:latin typeface="Courier New"/>
                <a:ea typeface="Courier New"/>
                <a:cs typeface="Courier New"/>
              </a:rPr>
              <a:t>THE UNRESOLVED QUESTION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D179A6-2650-4469-B22E-CBF78322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5572125"/>
            <a:ext cx="962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Which claim still lacks an inspectable receipt?</a:t>
            </a:r>
          </a:p>
        </p:txBody>
      </p:sp>
    </p:spTree>
    <p:extLst>
      <p:ext uri="{BB962C8B-B14F-4D97-AF65-F5344CB8AC3E}">
        <p14:creationId xmlns:p14="http://schemas.microsoft.com/office/powerpoint/2010/main" val="2707274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D0D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B93F0F-AFE0-41F7-ACCD-5DE2B4FF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66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B22"/>
          </a:solidFill>
          <a:ln xmlns:a="http://schemas.openxmlformats.org/drawingml/2006/main" w="0">
            <a:solidFill>
              <a:srgbClr val="FF5B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BA7878-25C6-415F-9DF4-9836BD27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4381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WORKING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648F0-3F40-43F5-961D-693B5174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01350" y="438150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03 /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25C46D-AC8B-4466-82B3-E970F668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55a688fb79431a">
            <a:extLst>
              <a:ext uri="{96DAC541-7B7A-43D3-8B79-37D633B846F1}">
                <asvg:svgBlip xmlns:asvg="http://schemas.microsoft.com/office/drawing/2016/SVG/main" r:embed="R15dd6311dd8e422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6524625"/>
            <a:ext cx="171450" cy="171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6DAC61-F9DE-454B-B3E9-32E2BF8A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6562725"/>
            <a:ext cx="3238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LRWA / LIVE REAL-WORLD ASSURANCE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8C42D-8D59-4FF3-8CE6-3B7817C8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6562725"/>
            <a:ext cx="1714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PUBLIC DEMO DECK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3D7E22-B8DB-44E9-A1C3-41DE5761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8001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One claim becomes a verification mission.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FBFEDE-22B5-42FE-9FDF-B2F330FA7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1390650"/>
            <a:ext cx="2895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3C45E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3C45E"/>
                </a:solidFill>
                <a:latin typeface="Courier New"/>
                <a:ea typeface="Courier New"/>
                <a:cs typeface="Courier New"/>
              </a:rPr>
              <a:t>CURRENT PROTOTYPE · CONNECTORS OFF</a:t>
            </a:r>
          </a:p>
        </p:txBody>
      </p:sp>
      <p:sp>
        <p:nvSpPr>
          <p:cNvPr id="10" name="mission-plan-shot-frame">
            <a:extLst xmlns:a="http://schemas.openxmlformats.org/drawingml/2006/main">
              <a:ext uri="{FF2B5EF4-FFF2-40B4-BE49-F238E27FC236}">
                <a16:creationId xmlns:a16="http://schemas.microsoft.com/office/drawing/2014/main" id="{BDBB458D-9DA3-4623-9843-7DE59E86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" y="1628775"/>
            <a:ext cx="3448050" cy="2171700"/>
          </a:xfrm>
          <a:prstGeom xmlns:a="http://schemas.openxmlformats.org/drawingml/2006/main" prst="roundRect">
            <a:avLst>
              <a:gd name="adj" fmla="val 6140"/>
            </a:avLst>
          </a:prstGeom>
          <a:solidFill xmlns:a="http://schemas.openxmlformats.org/drawingml/2006/main">
            <a:srgbClr val="1A1A1D"/>
          </a:solidFill>
          <a:ln xmlns:a="http://schemas.openxmlformats.org/drawingml/2006/main" w="9525">
            <a:solidFill>
              <a:srgbClr val="33333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16ecba73b473c"/>
          <a:srcRect xmlns:a="http://schemas.openxmlformats.org/drawingml/2006/main" l="0" t="112" r="0" b="1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" y="1657350"/>
            <a:ext cx="3390900" cy="2114550"/>
          </a:xfrm>
          <a:prstGeom xmlns:a="http://schemas.openxmlformats.org/drawingml/2006/main" prst="roundRect">
            <a:avLst/>
          </a:prstGeom>
        </p:spPr>
      </p:pic>
      <p:sp>
        <p:nvSpPr>
          <p:cNvPr id="12" name="live-mission-shot-frame">
            <a:extLst xmlns:a="http://schemas.openxmlformats.org/drawingml/2006/main">
              <a:ext uri="{FF2B5EF4-FFF2-40B4-BE49-F238E27FC236}">
                <a16:creationId xmlns:a16="http://schemas.microsoft.com/office/drawing/2014/main" id="{EE2AE817-70BF-4989-B9C3-7403A581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71975" y="1628775"/>
            <a:ext cx="3448050" cy="2171700"/>
          </a:xfrm>
          <a:prstGeom xmlns:a="http://schemas.openxmlformats.org/drawingml/2006/main" prst="roundRect">
            <a:avLst>
              <a:gd name="adj" fmla="val 6140"/>
            </a:avLst>
          </a:prstGeom>
          <a:solidFill xmlns:a="http://schemas.openxmlformats.org/drawingml/2006/main">
            <a:srgbClr val="1A1A1D"/>
          </a:solidFill>
          <a:ln xmlns:a="http://schemas.openxmlformats.org/drawingml/2006/main" w="9525">
            <a:solidFill>
              <a:srgbClr val="33333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8deafa400e44e5"/>
          <a:srcRect xmlns:a="http://schemas.openxmlformats.org/drawingml/2006/main" l="0" t="112" r="0" b="1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400550" y="1657350"/>
            <a:ext cx="3390900" cy="2114550"/>
          </a:xfrm>
          <a:prstGeom xmlns:a="http://schemas.openxmlformats.org/drawingml/2006/main" prst="roundRect">
            <a:avLst/>
          </a:prstGeom>
        </p:spPr>
      </p:pic>
      <p:sp>
        <p:nvSpPr>
          <p:cNvPr id="14" name="findings-shot-frame">
            <a:extLst xmlns:a="http://schemas.openxmlformats.org/drawingml/2006/main">
              <a:ext uri="{FF2B5EF4-FFF2-40B4-BE49-F238E27FC236}">
                <a16:creationId xmlns:a16="http://schemas.microsoft.com/office/drawing/2014/main" id="{49297BD0-8876-4055-A624-9DF9E0A3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62925" y="1628775"/>
            <a:ext cx="3448050" cy="2171700"/>
          </a:xfrm>
          <a:prstGeom xmlns:a="http://schemas.openxmlformats.org/drawingml/2006/main" prst="roundRect">
            <a:avLst>
              <a:gd name="adj" fmla="val 6140"/>
            </a:avLst>
          </a:prstGeom>
          <a:solidFill xmlns:a="http://schemas.openxmlformats.org/drawingml/2006/main">
            <a:srgbClr val="1A1A1D"/>
          </a:solidFill>
          <a:ln xmlns:a="http://schemas.openxmlformats.org/drawingml/2006/main" w="9525">
            <a:solidFill>
              <a:srgbClr val="33333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55a688fb79431a"/>
          <a:srcRect xmlns:a="http://schemas.openxmlformats.org/drawingml/2006/main" l="0" t="112" r="0" b="1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191500" y="1657350"/>
            <a:ext cx="3390900" cy="2114550"/>
          </a:xfrm>
          <a:prstGeom xmlns:a="http://schemas.openxmlformats.org/drawingml/2006/main" prst="round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F0DD47-9999-41E5-BD01-89A49087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943350"/>
            <a:ext cx="3390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01  CLAIM → ROLE PLAN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610E2D-5657-4CC6-97E6-668A674D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00550" y="3943350"/>
            <a:ext cx="3390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02  PREPARED ≠ SENT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FEC875-0D31-4B69-8D6E-105B0322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0" y="3943350"/>
            <a:ext cx="3390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03  EMPTY GATE STAYS LOCKED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A85FB8-E494-42BA-BAA1-29648450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4767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87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CLAIM  →  PLAN  →  PREPARE  →  CONFIRM  →  RECEIPT  →  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74B38D-38DE-4203-9C22-43958A56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86727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A staged evidence workflow, not a generated report.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16EA98-2439-441F-ABD7-9A4C98FC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57700"/>
            <a:ext cx="0" cy="1485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333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608DF9-9DE1-421F-8DC8-61D21D85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443865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CURRENT STATE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23A982-38EE-41B4-9780-5637B5ED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4686300"/>
            <a:ext cx="195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5B2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5B22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CDC0C8-DBD7-4F9D-AFFB-116309B7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5210175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825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DRAFT QUESTIONS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25BED3-5666-4E18-BA93-273A97F7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538162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No receipt yet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C3ACD2-6E92-4F06-8379-299A86CB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56102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No claim confirmed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No metric inferred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3BF943-A625-409E-935F-F7B7797F7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4438650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GATE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6F6BDF-91E6-4DF1-9208-6BFAC89A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4686300"/>
            <a:ext cx="195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LOCKED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8F4B31-F4B2-4C9A-93F2-9DB662ED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5210175"/>
            <a:ext cx="1943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825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UNLOCK CONDITION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6D4865-4C2D-4E66-94D4-34A2724D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5381625"/>
            <a:ext cx="1943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User-submitted receipt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099E1B-03F8-4932-8F76-6BC40322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5610225"/>
            <a:ext cx="194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Server hash + review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before any conclusion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987B8A-ADDE-4BDE-9D48-917E901D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6029325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3C45E"/>
                </a:solidFill>
                <a:latin typeface="Courier New"/>
                <a:ea typeface="Courier New"/>
                <a:cs typeface="Courier New"/>
              </a:defRPr>
            </a:pPr>
            <a:r>
              <a:rPr sz="825" b="1">
                <a:solidFill>
                  <a:srgbClr val="F3C45E"/>
                </a:solidFill>
                <a:latin typeface="Courier New"/>
                <a:ea typeface="Courier New"/>
                <a:cs typeface="Courier New"/>
              </a:rPr>
              <a:t>DISPLAYED STATE: PREPARED, NOT SENT</a:t>
            </a:r>
          </a:p>
          <a:p xmlns:a="http://schemas.openxmlformats.org/drawingml/2006/main">
            <a:pPr algn="r">
              <a:buNone/>
              <a:defRPr sz="825" b="1">
                <a:solidFill>
                  <a:srgbClr val="F3C45E"/>
                </a:solidFill>
                <a:latin typeface="Courier New"/>
                <a:ea typeface="Courier New"/>
                <a:cs typeface="Courier New"/>
              </a:defRPr>
            </a:pPr>
            <a:r>
              <a:rPr sz="825" b="1">
                <a:solidFill>
                  <a:srgbClr val="F3C45E"/>
                </a:solidFill>
                <a:latin typeface="Courier New"/>
                <a:ea typeface="Courier New"/>
                <a:cs typeface="Courier New"/>
              </a:rPr>
              <a:t>EVIDENCE ROOM: EMPTY / CONCLUSION LOCKED</a:t>
            </a:r>
          </a:p>
        </p:txBody>
      </p:sp>
    </p:spTree>
    <p:extLst>
      <p:ext uri="{BB962C8B-B14F-4D97-AF65-F5344CB8AC3E}">
        <p14:creationId xmlns:p14="http://schemas.microsoft.com/office/powerpoint/2010/main" val="20416920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0D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435749-1435-4F90-B849-58EE282E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66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B22"/>
          </a:solidFill>
          <a:ln xmlns:a="http://schemas.openxmlformats.org/drawingml/2006/main" w="0">
            <a:solidFill>
              <a:srgbClr val="FF5B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A2A6D7-FE81-4E17-97B5-D9ED5CD7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4381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SYSTEM + MOAT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EB560-CF3E-4E85-B330-1E5097EE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01350" y="438150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04 /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DDD676-69B1-4910-A194-480B9D46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ad3ef22a264998">
            <a:extLst>
              <a:ext uri="{96DAC541-7B7A-43D3-8B79-37D633B846F1}">
                <asvg:svgBlip xmlns:asvg="http://schemas.microsoft.com/office/drawing/2016/SVG/main" r:embed="R47c5f8f4c51a4d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6524625"/>
            <a:ext cx="171450" cy="171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8C01E8-4CC6-4ABD-9364-07CAEACB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6562725"/>
            <a:ext cx="3238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LRWA / LIVE REAL-WORLD ASSURANCE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699D52-ED81-40A9-846F-4D74F0DF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6562725"/>
            <a:ext cx="1714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PUBLIC DEMO DECK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295514-8E1B-4363-9CEB-6EC1B33D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8001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The moat is the truth-state loop, not the model.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BE61EA-B5D7-4A1B-9B15-CD25BC4FE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381125"/>
            <a:ext cx="657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AI may draft questions. Only user-confirmed contact and submitted receipts can move a claim toward review.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2422A7-B01D-4D9F-826F-3B219DE5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09750" y="244792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33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1FD790-9043-4141-8CB7-212FB5FD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44792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33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1F89CD-99F6-40A7-9075-AB7009C8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5850" y="244792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5B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973CC7-BD17-4C13-A77F-A6BC46A7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762250"/>
            <a:ext cx="0" cy="790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B2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C68469-E25D-404A-9488-91A56A7B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05475" y="3429000"/>
            <a:ext cx="2667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5B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CF856D-0D89-43A5-9B05-85382B6D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09750" y="4038600"/>
            <a:ext cx="266700" cy="1143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FF5B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B041A0-6047-4AFA-919A-A426DD6F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4038600"/>
            <a:ext cx="266700" cy="1143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3333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E5380B-85B2-4451-B05E-18450742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5850" y="4038600"/>
            <a:ext cx="266700" cy="1143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3333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174864-2ED9-43A0-B197-6EED9AF5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152650"/>
            <a:ext cx="12001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141416"/>
          </a:solidFill>
          <a:ln xmlns:a="http://schemas.openxmlformats.org/drawingml/2006/main" w="9525">
            <a:solidFill>
              <a:srgbClr val="33333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20B181-1AD6-4D26-96B6-E0436FBE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2305050"/>
            <a:ext cx="952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CLAIM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894ED9-0D3C-47ED-9DC1-6DF2BB59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25431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Bound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6D283F-9450-4B4A-AA87-4F1CEF55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52650" y="2152650"/>
            <a:ext cx="12001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141416"/>
          </a:solidFill>
          <a:ln xmlns:a="http://schemas.openxmlformats.org/drawingml/2006/main" w="9525">
            <a:solidFill>
              <a:srgbClr val="33333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DF19AD-A9E9-4216-A62B-6B997FFD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76475" y="2305050"/>
            <a:ext cx="952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PLAN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EDFB60-5985-4D69-B409-8482651B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76475" y="25431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Draft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91CA49-EA37-4727-83C1-84A9A46B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2152650"/>
            <a:ext cx="12001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141416"/>
          </a:solidFill>
          <a:ln xmlns:a="http://schemas.openxmlformats.org/drawingml/2006/main" w="9525">
            <a:solidFill>
              <a:srgbClr val="33333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A2205A-53F6-4E17-B330-7B8E686AC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19525" y="2305050"/>
            <a:ext cx="952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PREPARE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D0593C-DB97-4CFD-ABA0-BD2BAD2D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19525" y="25431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Stage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D7F52A-CC0C-46B2-8DEC-BF75537A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0" y="2152650"/>
            <a:ext cx="12001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23150F"/>
          </a:solidFill>
          <a:ln xmlns:a="http://schemas.openxmlformats.org/drawingml/2006/main" w="9525">
            <a:solidFill>
              <a:srgbClr val="FF5B2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67C548-866E-498D-8E37-A9A1954C8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62575" y="2305050"/>
            <a:ext cx="952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CONTACT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6BEFA5-B3F1-4D4D-B0C5-CA821FD7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62575" y="25431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Confirm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6626F8-75E6-4E61-B4DD-82E08A85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733800"/>
            <a:ext cx="12001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141416"/>
          </a:solidFill>
          <a:ln xmlns:a="http://schemas.openxmlformats.org/drawingml/2006/main" w="9525">
            <a:solidFill>
              <a:srgbClr val="33333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376173-F971-4532-84F0-B28DEEBBD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3886200"/>
            <a:ext cx="952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NEXT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8C7518-F6A6-4F43-BEC0-5DD9B5C0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41243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Request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4B94A4-5E46-4DDF-A381-B4515FCD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52650" y="3733800"/>
            <a:ext cx="12001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141416"/>
          </a:solidFill>
          <a:ln xmlns:a="http://schemas.openxmlformats.org/drawingml/2006/main" w="9525">
            <a:solidFill>
              <a:srgbClr val="33333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DF4DA2-D87C-4887-80DC-1B1F624C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76475" y="3886200"/>
            <a:ext cx="952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REVIEW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21FD24-E5B4-4AD1-A92C-9E37ABE6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76475" y="41243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Inspect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5AA163-8158-4248-A169-37E39359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3733800"/>
            <a:ext cx="12001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141416"/>
          </a:solidFill>
          <a:ln xmlns:a="http://schemas.openxmlformats.org/drawingml/2006/main" w="9525">
            <a:solidFill>
              <a:srgbClr val="33333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7C5FC8-D776-4188-9789-ECB0BEB0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19525" y="3886200"/>
            <a:ext cx="952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HASH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2A533D-8409-4929-BA16-7BB764DD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19525" y="41243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Seal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BA738CF-A64F-4307-8A6E-102CF0A0F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0" y="3733800"/>
            <a:ext cx="12001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23150F"/>
          </a:solidFill>
          <a:ln xmlns:a="http://schemas.openxmlformats.org/drawingml/2006/main" w="9525">
            <a:solidFill>
              <a:srgbClr val="FF5B2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7C9488-393F-4017-B4D5-AA7900A0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62575" y="3886200"/>
            <a:ext cx="952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RECEIPT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6D69587-FF08-4A4B-951A-0E93311D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62575" y="41243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Submit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08D78A-45A7-43C8-9F6F-1F6346EB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82917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FOUR BOUNDED ROLE ROUTES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20DF18-3A62-460A-9ED3-FE927E00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647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B2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5DB8E3-D168-48EB-8F8A-DAEB0F40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47800" y="512445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BUYER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4DC24DF-8374-47AC-A9D1-0CA13FDF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85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B2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8B96397-13A8-484E-9BF9-A9189FAD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57350" y="5343525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SUPPLIER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740D62A-967A-48B3-8A1D-BF82BEF8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333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63ECB49-C13C-4B0C-AD47-4072AD1C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55626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6A3A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A6A3A0"/>
                </a:solidFill>
                <a:latin typeface="Courier New"/>
                <a:ea typeface="Courier New"/>
                <a:cs typeface="Courier New"/>
              </a:rPr>
              <a:t>PEER / COMPETITOR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826B63B-51F2-4E0F-98BB-D5C27B19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276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333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5630A22-ABAB-463E-AD6C-D07D2363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76450" y="5781675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6A3A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A6A3A0"/>
                </a:solidFill>
                <a:latin typeface="Courier New"/>
                <a:ea typeface="Courier New"/>
                <a:cs typeface="Courier New"/>
              </a:rPr>
              <a:t>SKEPTIC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E1CBE49-A73E-4AFC-8DAB-84BA31DC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48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333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DFC4353-6F8A-4E4F-8A12-AAE17D5F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600075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6A3A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A6A3A0"/>
                </a:solidFill>
                <a:latin typeface="Courier New"/>
                <a:ea typeface="Courier New"/>
                <a:cs typeface="Courier New"/>
              </a:rPr>
              <a:t>MISSINGNESS AS SIGNAL</a:t>
            </a:r>
          </a:p>
        </p:txBody>
      </p:sp>
      <p:sp>
        <p:nvSpPr>
          <p:cNvPr id="53" name="replay-shot-frame">
            <a:extLst xmlns:a="http://schemas.openxmlformats.org/drawingml/2006/main">
              <a:ext uri="{FF2B5EF4-FFF2-40B4-BE49-F238E27FC236}">
                <a16:creationId xmlns:a16="http://schemas.microsoft.com/office/drawing/2014/main" id="{CFB09304-BD02-4D00-AC8C-6D3BFFA2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58075" y="1743075"/>
            <a:ext cx="4152900" cy="2619375"/>
          </a:xfrm>
          <a:prstGeom xmlns:a="http://schemas.openxmlformats.org/drawingml/2006/main" prst="roundRect">
            <a:avLst>
              <a:gd name="adj" fmla="val 5091"/>
            </a:avLst>
          </a:prstGeom>
          <a:solidFill xmlns:a="http://schemas.openxmlformats.org/drawingml/2006/main">
            <a:srgbClr val="1A1A1D"/>
          </a:solidFill>
          <a:ln xmlns:a="http://schemas.openxmlformats.org/drawingml/2006/main" w="9525">
            <a:solidFill>
              <a:srgbClr val="FF5B2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ad3ef22a264998"/>
          <a:srcRect xmlns:a="http://schemas.openxmlformats.org/drawingml/2006/main" l="46" t="0" r="4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486650" y="1771650"/>
            <a:ext cx="4095750" cy="2562225"/>
          </a:xfrm>
          <a:prstGeom xmlns:a="http://schemas.openxmlformats.org/drawingml/2006/main" prst="roundRect">
            <a:avLst/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C3CF779-B906-4FF3-B87B-746F53FE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6650" y="45910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THE HONEST TRANSITION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2FB2251-6958-4192-A1E5-3B657F8A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6650" y="4886325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16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Copying a strategy only marks it prepared. The user must confirm a real authorized contact.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C33FEE3-F9D4-4594-B8F5-8B75EE56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6650" y="57340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A submitted receipt receives a server-side SHA-256 hash; empty evidence keeps the gate locked.</a:t>
            </a:r>
          </a:p>
        </p:txBody>
      </p:sp>
    </p:spTree>
    <p:extLst>
      <p:ext uri="{BB962C8B-B14F-4D97-AF65-F5344CB8AC3E}">
        <p14:creationId xmlns:p14="http://schemas.microsoft.com/office/powerpoint/2010/main" val="6293103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D0D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9DFB8B-2D98-4640-9CC9-95849333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66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B22"/>
          </a:solidFill>
          <a:ln xmlns:a="http://schemas.openxmlformats.org/drawingml/2006/main" w="0">
            <a:solidFill>
              <a:srgbClr val="FF5B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853D8D-1838-458E-B26D-2E2500F0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4381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INITIAL WEDGE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221329-ADE0-479A-B17C-E9FAED9D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01350" y="438150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05 /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CFA35-6439-47EF-8F0A-0CB876A6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f48a4a649744ed">
            <a:extLst>
              <a:ext uri="{96DAC541-7B7A-43D3-8B79-37D633B846F1}">
                <asvg:svgBlip xmlns:asvg="http://schemas.microsoft.com/office/drawing/2016/SVG/main" r:embed="Rf0fc815a2ebd4be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6524625"/>
            <a:ext cx="171450" cy="171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51F722-6255-47F0-B60A-90F64F17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6562725"/>
            <a:ext cx="3238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LRWA / LIVE REAL-WORLD ASSURANCE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4B2EBF-22E8-45AF-A461-A1BFD27A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6562725"/>
            <a:ext cx="1714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PUBLIC DEMO DECK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85964D-DF88-41A5-9E3A-64A31B2A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8001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Start where one contradiction can change a deal.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3552FD-6AEB-4D7B-8E96-6EFCD174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381125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4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Investment and commercial diligence for offline and omnichannel businesses.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AAA78E-5A65-41D4-9ADF-5A9EFE78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24075"/>
            <a:ext cx="0" cy="2590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333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2BD885-2388-4074-B326-81D30B29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19907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22"/>
          </a:solidFill>
          <a:ln xmlns:a="http://schemas.openxmlformats.org/drawingml/2006/main" w="19050">
            <a:solidFill>
              <a:srgbClr val="FF5B2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9995D3-7FE4-44F9-A193-F3DB0801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0150" y="19621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503566-2715-41BC-937C-6AC92809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193357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Target: design-partner fund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9ABD3F-84FA-4AB4-A2AC-A8A9777E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22574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One material operating claim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245AC4-5AA2-4EDE-B833-F95CB47AD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28765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0D0F"/>
          </a:solidFill>
          <a:ln xmlns:a="http://schemas.openxmlformats.org/drawingml/2006/main" w="19050">
            <a:solidFill>
              <a:srgbClr val="33333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5D5B28-484F-41DE-ABC3-CC33AF7E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0150" y="28479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57177D-5089-4219-A48F-D02C0FFC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2819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Target: authorized mission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E2A90C-118D-40A0-8135-E48DAD2E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31432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Paid, scoped verification target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513210-2BD7-4737-BC9C-2101CD21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37623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0D0F"/>
          </a:solidFill>
          <a:ln xmlns:a="http://schemas.openxmlformats.org/drawingml/2006/main" w="19050">
            <a:solidFill>
              <a:srgbClr val="33333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0BFED2-8893-4C75-86CF-3A0B98AC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0150" y="37338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F8A8F5-E1E8-45DA-9493-62CDE0D3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37052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Target: team workflow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5581B0-45BF-4BB7-803D-C38DFA40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402907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Reusable questions and evidence history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C538FD-7D73-4492-88ED-B8B3E289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4648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0D0F"/>
          </a:solidFill>
          <a:ln xmlns:a="http://schemas.openxmlformats.org/drawingml/2006/main" w="19050">
            <a:solidFill>
              <a:srgbClr val="33333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76AA53-D5B4-4056-A5BD-E8C2FE26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0150" y="46196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80B474-097D-42D9-9312-8849AEBC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45910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Target: mission library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CF9D1-33DC-40F0-BC76-BF22328B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4914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Calibrated claim-to-signal mappings</a:t>
            </a:r>
          </a:p>
        </p:txBody>
      </p:sp>
      <p:sp>
        <p:nvSpPr>
          <p:cNvPr id="27" name="action-queue-shot-frame">
            <a:extLst xmlns:a="http://schemas.openxmlformats.org/drawingml/2006/main">
              <a:ext uri="{FF2B5EF4-FFF2-40B4-BE49-F238E27FC236}">
                <a16:creationId xmlns:a16="http://schemas.microsoft.com/office/drawing/2014/main" id="{E9BC5D2B-DE75-4410-B284-BA148400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1675" y="1819275"/>
            <a:ext cx="5829300" cy="3667125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A1A1D"/>
          </a:solidFill>
          <a:ln xmlns:a="http://schemas.openxmlformats.org/drawingml/2006/main" w="9525">
            <a:solidFill>
              <a:srgbClr val="33333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f48a4a649744ed"/>
          <a:srcRect xmlns:a="http://schemas.openxmlformats.org/drawingml/2006/main" l="33" t="0" r="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810250" y="1847850"/>
            <a:ext cx="5772150" cy="3609975"/>
          </a:xfrm>
          <a:prstGeom xmlns:a="http://schemas.openxmlformats.org/drawingml/2006/main" prst="round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5F600A-DFA9-4A67-BB77-75889905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571500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THE WEDGE IS A DECISION WORKFLOW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7B7CB6-6D50-4358-80F5-27C76DE7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5953125"/>
            <a:ext cx="577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VC access is the first distribution channel.</a:t>
            </a:r>
          </a:p>
        </p:txBody>
      </p:sp>
    </p:spTree>
    <p:extLst>
      <p:ext uri="{BB962C8B-B14F-4D97-AF65-F5344CB8AC3E}">
        <p14:creationId xmlns:p14="http://schemas.microsoft.com/office/powerpoint/2010/main" val="3084397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0D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7DD452-C947-406D-86F4-A25B0257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66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B22"/>
          </a:solidFill>
          <a:ln xmlns:a="http://schemas.openxmlformats.org/drawingml/2006/main" w="0">
            <a:solidFill>
              <a:srgbClr val="FF5B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9883A7-FE95-42EB-AB36-F2FD4730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4381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CATEGORY POSITION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203BF0-3E60-4521-9D15-01816CD5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01350" y="438150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06 /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5C577-56F7-4D78-B0FE-68255AD7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2073bd20f24668">
            <a:extLst>
              <a:ext uri="{96DAC541-7B7A-43D3-8B79-37D633B846F1}">
                <asvg:svgBlip xmlns:asvg="http://schemas.microsoft.com/office/drawing/2016/SVG/main" r:embed="R9c14e86effdc4df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6524625"/>
            <a:ext cx="171450" cy="171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FAA04A-D07A-48F7-8D2A-AA75B066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6562725"/>
            <a:ext cx="3238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LRWA / LIVE REAL-WORLD ASSURANCE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9283A1-D0CB-4B75-A156-46CD93B9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6562725"/>
            <a:ext cx="1714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PUBLIC DEMO DECK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A1A36F-E8E4-4643-81EB-775595B2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8001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A verification mission is a new unit of work.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6DD27F-F69D-4096-B645-2D98D80D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390650"/>
            <a:ext cx="1019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LRWA does not replace financial diligence, expert networks, or data platforms. It connects a material claim to the next decision.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FA0A07-72E7-4FFB-8A93-98C608D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2098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WHY NOW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A07173-8B10-46AF-A58B-CA644371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09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57AF99-FA21-47AB-A562-59A380DE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5850" y="2581275"/>
            <a:ext cx="4438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725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AI can draft multi-stage role strategies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52770E-3AA0-4717-A28C-D1321910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2575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AC7BF5-793E-4B4A-B239-766EF3E3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5850" y="3228975"/>
            <a:ext cx="4438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47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725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Claims can be mapped to inspectable receipts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47F56F-43AB-4DD0-A3EF-4E36E977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905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F3F97D-3318-40DB-8C8E-9975090E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5850" y="3876675"/>
            <a:ext cx="4438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42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725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Buyers need permission, provenance, and missingness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383B46-22E3-4478-9CD4-74334A31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52650"/>
            <a:ext cx="0" cy="2857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333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3BF14-222F-4B7C-B515-5A0AC012F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20980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UNIT OF 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D4732E-8854-49F4-9D25-96B7C3CF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6289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DATA-ROOM TOOLS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7FED53-0BBB-4359-A4FC-07BDF9B4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25908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7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Document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C99A7F-0357-47DB-A952-A2B02889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00375"/>
            <a:ext cx="474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CAB0A4-861E-4C92-9101-5CB6A922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26707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RESEARCH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DDBBDA-A49B-454B-8C2E-60E35A1E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32289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7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Report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08041F-91A8-4ADB-B993-580EDC0E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38550"/>
            <a:ext cx="474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F2EEEF-B193-4A23-8608-C2D98167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9052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DATA PLATFORMS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64ED34-A087-4A00-AEC4-9BD8DB9F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3867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7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Dataset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E44C15-AB80-4EE4-9663-EC2F914D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276725"/>
            <a:ext cx="474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37D4A4-1AD4-4736-885A-B9A3232B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5434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LRWA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313895-2E4A-4CE2-93A7-2B9239F2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86750" y="4505325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725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Verification mission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B84777-4E89-4943-96FF-B02BD906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914900"/>
            <a:ext cx="474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B2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E24188-77AB-4E04-9EE4-1AFA4FEA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248275"/>
            <a:ext cx="10972800" cy="809625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1B120E"/>
          </a:solidFill>
          <a:ln xmlns:a="http://schemas.openxmlformats.org/drawingml/2006/main" w="9525">
            <a:solidFill>
              <a:srgbClr val="FF5B2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B4AF40-0DB6-4974-8846-2D35E1A8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5476875"/>
            <a:ext cx="2333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POSITIONING HYPOTHESIS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393B6F-09D6-43C9-AC12-04741134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43300" y="5391150"/>
            <a:ext cx="771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225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The category is commercial verification infrastructure.</a:t>
            </a:r>
          </a:p>
        </p:txBody>
      </p:sp>
    </p:spTree>
    <p:extLst>
      <p:ext uri="{BB962C8B-B14F-4D97-AF65-F5344CB8AC3E}">
        <p14:creationId xmlns:p14="http://schemas.microsoft.com/office/powerpoint/2010/main" val="10333499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0D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D21ED1-4432-4282-8657-4848E437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66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B22"/>
          </a:solidFill>
          <a:ln xmlns:a="http://schemas.openxmlformats.org/drawingml/2006/main" w="0">
            <a:solidFill>
              <a:srgbClr val="FF5B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7F3A70-209A-4AE9-A5D4-A3197299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4381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BUSINESS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7453AC-62E0-4B49-AFE7-9B160EDC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01350" y="438150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07 /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8C9EE-7941-4FE9-B277-DA70166D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16374bc1024246">
            <a:extLst>
              <a:ext uri="{96DAC541-7B7A-43D3-8B79-37D633B846F1}">
                <asvg:svgBlip xmlns:asvg="http://schemas.microsoft.com/office/drawing/2016/SVG/main" r:embed="R78f14e78715b409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6524625"/>
            <a:ext cx="171450" cy="171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1FA2A-4D91-4BA8-9167-DAE5FB4E0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6562725"/>
            <a:ext cx="3238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LRWA / LIVE REAL-WORLD ASSURANCE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A6BE30-80D0-4326-AB5C-7EDDF43C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6562725"/>
            <a:ext cx="1714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PUBLIC DEMO DECK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A69CC-AFC9-48DC-A6A7-DB4E580C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8001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One mission engine expands across decision surfaces.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F23AF5-505F-4839-9202-C715A7E0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381125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Institutional verification is the wedge. Merchant and self-service questions come later.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55E094-B6B1-43EA-A1B3-45430C0F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00300" y="2952750"/>
            <a:ext cx="3429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5B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DE0A5A-3B30-483D-A93B-3828CECE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2952750"/>
            <a:ext cx="3429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33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98CC8D-A479-45AD-BAD2-3A5EE198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72300" y="2952750"/>
            <a:ext cx="3429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33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6FEBB7-E070-407D-AE4A-D2DA5B9E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209800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B8711F-BEC9-4BB8-A9D5-CB0AA939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543175"/>
            <a:ext cx="1828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PAID MISSION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8B20DB-FA0A-4D5F-8705-B10026AC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790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B2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FB983D-272F-432D-A552-80289AE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352800"/>
            <a:ext cx="1828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One claim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One scoped plan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658146-517A-442B-87D7-5D7A35F4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2209800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1A5332-B2A9-48D3-9609-CA3C584A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2543175"/>
            <a:ext cx="1828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TEAM SUBSCRIPTION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63D380-30C2-488C-9473-464102EB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152775"/>
            <a:ext cx="1790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B2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352C3B-5015-4F3C-BDD0-1F10EA61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3352800"/>
            <a:ext cx="1828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Reusable missions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Evidence history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75E96D-3201-4FF2-A242-2C183446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81600" y="2209800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63CCC4-7DD2-4566-B5B9-024AE98FC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81600" y="2543175"/>
            <a:ext cx="1828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A6A3A0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A6A3A0"/>
                </a:solidFill>
                <a:latin typeface="Courier New"/>
                <a:ea typeface="Courier New"/>
                <a:cs typeface="Courier New"/>
              </a:rPr>
              <a:t>INTEGRATIONS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4D18A4-6684-4D47-B8E5-3BA6B892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152775"/>
            <a:ext cx="1790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333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DA6A97-22CE-4E17-B210-00A65C84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81600" y="3352800"/>
            <a:ext cx="1828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Licensed sources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Authorized connectors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BA4752-4C16-4AD0-AC9C-C6BD161B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600" y="2209800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D8EDA5-E791-4B25-A87B-F2270E04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600" y="2543175"/>
            <a:ext cx="1828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A6A3A0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A6A3A0"/>
                </a:solidFill>
                <a:latin typeface="Courier New"/>
                <a:ea typeface="Courier New"/>
                <a:cs typeface="Courier New"/>
              </a:rPr>
              <a:t>LOCATION DECISIONS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3A35C8-AFE0-47EE-A85D-AD897A44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52775"/>
            <a:ext cx="1790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333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36A26A-A5D3-44EE-901D-23F3312C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600" y="3352800"/>
            <a:ext cx="1828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Merchant location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Market questions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624476-9D26-4401-98C7-2CB6733B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6386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SAME MISSION ENGINE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3AB1E5-6629-475A-BFD2-41FD5081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914900"/>
            <a:ext cx="8362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Commercial diligence  →  Supplier + channel checks  →  Merchant decisions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163CA7-8AAF-44DE-8466-673D3D63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65785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F6D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6D6B"/>
                </a:solidFill>
                <a:latin typeface="Arial"/>
                <a:ea typeface="Arial"/>
                <a:cs typeface="Arial"/>
              </a:rPr>
              <a:t>Pricing remains a hypothesis until validated in buying processes.</a:t>
            </a:r>
          </a:p>
        </p:txBody>
      </p:sp>
      <p:sp>
        <p:nvSpPr>
          <p:cNvPr id="32" name="mobile-plan-shot-frame">
            <a:extLst xmlns:a="http://schemas.openxmlformats.org/drawingml/2006/main">
              <a:ext uri="{FF2B5EF4-FFF2-40B4-BE49-F238E27FC236}">
                <a16:creationId xmlns:a16="http://schemas.microsoft.com/office/drawing/2014/main" id="{09D161CE-1C66-4CA4-9AFA-F5FB1388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000250"/>
            <a:ext cx="1714500" cy="3648075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A1A1D"/>
          </a:solidFill>
          <a:ln xmlns:a="http://schemas.openxmlformats.org/drawingml/2006/main" w="9525">
            <a:solidFill>
              <a:srgbClr val="FF5B2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ebb65fca7d44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9820275" y="2028825"/>
            <a:ext cx="1657350" cy="3590925"/>
          </a:xfrm>
          <a:prstGeom xmlns:a="http://schemas.openxmlformats.org/drawingml/2006/main" prst="round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63469A-BFBE-4F5D-AE8F-F6FC677E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24975" y="5810250"/>
            <a:ext cx="2266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WHERE SHOULD I VERIFY NEXT?</a:t>
            </a:r>
          </a:p>
        </p:txBody>
      </p:sp>
    </p:spTree>
    <p:extLst>
      <p:ext uri="{BB962C8B-B14F-4D97-AF65-F5344CB8AC3E}">
        <p14:creationId xmlns:p14="http://schemas.microsoft.com/office/powerpoint/2010/main" val="7583818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0D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F5016B8-E488-4488-9CB7-ED6B6C5D5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66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B22"/>
          </a:solidFill>
          <a:ln xmlns:a="http://schemas.openxmlformats.org/drawingml/2006/main" w="0">
            <a:solidFill>
              <a:srgbClr val="FF5B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65FD40-E469-4AE4-BE6A-1AF5B1FA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4381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PROOF PLAN + 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81D986-501A-44FA-854D-00409755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01350" y="438150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08 /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493240-34E0-4179-8EAF-FDE95D7C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2427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86e056f7642ce">
            <a:extLst>
              <a:ext uri="{96DAC541-7B7A-43D3-8B79-37D633B846F1}">
                <asvg:svgBlip xmlns:asvg="http://schemas.microsoft.com/office/drawing/2016/SVG/main" r:embed="R2c2a939ad5db42a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6524625"/>
            <a:ext cx="171450" cy="171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C97915-2421-4BE9-8E42-A27A1FEE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6562725"/>
            <a:ext cx="3238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LRWA / LIVE REAL-WORLD ASSURANCE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65AD5-2BDA-45ED-BF0F-D3E8660D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6562725"/>
            <a:ext cx="1714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PUBLIC DEMO DECK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E1904-FE54-4CF9-BE04-FCDF79FD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8001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3EF"/>
                </a:solidFill>
                <a:latin typeface="Arial"/>
                <a:ea typeface="Arial"/>
                <a:cs typeface="Arial"/>
              </a:rPr>
              <a:t>Prove one wedge before building the platform.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B6D44C-78EA-429A-B85F-8D289C7B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390650"/>
            <a:ext cx="704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89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A6A3A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6A3A0"/>
                </a:solidFill>
                <a:latin typeface="Arial"/>
                <a:ea typeface="Arial"/>
                <a:cs typeface="Arial"/>
              </a:rPr>
              <a:t>The next evidence must come from authorized real work, not a staged result.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D50837-83D7-4C33-91B7-DB91D9B8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8972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3333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54ACC6-A8D7-4DAE-BCB5-5E2B22E4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" y="22002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22"/>
          </a:solidFill>
          <a:ln xmlns:a="http://schemas.openxmlformats.org/drawingml/2006/main" w="28575">
            <a:solidFill>
              <a:srgbClr val="FF5B2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81FF39-89E2-418E-9CF4-D4157A6C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" y="256222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WORKING DEMO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60A159-0B10-4CB2-8500-F0970E69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" y="29432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COMPLETE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3118CE-DF78-4ADE-9B12-0922EE34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2375" y="22002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0D0F"/>
          </a:solidFill>
          <a:ln xmlns:a="http://schemas.openxmlformats.org/drawingml/2006/main" w="28575">
            <a:solidFill>
              <a:srgbClr val="33333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A3FD22-886B-4649-864D-9BD4A613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4700" y="256222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DESIGN PARTNER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8E1140-C3D6-4A49-B966-70FF7686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4700" y="29432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TARGET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9D430D-ED17-4926-9611-00CAA81FD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53225" y="22002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0D0F"/>
          </a:solidFill>
          <a:ln xmlns:a="http://schemas.openxmlformats.org/drawingml/2006/main" w="28575">
            <a:solidFill>
              <a:srgbClr val="33333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D13BDC-5975-408C-9B35-64217C10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5550" y="256222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PAID PILOT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C91256-3063-4A14-A4A0-EE4E41BB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5550" y="29432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CF483E-C97A-48BB-80E8-1BF9B1FE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44075" y="22002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0D0F"/>
          </a:solidFill>
          <a:ln xmlns:a="http://schemas.openxmlformats.org/drawingml/2006/main" w="28575">
            <a:solidFill>
              <a:srgbClr val="33333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66F379-5A46-4BFF-8300-C88CD092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96400" y="256222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4F3EF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4F3EF"/>
                </a:solidFill>
                <a:latin typeface="Courier New"/>
                <a:ea typeface="Courier New"/>
                <a:cs typeface="Courier New"/>
              </a:rPr>
              <a:t>REPEATABLE MISSION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58B0B9-2B65-44EB-9AFC-3EF5A65E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96400" y="29432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6D6B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6F6D6B"/>
                </a:solidFill>
                <a:latin typeface="Courier New"/>
                <a:ea typeface="Courier New"/>
                <a:cs typeface="Courier New"/>
              </a:rPr>
              <a:t>TARGET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DF8AE3-B4A7-404A-B082-9E16D71B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5623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WORKING TODAY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AF3DC7-AC9F-4246-B028-A7115B22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876675"/>
            <a:ext cx="49530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•  Running web + NestJS prototype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•  Four role routes with staged states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•  Manual receipt intake + SHA-256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•  Empty evidence locks conclusions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7405EF-ABAB-4189-AF0F-7C42641C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533775"/>
            <a:ext cx="0" cy="1809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333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4418BA-FFA4-47E0-A39F-A607AB3C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9850" y="35623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FF5B22"/>
                </a:solidFill>
                <a:latin typeface="Courier New"/>
                <a:ea typeface="Courier New"/>
                <a:cs typeface="Courier New"/>
              </a:rPr>
              <a:t>NEXT PROOF POINTS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CB3FBE-F0E6-4484-AD34-47BF5519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9850" y="3876675"/>
            <a:ext cx="516255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•  3 design partners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•  1 paid authorized pilot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•  Durable evidence store + authentication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4F3E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3EF"/>
                </a:solidFill>
                <a:latin typeface="Arial"/>
                <a:ea typeface="Arial"/>
                <a:cs typeface="Arial"/>
              </a:rPr>
              <a:t>•  1 licensed or customer-authorized connector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E0F188-E6B2-4354-A0E5-B48735A3F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572125"/>
            <a:ext cx="10972800" cy="638175"/>
          </a:xfrm>
          <a:prstGeom xmlns:a="http://schemas.openxmlformats.org/drawingml/2006/main" prst="roundRect">
            <a:avLst>
              <a:gd name="adj" fmla="val 14925"/>
            </a:avLst>
          </a:prstGeom>
          <a:solidFill xmlns:a="http://schemas.openxmlformats.org/drawingml/2006/main">
            <a:srgbClr val="FF5B22"/>
          </a:solidFill>
          <a:ln xmlns:a="http://schemas.openxmlformats.org/drawingml/2006/main" w="0">
            <a:solidFill>
              <a:srgbClr val="FF5B2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F5F280-9359-4996-B471-BAFB6EF7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5734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80809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080809"/>
                </a:solidFill>
                <a:latin typeface="Courier New"/>
                <a:ea typeface="Courier New"/>
                <a:cs typeface="Courier New"/>
              </a:rPr>
              <a:t>SEED ROUND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D39847-86FB-4BA4-B785-D2B95BC7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33650" y="5734050"/>
            <a:ext cx="3867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080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0809"/>
                </a:solidFill>
                <a:latin typeface="Arial"/>
                <a:ea typeface="Arial"/>
                <a:cs typeface="Arial"/>
              </a:rPr>
              <a:t>Terms and founder details shared privately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3EE6EA-79FD-4D67-823B-F5E48D54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56769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350" b="1">
                <a:solidFill>
                  <a:srgbClr val="08080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0809"/>
                </a:solidFill>
                <a:latin typeface="Arial"/>
                <a:ea typeface="Arial"/>
                <a:cs typeface="Arial"/>
              </a:rPr>
              <a:t>Help us test whether one verified contradiction changes a decision.</a:t>
            </a:r>
          </a:p>
        </p:txBody>
      </p:sp>
    </p:spTree>
    <p:extLst>
      <p:ext uri="{BB962C8B-B14F-4D97-AF65-F5344CB8AC3E}">
        <p14:creationId xmlns:p14="http://schemas.microsoft.com/office/powerpoint/2010/main" val="7169314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2026-07-27T04:36:44.9280000Z</dcterms:created>
  <dcterms:modified xsi:type="dcterms:W3CDTF">2026-07-27T04:36:44.9280000Z</dcterms:modified>
</coreProperties>
</file>