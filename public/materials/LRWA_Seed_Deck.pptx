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2eb702745e4f2d" /><Relationship Type="http://schemas.openxmlformats.org/officeDocument/2006/relationships/extended-properties" Target="/docProps/app.xml" Id="Re4e9d62862774d79" /><Relationship Type="http://schemas.openxmlformats.org/officeDocument/2006/relationships/officeDocument" Target="/ppt/presentation.xml" Id="Re84c7b249ab04776" /></Relationships>
</file>

<file path=ppt/presentation.xml><?xml version="1.0" encoding="utf-8"?>
<p:presentation xmlns:p="http://schemas.openxmlformats.org/presentationml/2006/main">
  <p:sldMasterIdLst>
    <p:sldMasterId xmlns:r="http://schemas.openxmlformats.org/officeDocument/2006/relationships" id="2147483648" r:id="Re33a4362675140db"/>
  </p:sldMasterIdLst>
  <p:notesMasterIdLst>
    <p:notesMasterId xmlns:r="http://schemas.openxmlformats.org/officeDocument/2006/relationships" r:id="Rcdae09e78ff14079"/>
  </p:notesMasterIdLst>
  <p:sldIdLst>
    <p:sldId xmlns:r="http://schemas.openxmlformats.org/officeDocument/2006/relationships" id="256" r:id="R829cc86e5a8b4b79"/>
    <p:sldId xmlns:r="http://schemas.openxmlformats.org/officeDocument/2006/relationships" id="257" r:id="Rc1eaad2819854f0e"/>
    <p:sldId xmlns:r="http://schemas.openxmlformats.org/officeDocument/2006/relationships" id="258" r:id="R7212dfae92c8498e"/>
    <p:sldId xmlns:r="http://schemas.openxmlformats.org/officeDocument/2006/relationships" id="259" r:id="Rae66e301a3e047b9"/>
    <p:sldId xmlns:r="http://schemas.openxmlformats.org/officeDocument/2006/relationships" id="260" r:id="Re1ffb3783c924683"/>
    <p:sldId xmlns:r="http://schemas.openxmlformats.org/officeDocument/2006/relationships" id="261" r:id="R2b223ba4f6b54ffb"/>
    <p:sldId xmlns:r="http://schemas.openxmlformats.org/officeDocument/2006/relationships" id="262" r:id="R4628a559de9f40f5"/>
    <p:sldId xmlns:r="http://schemas.openxmlformats.org/officeDocument/2006/relationships" id="263" r:id="R2be8f82db1804e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7d8aeb95a64a21" /><Relationship Type="http://schemas.openxmlformats.org/officeDocument/2006/relationships/slideMaster" Target="/ppt/slideMasters/slideMaster1.xml" Id="Re33a4362675140db" /><Relationship Type="http://schemas.openxmlformats.org/officeDocument/2006/relationships/notesMaster" Target="/ppt/notesMasters/notesMaster1.xml" Id="Rcdae09e78ff14079" /><Relationship Type="http://schemas.openxmlformats.org/officeDocument/2006/relationships/presProps" Target="/ppt/presProps.xml" Id="R87e1d69fea984452" /><Relationship Type="http://schemas.openxmlformats.org/officeDocument/2006/relationships/tableStyles" Target="/ppt/tableStyles.xml" Id="Ra825c5e2a6054628" /><Relationship Type="http://schemas.openxmlformats.org/officeDocument/2006/relationships/slide" Target="/ppt/slides/slide1.xml" Id="R829cc86e5a8b4b79" /><Relationship Type="http://schemas.openxmlformats.org/officeDocument/2006/relationships/slide" Target="/ppt/slides/slide2.xml" Id="Rc1eaad2819854f0e" /><Relationship Type="http://schemas.openxmlformats.org/officeDocument/2006/relationships/slide" Target="/ppt/slides/slide3.xml" Id="R7212dfae92c8498e" /><Relationship Type="http://schemas.openxmlformats.org/officeDocument/2006/relationships/slide" Target="/ppt/slides/slide4.xml" Id="Rae66e301a3e047b9" /><Relationship Type="http://schemas.openxmlformats.org/officeDocument/2006/relationships/slide" Target="/ppt/slides/slide5.xml" Id="Re1ffb3783c924683" /><Relationship Type="http://schemas.openxmlformats.org/officeDocument/2006/relationships/slide" Target="/ppt/slides/slide6.xml" Id="R2b223ba4f6b54ffb" /><Relationship Type="http://schemas.openxmlformats.org/officeDocument/2006/relationships/slide" Target="/ppt/slides/slide7.xml" Id="R4628a559de9f40f5" /><Relationship Type="http://schemas.openxmlformats.org/officeDocument/2006/relationships/slide" Target="/ppt/slides/slide8.xml" Id="R2be8f82db1804e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a4b2737ad84e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9f1ab126bb453b" /><Relationship Type="http://schemas.openxmlformats.org/officeDocument/2006/relationships/notesMaster" Target="/ppt/notesMasters/notesMaster1.xml" Id="Rcdf724ce2cc340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467ac5ef4d04a6a" /><Relationship Type="http://schemas.openxmlformats.org/officeDocument/2006/relationships/notesMaster" Target="/ppt/notesMasters/notesMaster1.xml" Id="Rb7a5762b9f694a4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8217e98eb440fd" /><Relationship Type="http://schemas.openxmlformats.org/officeDocument/2006/relationships/notesMaster" Target="/ppt/notesMasters/notesMaster1.xml" Id="Rbeb5a1af29be45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307ddf4d0a4aaf" /><Relationship Type="http://schemas.openxmlformats.org/officeDocument/2006/relationships/notesMaster" Target="/ppt/notesMasters/notesMaster1.xml" Id="R38fff31a61bd4c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da4822984ac34ed7" /><Relationship Type="http://schemas.openxmlformats.org/officeDocument/2006/relationships/notesMaster" Target="/ppt/notesMasters/notesMaster1.xml" Id="R0eb0e46239c143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7c43506d96461a" /><Relationship Type="http://schemas.openxmlformats.org/officeDocument/2006/relationships/notesMaster" Target="/ppt/notesMasters/notesMaster1.xml" Id="R0ec67b4c78cf4c26"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cb9ec36d334fd2" /><Relationship Type="http://schemas.openxmlformats.org/officeDocument/2006/relationships/notesMaster" Target="/ppt/notesMasters/notesMaster1.xml" Id="R516babfbc2a942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128c5320534174" /><Relationship Type="http://schemas.openxmlformats.org/officeDocument/2006/relationships/notesMaster" Target="/ppt/notesMasters/notesMaster1.xml" Id="Rf3faa9ed719d4b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investment starts with a story and a set of numbers. LRWA is built for the moment when a decision maker asks whether the reality outside the data room supports that story. We turn a commercial claim into a governed verification mission executed by a coordinated fleet of agents.</a:t>
            </a:r>
          </a:p>
          <a:p xmlns:a="http://schemas.openxmlformats.org/drawingml/2006/main">
            <a:r>
              <a:t/>
            </a:r>
          </a:p>
          <a:p xmlns:a="http://schemas.openxmlformats.org/drawingml/2006/main">
            <a:r>
              <a:t>[Sources]</a:t>
            </a:r>
          </a:p>
          <a:p xmlns:a="http://schemas.openxmlformats.org/drawingml/2006/main">
            <a:r>
              <a:t>- Internal brand asset: lrwa-agent-web/public/og.png</a:t>
            </a:r>
          </a:p>
          <a:p xmlns:a="http://schemas.openxmlformats.org/drawingml/2006/main">
            <a:r>
              <a:t>- Product positioning: outputs/PITCH_DECK_OUTLINE.md</a:t>
            </a:r>
          </a:p>
          <a:p xmlns:a="http://schemas.openxmlformats.org/drawingml/2006/main">
            <a:r>
              <a:t>- Founder and financing details intentionally omitted from this public deck.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financial model can test whether numbers are internally consistent. It cannot independently establish whether stores are operating, customers are buying, suppliers are replenishing, or field behavior matches management's narrative. Teams assemble those signals manually under deal pressure, and the reasoning is difficult to rerun when a new question appears.</a:t>
            </a:r>
          </a:p>
          <a:p xmlns:a="http://schemas.openxmlformats.org/drawingml/2006/main">
            <a:r>
              <a:t/>
            </a:r>
          </a:p>
          <a:p xmlns:a="http://schemas.openxmlformats.org/drawingml/2006/main">
            <a:r>
              <a:t>[Sources]</a:t>
            </a:r>
          </a:p>
          <a:p xmlns:a="http://schemas.openxmlformats.org/drawingml/2006/main">
            <a:r>
              <a:t>- Problem framing and claim discipline: outputs/PITCH_DECK_OUTLINE.md</a:t>
            </a:r>
          </a:p>
          <a:p xmlns:a="http://schemas.openxmlformats.org/drawingml/2006/main">
            <a:r>
              <a:t>- No market-size, time-saved, or cost-saved statistics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LRWA compiles four declared operating metrics into 1,024 bounded probes across five independent evidence families. Specialist agents execute those tasks in an approved synthetic environment. The system records provenance, exposes uncertainty, and asks a human before the Skeptic's 20% corporate-order hypothesis changes the replay. The result remains unsupported after the gap narrows from 42.3% to 27.9%.</a:t>
            </a:r>
          </a:p>
          <a:p xmlns:a="http://schemas.openxmlformats.org/drawingml/2006/main">
            <a:r>
              <a:t/>
            </a:r>
          </a:p>
          <a:p xmlns:a="http://schemas.openxmlformats.org/drawingml/2006/main">
            <a:r>
              <a:t>[Sources]</a:t>
            </a:r>
          </a:p>
          <a:p xmlns:a="http://schemas.openxmlformats.org/drawingml/2006/main">
            <a:r>
              <a:t>- Canonical metrics: outputs/PITCH_DECK_OUTLINE.md</a:t>
            </a:r>
          </a:p>
          <a:p xmlns:a="http://schemas.openxmlformats.org/drawingml/2006/main">
            <a:r>
              <a:t>- Working product screenshots: lrwa-agent-video/public/screens/plan.png, live-final.png, findings.png</a:t>
            </a:r>
          </a:p>
          <a:p xmlns:a="http://schemas.openxmlformats.org/drawingml/2006/main">
            <a:r>
              <a:t>- All displayed Morrow Coffee data is synthetic and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is not the moat. The compounding layer is the system that maps a business claim into a valid sampling plan, preserves methodology and content hashes, and calibrates conclusions across independent evidence families. In the shipped synthetic case, the Skeptic proposes one falsifiable missing channel and a human must approve the deterministic replay.</a:t>
            </a:r>
          </a:p>
          <a:p xmlns:a="http://schemas.openxmlformats.org/drawingml/2006/main">
            <a:r>
              <a:t/>
            </a:r>
          </a:p>
          <a:p xmlns:a="http://schemas.openxmlformats.org/drawingml/2006/main">
            <a:r>
              <a:t>[Sources]</a:t>
            </a:r>
          </a:p>
          <a:p xmlns:a="http://schemas.openxmlformats.org/drawingml/2006/main">
            <a:r>
              <a:t>- System description and five evidence families: outputs/PITCH_DECK_OUTLINE.md</a:t>
            </a:r>
          </a:p>
          <a:p xmlns:a="http://schemas.openxmlformats.org/drawingml/2006/main">
            <a:r>
              <a:t>- Replay screenshot: lrwa-agent-video/public/screens/replay.png</a:t>
            </a:r>
          </a:p>
          <a:p xmlns:a="http://schemas.openxmlformats.org/drawingml/2006/main">
            <a:r>
              <a:t>- Backend behavior and audit events: lrwa-agent source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wedge is not a universal market-intelligence platform. It is one material operating claim in one deal, starting with location-based or omnichannel businesses. A fund can be the buyer for the first mission and the distribution channel into portfolio companies. This creates repeated questions and a path to recurring workflows without claiming customers or revenue before they exist.</a:t>
            </a:r>
          </a:p>
          <a:p xmlns:a="http://schemas.openxmlformats.org/drawingml/2006/main">
            <a:r>
              <a:t/>
            </a:r>
          </a:p>
          <a:p xmlns:a="http://schemas.openxmlformats.org/drawingml/2006/main">
            <a:r>
              <a:t>[Sources]</a:t>
            </a:r>
          </a:p>
          <a:p xmlns:a="http://schemas.openxmlformats.org/drawingml/2006/main">
            <a:r>
              <a:t>- Initial wedge and target milestones: outputs/PITCH_DECK_OUTLINE.md</a:t>
            </a:r>
          </a:p>
          <a:p xmlns:a="http://schemas.openxmlformats.org/drawingml/2006/main">
            <a:r>
              <a:t>- Action queue screenshot: lrwa-agent-video/public/screens/actions.png</a:t>
            </a:r>
          </a:p>
          <a:p xmlns:a="http://schemas.openxmlformats.org/drawingml/2006/main">
            <a:r>
              <a:t>- Design partner, paid mission, and portfolio expansion are go-to-market targets, not current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LRWA sits between a material claim and the next decision. Its unit of work is a verification mission with a declared policy, evidence lineage, counterevidence search, and a rerunnable result. Commercial verification infrastructure remains a positioning hypothesis until customers repeat the language.</a:t>
            </a:r>
          </a:p>
          <a:p xmlns:a="http://schemas.openxmlformats.org/drawingml/2006/main">
            <a:r>
              <a:t/>
            </a:r>
          </a:p>
          <a:p xmlns:a="http://schemas.openxmlformats.org/drawingml/2006/main">
            <a:r>
              <a:t>[Sources]</a:t>
            </a:r>
          </a:p>
          <a:p xmlns:a="http://schemas.openxmlformats.org/drawingml/2006/main">
            <a:r>
              <a:t>- Category framing and claim discipline: outputs/PITCH_DECK_OUTLINE.md</a:t>
            </a:r>
          </a:p>
          <a:p xmlns:a="http://schemas.openxmlformats.org/drawingml/2006/main">
            <a:r>
              <a:t>- Current LRWA workflow capability: lrwa-agent and lrwa-agent-web source repositories.</a:t>
            </a:r>
          </a:p>
          <a:p xmlns:a="http://schemas.openxmlformats.org/drawingml/2006/main">
            <a:r>
              <a:t>- No competitor exclusivity or market-size claim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a high-value business-to-business mission where the buyer has a clear decision and an explicit budget. Repeated missions can become a portfolio subscription. Licensed data and authorized connectors increase coverage. The same claim-to-mission engine can later support a merchant deciding where to open, but that is an expansion path, not the initial product.</a:t>
            </a:r>
          </a:p>
          <a:p xmlns:a="http://schemas.openxmlformats.org/drawingml/2006/main">
            <a:r>
              <a:t/>
            </a:r>
          </a:p>
          <a:p xmlns:a="http://schemas.openxmlformats.org/drawingml/2006/main">
            <a:r>
              <a:t>[Sources]</a:t>
            </a:r>
          </a:p>
          <a:p xmlns:a="http://schemas.openxmlformats.org/drawingml/2006/main">
            <a:r>
              <a:t>- Business-model and expansion hypotheses: outputs/PITCH_DECK_OUTLINE.md</a:t>
            </a:r>
          </a:p>
          <a:p xmlns:a="http://schemas.openxmlformats.org/drawingml/2006/main">
            <a:r>
              <a:t>- Responsive product screenshot: lrwa-agent-video/public/screens/mobile-plan.png</a:t>
            </a:r>
          </a:p>
          <a:p xmlns:a="http://schemas.openxmlformats.org/drawingml/2006/main">
            <a:r>
              <a:t>- No pricing, recurring revenue, or customer renewal claim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not asking investors to underwrite a universal intelligence platform today. The seed proof is narrower: can LRWA find a material contradiction, show the evidence path, and direct a better next diligence action in one vertical? The round funds product, authorized data access, pilot delivery, and compliance. Exact terms and founder identity are intentionally reserved for private diligence.</a:t>
            </a:r>
          </a:p>
          <a:p xmlns:a="http://schemas.openxmlformats.org/drawingml/2006/main">
            <a:r>
              <a:t/>
            </a:r>
          </a:p>
          <a:p xmlns:a="http://schemas.openxmlformats.org/drawingml/2006/main">
            <a:r>
              <a:t>[Sources]</a:t>
            </a:r>
          </a:p>
          <a:p xmlns:a="http://schemas.openxmlformats.org/drawingml/2006/main">
            <a:r>
              <a:t>- Current demo capabilities and target proof points: outputs/PITCH_DECK_OUTLINE.md</a:t>
            </a:r>
          </a:p>
          <a:p xmlns:a="http://schemas.openxmlformats.org/drawingml/2006/main">
            <a:r>
              <a:t>- Canonical synthetic case metrics: outputs/OPENARENA_SUBMISSION.md</a:t>
            </a:r>
          </a:p>
          <a:p xmlns:a="http://schemas.openxmlformats.org/drawingml/2006/main">
            <a:r>
              <a:t>- Design partners, paid pilot, and connector are target milestones, not current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0898c3767040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3bdc6621004866" /><Relationship Type="http://schemas.openxmlformats.org/officeDocument/2006/relationships/slideLayout" Target="/ppt/slideLayouts/slideLayout1.xml" Id="Rcad7a04393bf44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d7a04393bf44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cb38a073b84b35" /><Relationship Type="http://schemas.openxmlformats.org/officeDocument/2006/relationships/image" Target="/ppt/media/image.png" Id="R8a66335ade7f48c2" /><Relationship Type="http://schemas.openxmlformats.org/officeDocument/2006/relationships/notesSlide" Target="/ppt/notesSlides/notesSlide1.xml" Id="R52c30a9f6d244e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3fca0b50074453" /><Relationship Type="http://schemas.openxmlformats.org/officeDocument/2006/relationships/notesSlide" Target="/ppt/notesSlides/notesSlide2.xml" Id="R5b94b087c1fc47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5742f796474ae9" /><Relationship Type="http://schemas.openxmlformats.org/officeDocument/2006/relationships/image" Target="/ppt/media/image.jpeg" Id="Ref6a03314217434d" /><Relationship Type="http://schemas.openxmlformats.org/officeDocument/2006/relationships/image" Target="/ppt/media/image2.jpeg" Id="Rc412ae8a333b4968" /><Relationship Type="http://schemas.openxmlformats.org/officeDocument/2006/relationships/image" Target="/ppt/media/image3.jpeg" Id="Ra96c2389d5b64882" /><Relationship Type="http://schemas.openxmlformats.org/officeDocument/2006/relationships/notesSlide" Target="/ppt/notesSlides/notesSlide3.xml" Id="R78c27f77466e45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16d45c8498c4d1f" /><Relationship Type="http://schemas.openxmlformats.org/officeDocument/2006/relationships/image" Target="/ppt/media/image4.jpeg" Id="R8a1686527da149e2" /><Relationship Type="http://schemas.openxmlformats.org/officeDocument/2006/relationships/notesSlide" Target="/ppt/notesSlides/notesSlide4.xml" Id="R9ef91abbc61947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0716fa671d741bf" /><Relationship Type="http://schemas.openxmlformats.org/officeDocument/2006/relationships/image" Target="/ppt/media/image5.jpeg" Id="Rb0792f203c85452e" /><Relationship Type="http://schemas.openxmlformats.org/officeDocument/2006/relationships/notesSlide" Target="/ppt/notesSlides/notesSlide5.xml" Id="Ra6a9a6fb966d4b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21b1a2833441fa" /><Relationship Type="http://schemas.openxmlformats.org/officeDocument/2006/relationships/notesSlide" Target="/ppt/notesSlides/notesSlide6.xml" Id="Ref8d5c26898740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5ddf93a373c4ead" /><Relationship Type="http://schemas.openxmlformats.org/officeDocument/2006/relationships/image" Target="/ppt/media/image6.jpeg" Id="R4b54d8c25be04bee" /><Relationship Type="http://schemas.openxmlformats.org/officeDocument/2006/relationships/notesSlide" Target="/ppt/notesSlides/notesSlide7.xml" Id="R69ec34c8128b43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c489af7e84948cb" /><Relationship Type="http://schemas.openxmlformats.org/officeDocument/2006/relationships/notesSlide" Target="/ppt/notesSlides/notesSlide8.xml" Id="Ree03526a9f494b8d" /></Relationships>
</file>

<file path=ppt/slides/slide1.xml><?xml version="1.0" encoding="utf-8"?>
<p:sld xmlns:p="http://schemas.openxmlformats.org/presentationml/2006/main">
  <p:cSld>
    <p:bg>
      <p:bgPr>
        <a:solidFill xmlns:a="http://schemas.openxmlformats.org/drawingml/2006/main">
          <a:srgbClr val="080809"/>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a66335ade7f48c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342FC43-CEAB-4795-8A58-7E8E81B96846}"/>
              </a:ext>
            </a:extLst>
          </p:cNvPr>
          <p:cNvSpPr>
            <a:spLocks xmlns:a="http://schemas.openxmlformats.org/drawingml/2006/main" noGrp="1"/>
          </p:cNvSpPr>
          <p:nvPr/>
        </p:nvSpPr>
        <p:spPr>
          <a:xfrm xmlns:a="http://schemas.openxmlformats.org/drawingml/2006/main" rot="0">
            <a:off x="0" y="0"/>
            <a:ext cx="7239000" cy="6858000"/>
          </a:xfrm>
          <a:prstGeom xmlns:a="http://schemas.openxmlformats.org/drawingml/2006/main" prst="rect">
            <a:avLst/>
          </a:prstGeom>
          <a:gradFill xmlns:a="http://schemas.openxmlformats.org/drawingml/2006/main">
            <a:gsLst>
              <a:gs pos="0">
                <a:srgbClr val="080809"/>
              </a:gs>
              <a:gs pos="78000">
                <a:srgbClr val="080809">
                  <a:alpha val="90000"/>
                </a:srgbClr>
              </a:gs>
              <a:gs pos="100000">
                <a:srgbClr val="080809">
                  <a:alpha val="5000"/>
                </a:srgbClr>
              </a:gs>
            </a:gsLst>
            <a:lin ang="0"/>
          </a:gra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3380293-04CE-4F5D-ACD8-B15DDF8413BB}"/>
              </a:ext>
            </a:extLst>
          </p:cNvPr>
          <p:cNvSpPr>
            <a:spLocks xmlns:a="http://schemas.openxmlformats.org/drawingml/2006/main" noGrp="1"/>
          </p:cNvSpPr>
          <p:nvPr/>
        </p:nvSpPr>
        <p:spPr>
          <a:xfrm xmlns:a="http://schemas.openxmlformats.org/drawingml/2006/main" rot="0">
            <a:off x="647700" y="5429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4" name="">
            <a:extLst xmlns:a="http://schemas.openxmlformats.org/drawingml/2006/main">
              <a:ext uri="{FF2B5EF4-FFF2-40B4-BE49-F238E27FC236}">
                <a16:creationId xmlns:a16="http://schemas.microsoft.com/office/drawing/2014/main" id="{ED19A04E-82D7-48AE-98BB-C67FF210863C}"/>
              </a:ext>
            </a:extLst>
          </p:cNvPr>
          <p:cNvSpPr>
            <a:spLocks xmlns:a="http://schemas.openxmlformats.org/drawingml/2006/main" noGrp="1"/>
          </p:cNvSpPr>
          <p:nvPr/>
        </p:nvSpPr>
        <p:spPr>
          <a:xfrm xmlns:a="http://schemas.openxmlformats.org/drawingml/2006/main" rot="0">
            <a:off x="819150" y="5143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LIVE REAL-WORLD ASSURANCE</a:t>
            </a:r>
          </a:p>
        </p:txBody>
      </p:sp>
      <p:sp>
        <p:nvSpPr>
          <p:cNvPr id="5" name="">
            <a:extLst xmlns:a="http://schemas.openxmlformats.org/drawingml/2006/main">
              <a:ext uri="{FF2B5EF4-FFF2-40B4-BE49-F238E27FC236}">
                <a16:creationId xmlns:a16="http://schemas.microsoft.com/office/drawing/2014/main" id="{1C7D768D-F9DD-43AF-B9D5-B0B009F841FD}"/>
              </a:ext>
            </a:extLst>
          </p:cNvPr>
          <p:cNvSpPr>
            <a:spLocks xmlns:a="http://schemas.openxmlformats.org/drawingml/2006/main" noGrp="1"/>
          </p:cNvSpPr>
          <p:nvPr/>
        </p:nvSpPr>
        <p:spPr>
          <a:xfrm xmlns:a="http://schemas.openxmlformats.org/drawingml/2006/main" rot="0">
            <a:off x="647700" y="1200150"/>
            <a:ext cx="3619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6150" b="1">
                <a:solidFill>
                  <a:srgbClr val="F4F3EF"/>
                </a:solidFill>
                <a:latin typeface="Arial"/>
                <a:ea typeface="Arial"/>
                <a:cs typeface="Arial"/>
              </a:defRPr>
            </a:pPr>
            <a:r>
              <a:rPr sz="6150" b="1">
                <a:solidFill>
                  <a:srgbClr val="F4F3EF"/>
                </a:solidFill>
                <a:latin typeface="Arial"/>
                <a:ea typeface="Arial"/>
                <a:cs typeface="Arial"/>
              </a:rPr>
              <a:t>LRWA</a:t>
            </a:r>
          </a:p>
        </p:txBody>
      </p:sp>
      <p:sp>
        <p:nvSpPr>
          <p:cNvPr id="6" name="">
            <a:extLst xmlns:a="http://schemas.openxmlformats.org/drawingml/2006/main">
              <a:ext uri="{FF2B5EF4-FFF2-40B4-BE49-F238E27FC236}">
                <a16:creationId xmlns:a16="http://schemas.microsoft.com/office/drawing/2014/main" id="{0905FE68-4C8F-4987-BB0A-1E8944C4E9D1}"/>
              </a:ext>
            </a:extLst>
          </p:cNvPr>
          <p:cNvSpPr>
            <a:spLocks xmlns:a="http://schemas.openxmlformats.org/drawingml/2006/main" noGrp="1"/>
          </p:cNvSpPr>
          <p:nvPr/>
        </p:nvSpPr>
        <p:spPr>
          <a:xfrm xmlns:a="http://schemas.openxmlformats.org/drawingml/2006/main" rot="0">
            <a:off x="647700" y="2162175"/>
            <a:ext cx="56197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4050" b="1">
                <a:solidFill>
                  <a:srgbClr val="F4F3EF"/>
                </a:solidFill>
                <a:latin typeface="Arial"/>
                <a:ea typeface="Arial"/>
                <a:cs typeface="Arial"/>
              </a:defRPr>
            </a:pPr>
            <a:r>
              <a:rPr sz="4050" b="1">
                <a:solidFill>
                  <a:srgbClr val="F4F3EF"/>
                </a:solidFill>
                <a:latin typeface="Arial"/>
                <a:ea typeface="Arial"/>
                <a:cs typeface="Arial"/>
              </a:rPr>
              <a:t>Test the world behind</a:t>
            </a:r>
          </a:p>
          <a:p xmlns:a="http://schemas.openxmlformats.org/drawingml/2006/main">
            <a:pPr algn="l">
              <a:lnSpc>
                <a:spcPct val="90000"/>
              </a:lnSpc>
              <a:buNone/>
              <a:defRPr sz="4050" b="1">
                <a:solidFill>
                  <a:srgbClr val="F4F3EF"/>
                </a:solidFill>
                <a:latin typeface="Arial"/>
                <a:ea typeface="Arial"/>
                <a:cs typeface="Arial"/>
              </a:defRPr>
            </a:pPr>
            <a:r>
              <a:rPr sz="4050" b="1">
                <a:solidFill>
                  <a:srgbClr val="F4F3EF"/>
                </a:solidFill>
                <a:latin typeface="Arial"/>
                <a:ea typeface="Arial"/>
                <a:cs typeface="Arial"/>
              </a:rPr>
              <a:t>the spreadsheet.</a:t>
            </a:r>
          </a:p>
        </p:txBody>
      </p:sp>
      <p:sp>
        <p:nvSpPr>
          <p:cNvPr id="7" name="">
            <a:extLst xmlns:a="http://schemas.openxmlformats.org/drawingml/2006/main">
              <a:ext uri="{FF2B5EF4-FFF2-40B4-BE49-F238E27FC236}">
                <a16:creationId xmlns:a16="http://schemas.microsoft.com/office/drawing/2014/main" id="{E9EA64E3-4E96-4269-BB99-9306AF20CCF7}"/>
              </a:ext>
            </a:extLst>
          </p:cNvPr>
          <p:cNvSpPr>
            <a:spLocks xmlns:a="http://schemas.openxmlformats.org/drawingml/2006/main" noGrp="1"/>
          </p:cNvSpPr>
          <p:nvPr/>
        </p:nvSpPr>
        <p:spPr>
          <a:xfrm xmlns:a="http://schemas.openxmlformats.org/drawingml/2006/main" rot="0">
            <a:off x="666750" y="3838575"/>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A6A3A0"/>
                </a:solidFill>
                <a:latin typeface="Arial"/>
                <a:ea typeface="Arial"/>
                <a:cs typeface="Arial"/>
              </a:defRPr>
            </a:pPr>
            <a:r>
              <a:rPr sz="1875" b="0">
                <a:solidFill>
                  <a:srgbClr val="A6A3A0"/>
                </a:solidFill>
                <a:latin typeface="Arial"/>
                <a:ea typeface="Arial"/>
                <a:cs typeface="Arial"/>
              </a:rPr>
              <a:t>Multi-agent commercial verification</a:t>
            </a:r>
          </a:p>
        </p:txBody>
      </p:sp>
      <p:sp>
        <p:nvSpPr>
          <p:cNvPr id="8" name="">
            <a:extLst xmlns:a="http://schemas.openxmlformats.org/drawingml/2006/main">
              <a:ext uri="{FF2B5EF4-FFF2-40B4-BE49-F238E27FC236}">
                <a16:creationId xmlns:a16="http://schemas.microsoft.com/office/drawing/2014/main" id="{54C002A2-86AC-4C07-B88E-C23EF76958A7}"/>
              </a:ext>
            </a:extLst>
          </p:cNvPr>
          <p:cNvSpPr>
            <a:spLocks xmlns:a="http://schemas.openxmlformats.org/drawingml/2006/main" noGrp="1"/>
          </p:cNvSpPr>
          <p:nvPr/>
        </p:nvSpPr>
        <p:spPr>
          <a:xfrm xmlns:a="http://schemas.openxmlformats.org/drawingml/2006/main">
            <a:off x="666750" y="4476750"/>
            <a:ext cx="4476750" cy="0"/>
          </a:xfrm>
          <a:prstGeom xmlns:a="http://schemas.openxmlformats.org/drawingml/2006/main" prst="line">
            <a:avLst/>
          </a:prstGeom>
          <a:noFill xmlns:a="http://schemas.openxmlformats.org/drawingml/2006/main"/>
          <a:ln xmlns:a="http://schemas.openxmlformats.org/drawingml/2006/main" w="28575">
            <a:solidFill>
              <a:srgbClr val="FF5B22"/>
            </a:solidFill>
            <a:prstDash val="solid"/>
          </a:ln>
        </p:spPr>
      </p:sp>
      <p:sp>
        <p:nvSpPr>
          <p:cNvPr id="9" name="">
            <a:extLst xmlns:a="http://schemas.openxmlformats.org/drawingml/2006/main">
              <a:ext uri="{FF2B5EF4-FFF2-40B4-BE49-F238E27FC236}">
                <a16:creationId xmlns:a16="http://schemas.microsoft.com/office/drawing/2014/main" id="{6F679558-6054-45A3-B11D-72EA74E37AAC}"/>
              </a:ext>
            </a:extLst>
          </p:cNvPr>
          <p:cNvSpPr>
            <a:spLocks xmlns:a="http://schemas.openxmlformats.org/drawingml/2006/main" noGrp="1"/>
          </p:cNvSpPr>
          <p:nvPr/>
        </p:nvSpPr>
        <p:spPr>
          <a:xfrm xmlns:a="http://schemas.openxmlformats.org/drawingml/2006/main" rot="0">
            <a:off x="666750" y="472440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a:solidFill>
                  <a:srgbClr val="FF8A55"/>
                </a:solidFill>
                <a:latin typeface="Courier New"/>
                <a:ea typeface="Courier New"/>
                <a:cs typeface="Courier New"/>
              </a:defRPr>
            </a:pPr>
            <a:r>
              <a:rPr sz="1125" b="1">
                <a:solidFill>
                  <a:srgbClr val="FF8A55"/>
                </a:solidFill>
                <a:latin typeface="Courier New"/>
                <a:ea typeface="Courier New"/>
                <a:cs typeface="Courier New"/>
              </a:rPr>
              <a:t>SEED  |  OPENARENA  |  PUBLIC DEMO</a:t>
            </a:r>
          </a:p>
        </p:txBody>
      </p:sp>
      <p:sp>
        <p:nvSpPr>
          <p:cNvPr id="10" name="">
            <a:extLst xmlns:a="http://schemas.openxmlformats.org/drawingml/2006/main">
              <a:ext uri="{FF2B5EF4-FFF2-40B4-BE49-F238E27FC236}">
                <a16:creationId xmlns:a16="http://schemas.microsoft.com/office/drawing/2014/main" id="{067C3EF2-2EE8-4A97-9914-DB0D734DFC66}"/>
              </a:ext>
            </a:extLst>
          </p:cNvPr>
          <p:cNvSpPr>
            <a:spLocks xmlns:a="http://schemas.openxmlformats.org/drawingml/2006/main" noGrp="1"/>
          </p:cNvSpPr>
          <p:nvPr/>
        </p:nvSpPr>
        <p:spPr>
          <a:xfrm xmlns:a="http://schemas.openxmlformats.org/drawingml/2006/main" rot="0">
            <a:off x="666750" y="6115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a:solidFill>
                  <a:srgbClr val="6F6D6B"/>
                </a:solidFill>
                <a:latin typeface="Arial"/>
                <a:ea typeface="Arial"/>
                <a:cs typeface="Arial"/>
              </a:defRPr>
            </a:pPr>
            <a:r>
              <a:rPr sz="1200" b="0">
                <a:solidFill>
                  <a:srgbClr val="6F6D6B"/>
                </a:solidFill>
                <a:latin typeface="Arial"/>
                <a:ea typeface="Arial"/>
                <a:cs typeface="Arial"/>
              </a:rPr>
              <a:t>Founder and financing details shared in private diligence.</a:t>
            </a:r>
          </a:p>
        </p:txBody>
      </p:sp>
    </p:spTree>
    <p:extLst>
      <p:ext uri="{BB962C8B-B14F-4D97-AF65-F5344CB8AC3E}">
        <p14:creationId xmlns:p14="http://schemas.microsoft.com/office/powerpoint/2010/main" val="25056797"/>
      </p:ext>
    </p:extLst>
  </p:cSld>
</p:sld>
</file>

<file path=ppt/slides/slide2.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1220DD2-BD79-4426-89F1-E3DA76B577D8}"/>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06E6B4B1-DBBC-4AC6-8971-B0C1CBC19019}"/>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THE DECISION GAP</a:t>
            </a:r>
          </a:p>
        </p:txBody>
      </p:sp>
      <p:sp>
        <p:nvSpPr>
          <p:cNvPr id="3" name="">
            <a:extLst xmlns:a="http://schemas.openxmlformats.org/drawingml/2006/main">
              <a:ext uri="{FF2B5EF4-FFF2-40B4-BE49-F238E27FC236}">
                <a16:creationId xmlns:a16="http://schemas.microsoft.com/office/drawing/2014/main" id="{0DF82DD8-2144-484A-B35C-5386366678BF}"/>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02 / 08</a:t>
            </a:r>
          </a:p>
        </p:txBody>
      </p:sp>
      <p:sp>
        <p:nvSpPr>
          <p:cNvPr id="4" name="">
            <a:extLst xmlns:a="http://schemas.openxmlformats.org/drawingml/2006/main">
              <a:ext uri="{FF2B5EF4-FFF2-40B4-BE49-F238E27FC236}">
                <a16:creationId xmlns:a16="http://schemas.microsoft.com/office/drawing/2014/main" id="{54FD3278-BA8A-4E7C-9C4B-D9A2783A89E7}"/>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5731C8EA-7536-48FC-A266-806FD932E3BC}"/>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EBF96CA8-7172-4BEA-B4A3-DCFB7A59B11B}"/>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5CC86299-EF12-4222-9CCB-62652D5F4928}"/>
              </a:ext>
            </a:extLst>
          </p:cNvPr>
          <p:cNvSpPr>
            <a:spLocks xmlns:a="http://schemas.openxmlformats.org/drawingml/2006/main" noGrp="1"/>
          </p:cNvSpPr>
          <p:nvPr/>
        </p:nvSpPr>
        <p:spPr>
          <a:xfrm xmlns:a="http://schemas.openxmlformats.org/drawingml/2006/main" rot="0">
            <a:off x="609600" y="876300"/>
            <a:ext cx="58102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29"/>
          </a:bodyPr>
          <a:lstStyle xmlns:a="http://schemas.openxmlformats.org/drawingml/2006/main"/>
          <a:p xmlns:a="http://schemas.openxmlformats.org/drawingml/2006/main">
            <a:pPr algn="l">
              <a:lnSpc>
                <a:spcPct val="92000"/>
              </a:lnSpc>
              <a:buNone/>
              <a:defRPr sz="3750" b="1">
                <a:solidFill>
                  <a:srgbClr val="F4F3EF"/>
                </a:solidFill>
                <a:latin typeface="Arial"/>
                <a:ea typeface="Arial"/>
                <a:cs typeface="Arial"/>
              </a:defRPr>
            </a:pPr>
            <a:r>
              <a:rPr sz="3750" b="1">
                <a:solidFill>
                  <a:srgbClr val="F4F3EF"/>
                </a:solidFill>
                <a:latin typeface="Arial"/>
                <a:ea typeface="Arial"/>
                <a:cs typeface="Arial"/>
              </a:rPr>
              <a:t>The data room is the claim.</a:t>
            </a:r>
          </a:p>
          <a:p xmlns:a="http://schemas.openxmlformats.org/drawingml/2006/main">
            <a:pPr algn="l">
              <a:lnSpc>
                <a:spcPct val="92000"/>
              </a:lnSpc>
              <a:buNone/>
              <a:defRPr sz="3750" b="1">
                <a:solidFill>
                  <a:srgbClr val="F4F3EF"/>
                </a:solidFill>
                <a:latin typeface="Arial"/>
                <a:ea typeface="Arial"/>
                <a:cs typeface="Arial"/>
              </a:defRPr>
            </a:pPr>
            <a:r>
              <a:rPr sz="3750" b="1">
                <a:solidFill>
                  <a:srgbClr val="F4F3EF"/>
                </a:solidFill>
                <a:latin typeface="Arial"/>
                <a:ea typeface="Arial"/>
                <a:cs typeface="Arial"/>
              </a:rPr>
              <a:t>It is not the proof.</a:t>
            </a:r>
          </a:p>
        </p:txBody>
      </p:sp>
      <p:sp>
        <p:nvSpPr>
          <p:cNvPr id="8" name="">
            <a:extLst xmlns:a="http://schemas.openxmlformats.org/drawingml/2006/main">
              <a:ext uri="{FF2B5EF4-FFF2-40B4-BE49-F238E27FC236}">
                <a16:creationId xmlns:a16="http://schemas.microsoft.com/office/drawing/2014/main" id="{B84D0BB3-B65E-4D3D-A7E7-3CE94A8A6B2B}"/>
              </a:ext>
            </a:extLst>
          </p:cNvPr>
          <p:cNvSpPr>
            <a:spLocks xmlns:a="http://schemas.openxmlformats.org/drawingml/2006/main" noGrp="1"/>
          </p:cNvSpPr>
          <p:nvPr/>
        </p:nvSpPr>
        <p:spPr>
          <a:xfrm xmlns:a="http://schemas.openxmlformats.org/drawingml/2006/main" rot="0">
            <a:off x="609600" y="2276475"/>
            <a:ext cx="5334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275"/>
          </a:bodyPr>
          <a:lstStyle xmlns:a="http://schemas.openxmlformats.org/drawingml/2006/main"/>
          <a:p xmlns:a="http://schemas.openxmlformats.org/drawingml/2006/main">
            <a:pPr algn="l">
              <a:lnSpc>
                <a:spcPct val="108000"/>
              </a:lnSpc>
              <a:buNone/>
              <a:defRPr sz="1650" b="0">
                <a:solidFill>
                  <a:srgbClr val="A6A3A0"/>
                </a:solidFill>
                <a:latin typeface="Arial"/>
                <a:ea typeface="Arial"/>
                <a:cs typeface="Arial"/>
              </a:defRPr>
            </a:pPr>
            <a:r>
              <a:rPr sz="1650" b="0">
                <a:solidFill>
                  <a:srgbClr val="A6A3A0"/>
                </a:solidFill>
                <a:latin typeface="Arial"/>
                <a:ea typeface="Arial"/>
                <a:cs typeface="Arial"/>
              </a:rPr>
              <a:t>A model can test internal consistency. It cannot independently establish whether operations match the narrative.</a:t>
            </a:r>
          </a:p>
        </p:txBody>
      </p:sp>
      <p:sp>
        <p:nvSpPr>
          <p:cNvPr id="9" name="">
            <a:extLst xmlns:a="http://schemas.openxmlformats.org/drawingml/2006/main">
              <a:ext uri="{FF2B5EF4-FFF2-40B4-BE49-F238E27FC236}">
                <a16:creationId xmlns:a16="http://schemas.microsoft.com/office/drawing/2014/main" id="{888CD4F8-9E1A-41E3-B68B-988BD3D3E3C0}"/>
              </a:ext>
            </a:extLst>
          </p:cNvPr>
          <p:cNvSpPr>
            <a:spLocks xmlns:a="http://schemas.openxmlformats.org/drawingml/2006/main" noGrp="1"/>
          </p:cNvSpPr>
          <p:nvPr/>
        </p:nvSpPr>
        <p:spPr>
          <a:xfrm xmlns:a="http://schemas.openxmlformats.org/drawingml/2006/main">
            <a:off x="6705600" y="1066800"/>
            <a:ext cx="0" cy="409575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10" name="">
            <a:extLst xmlns:a="http://schemas.openxmlformats.org/drawingml/2006/main">
              <a:ext uri="{FF2B5EF4-FFF2-40B4-BE49-F238E27FC236}">
                <a16:creationId xmlns:a16="http://schemas.microsoft.com/office/drawing/2014/main" id="{9828B2EC-D2FA-43CB-8D62-BCC61A974F51}"/>
              </a:ext>
            </a:extLst>
          </p:cNvPr>
          <p:cNvSpPr>
            <a:spLocks xmlns:a="http://schemas.openxmlformats.org/drawingml/2006/main" noGrp="1"/>
          </p:cNvSpPr>
          <p:nvPr/>
        </p:nvSpPr>
        <p:spPr>
          <a:xfrm xmlns:a="http://schemas.openxmlformats.org/drawingml/2006/main" rot="0">
            <a:off x="7124700" y="97155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DECISION TEAMS STILL RECONCILE</a:t>
            </a:r>
          </a:p>
        </p:txBody>
      </p:sp>
      <p:sp>
        <p:nvSpPr>
          <p:cNvPr id="11" name="">
            <a:extLst xmlns:a="http://schemas.openxmlformats.org/drawingml/2006/main">
              <a:ext uri="{FF2B5EF4-FFF2-40B4-BE49-F238E27FC236}">
                <a16:creationId xmlns:a16="http://schemas.microsoft.com/office/drawing/2014/main" id="{3CEA09B4-F985-4DF2-AB73-71D230E51CB9}"/>
              </a:ext>
            </a:extLst>
          </p:cNvPr>
          <p:cNvSpPr>
            <a:spLocks xmlns:a="http://schemas.openxmlformats.org/drawingml/2006/main" noGrp="1"/>
          </p:cNvSpPr>
          <p:nvPr/>
        </p:nvSpPr>
        <p:spPr>
          <a:xfrm xmlns:a="http://schemas.openxmlformats.org/drawingml/2006/main" rot="0">
            <a:off x="7124700" y="14382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01</a:t>
            </a:r>
          </a:p>
        </p:txBody>
      </p:sp>
      <p:sp>
        <p:nvSpPr>
          <p:cNvPr id="12" name="">
            <a:extLst xmlns:a="http://schemas.openxmlformats.org/drawingml/2006/main">
              <a:ext uri="{FF2B5EF4-FFF2-40B4-BE49-F238E27FC236}">
                <a16:creationId xmlns:a16="http://schemas.microsoft.com/office/drawing/2014/main" id="{926A4087-BD06-4777-B487-771700D6F988}"/>
              </a:ext>
            </a:extLst>
          </p:cNvPr>
          <p:cNvSpPr>
            <a:spLocks xmlns:a="http://schemas.openxmlformats.org/drawingml/2006/main" noGrp="1"/>
          </p:cNvSpPr>
          <p:nvPr/>
        </p:nvSpPr>
        <p:spPr>
          <a:xfrm xmlns:a="http://schemas.openxmlformats.org/drawingml/2006/main" rot="0">
            <a:off x="7658100" y="1419225"/>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Financial statements</a:t>
            </a:r>
          </a:p>
        </p:txBody>
      </p:sp>
      <p:sp>
        <p:nvSpPr>
          <p:cNvPr id="13" name="">
            <a:extLst xmlns:a="http://schemas.openxmlformats.org/drawingml/2006/main">
              <a:ext uri="{FF2B5EF4-FFF2-40B4-BE49-F238E27FC236}">
                <a16:creationId xmlns:a16="http://schemas.microsoft.com/office/drawing/2014/main" id="{466A74BD-A89A-40C6-8916-E548C4FA32D1}"/>
              </a:ext>
            </a:extLst>
          </p:cNvPr>
          <p:cNvSpPr>
            <a:spLocks xmlns:a="http://schemas.openxmlformats.org/drawingml/2006/main" noGrp="1"/>
          </p:cNvSpPr>
          <p:nvPr/>
        </p:nvSpPr>
        <p:spPr>
          <a:xfrm xmlns:a="http://schemas.openxmlformats.org/drawingml/2006/main">
            <a:off x="7658100" y="1790700"/>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14" name="">
            <a:extLst xmlns:a="http://schemas.openxmlformats.org/drawingml/2006/main">
              <a:ext uri="{FF2B5EF4-FFF2-40B4-BE49-F238E27FC236}">
                <a16:creationId xmlns:a16="http://schemas.microsoft.com/office/drawing/2014/main" id="{E8C58C8A-7848-4351-A446-CF6B2B229A91}"/>
              </a:ext>
            </a:extLst>
          </p:cNvPr>
          <p:cNvSpPr>
            <a:spLocks xmlns:a="http://schemas.openxmlformats.org/drawingml/2006/main" noGrp="1"/>
          </p:cNvSpPr>
          <p:nvPr/>
        </p:nvSpPr>
        <p:spPr>
          <a:xfrm xmlns:a="http://schemas.openxmlformats.org/drawingml/2006/main" rot="0">
            <a:off x="7124700" y="20955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02</a:t>
            </a:r>
          </a:p>
        </p:txBody>
      </p:sp>
      <p:sp>
        <p:nvSpPr>
          <p:cNvPr id="15" name="">
            <a:extLst xmlns:a="http://schemas.openxmlformats.org/drawingml/2006/main">
              <a:ext uri="{FF2B5EF4-FFF2-40B4-BE49-F238E27FC236}">
                <a16:creationId xmlns:a16="http://schemas.microsoft.com/office/drawing/2014/main" id="{40E1123C-16D8-4FCB-A01E-FF4B861E8744}"/>
              </a:ext>
            </a:extLst>
          </p:cNvPr>
          <p:cNvSpPr>
            <a:spLocks xmlns:a="http://schemas.openxmlformats.org/drawingml/2006/main" noGrp="1"/>
          </p:cNvSpPr>
          <p:nvPr/>
        </p:nvSpPr>
        <p:spPr>
          <a:xfrm xmlns:a="http://schemas.openxmlformats.org/drawingml/2006/main" rot="0">
            <a:off x="7658100" y="2076450"/>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Expert calls</a:t>
            </a:r>
          </a:p>
        </p:txBody>
      </p:sp>
      <p:sp>
        <p:nvSpPr>
          <p:cNvPr id="16" name="">
            <a:extLst xmlns:a="http://schemas.openxmlformats.org/drawingml/2006/main">
              <a:ext uri="{FF2B5EF4-FFF2-40B4-BE49-F238E27FC236}">
                <a16:creationId xmlns:a16="http://schemas.microsoft.com/office/drawing/2014/main" id="{AB11A2DD-D4E2-4933-A84E-A2187985A7A6}"/>
              </a:ext>
            </a:extLst>
          </p:cNvPr>
          <p:cNvSpPr>
            <a:spLocks xmlns:a="http://schemas.openxmlformats.org/drawingml/2006/main" noGrp="1"/>
          </p:cNvSpPr>
          <p:nvPr/>
        </p:nvSpPr>
        <p:spPr>
          <a:xfrm xmlns:a="http://schemas.openxmlformats.org/drawingml/2006/main">
            <a:off x="7658100" y="2447925"/>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17" name="">
            <a:extLst xmlns:a="http://schemas.openxmlformats.org/drawingml/2006/main">
              <a:ext uri="{FF2B5EF4-FFF2-40B4-BE49-F238E27FC236}">
                <a16:creationId xmlns:a16="http://schemas.microsoft.com/office/drawing/2014/main" id="{4D082F06-AB6D-4A09-A5B5-B08B13E415B0}"/>
              </a:ext>
            </a:extLst>
          </p:cNvPr>
          <p:cNvSpPr>
            <a:spLocks xmlns:a="http://schemas.openxmlformats.org/drawingml/2006/main" noGrp="1"/>
          </p:cNvSpPr>
          <p:nvPr/>
        </p:nvSpPr>
        <p:spPr>
          <a:xfrm xmlns:a="http://schemas.openxmlformats.org/drawingml/2006/main" rot="0">
            <a:off x="7124700" y="27527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03</a:t>
            </a:r>
          </a:p>
        </p:txBody>
      </p:sp>
      <p:sp>
        <p:nvSpPr>
          <p:cNvPr id="18" name="">
            <a:extLst xmlns:a="http://schemas.openxmlformats.org/drawingml/2006/main">
              <a:ext uri="{FF2B5EF4-FFF2-40B4-BE49-F238E27FC236}">
                <a16:creationId xmlns:a16="http://schemas.microsoft.com/office/drawing/2014/main" id="{71DDE28B-7ED6-46AC-99E5-00E180347C22}"/>
              </a:ext>
            </a:extLst>
          </p:cNvPr>
          <p:cNvSpPr>
            <a:spLocks xmlns:a="http://schemas.openxmlformats.org/drawingml/2006/main" noGrp="1"/>
          </p:cNvSpPr>
          <p:nvPr/>
        </p:nvSpPr>
        <p:spPr>
          <a:xfrm xmlns:a="http://schemas.openxmlformats.org/drawingml/2006/main" rot="0">
            <a:off x="7658100" y="2733675"/>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Public data</a:t>
            </a:r>
          </a:p>
        </p:txBody>
      </p:sp>
      <p:sp>
        <p:nvSpPr>
          <p:cNvPr id="19" name="">
            <a:extLst xmlns:a="http://schemas.openxmlformats.org/drawingml/2006/main">
              <a:ext uri="{FF2B5EF4-FFF2-40B4-BE49-F238E27FC236}">
                <a16:creationId xmlns:a16="http://schemas.microsoft.com/office/drawing/2014/main" id="{1B96D450-0CC4-41E8-94FC-EFC3DB8956DF}"/>
              </a:ext>
            </a:extLst>
          </p:cNvPr>
          <p:cNvSpPr>
            <a:spLocks xmlns:a="http://schemas.openxmlformats.org/drawingml/2006/main" noGrp="1"/>
          </p:cNvSpPr>
          <p:nvPr/>
        </p:nvSpPr>
        <p:spPr>
          <a:xfrm xmlns:a="http://schemas.openxmlformats.org/drawingml/2006/main">
            <a:off x="7658100" y="3105150"/>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0" name="">
            <a:extLst xmlns:a="http://schemas.openxmlformats.org/drawingml/2006/main">
              <a:ext uri="{FF2B5EF4-FFF2-40B4-BE49-F238E27FC236}">
                <a16:creationId xmlns:a16="http://schemas.microsoft.com/office/drawing/2014/main" id="{49C3DFA1-3F5B-4AAB-96A7-A98C04C32A8D}"/>
              </a:ext>
            </a:extLst>
          </p:cNvPr>
          <p:cNvSpPr>
            <a:spLocks xmlns:a="http://schemas.openxmlformats.org/drawingml/2006/main" noGrp="1"/>
          </p:cNvSpPr>
          <p:nvPr/>
        </p:nvSpPr>
        <p:spPr>
          <a:xfrm xmlns:a="http://schemas.openxmlformats.org/drawingml/2006/main" rot="0">
            <a:off x="7124700" y="3409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04</a:t>
            </a:r>
          </a:p>
        </p:txBody>
      </p:sp>
      <p:sp>
        <p:nvSpPr>
          <p:cNvPr id="21" name="">
            <a:extLst xmlns:a="http://schemas.openxmlformats.org/drawingml/2006/main">
              <a:ext uri="{FF2B5EF4-FFF2-40B4-BE49-F238E27FC236}">
                <a16:creationId xmlns:a16="http://schemas.microsoft.com/office/drawing/2014/main" id="{5DB26AC8-0AB8-424B-96CC-670D447B9663}"/>
              </a:ext>
            </a:extLst>
          </p:cNvPr>
          <p:cNvSpPr>
            <a:spLocks xmlns:a="http://schemas.openxmlformats.org/drawingml/2006/main" noGrp="1"/>
          </p:cNvSpPr>
          <p:nvPr/>
        </p:nvSpPr>
        <p:spPr>
          <a:xfrm xmlns:a="http://schemas.openxmlformats.org/drawingml/2006/main" rot="0">
            <a:off x="7658100" y="3390900"/>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One-off fieldwork</a:t>
            </a:r>
          </a:p>
        </p:txBody>
      </p:sp>
      <p:sp>
        <p:nvSpPr>
          <p:cNvPr id="22" name="">
            <a:extLst xmlns:a="http://schemas.openxmlformats.org/drawingml/2006/main">
              <a:ext uri="{FF2B5EF4-FFF2-40B4-BE49-F238E27FC236}">
                <a16:creationId xmlns:a16="http://schemas.microsoft.com/office/drawing/2014/main" id="{74D8AA35-C714-4532-A180-B2AD98858781}"/>
              </a:ext>
            </a:extLst>
          </p:cNvPr>
          <p:cNvSpPr>
            <a:spLocks xmlns:a="http://schemas.openxmlformats.org/drawingml/2006/main" noGrp="1"/>
          </p:cNvSpPr>
          <p:nvPr/>
        </p:nvSpPr>
        <p:spPr>
          <a:xfrm xmlns:a="http://schemas.openxmlformats.org/drawingml/2006/main">
            <a:off x="7658100" y="3762375"/>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3" name="">
            <a:extLst xmlns:a="http://schemas.openxmlformats.org/drawingml/2006/main">
              <a:ext uri="{FF2B5EF4-FFF2-40B4-BE49-F238E27FC236}">
                <a16:creationId xmlns:a16="http://schemas.microsoft.com/office/drawing/2014/main" id="{ABDEA468-F59A-4727-9698-B9CFDCD0424E}"/>
              </a:ext>
            </a:extLst>
          </p:cNvPr>
          <p:cNvSpPr>
            <a:spLocks xmlns:a="http://schemas.openxmlformats.org/drawingml/2006/main" noGrp="1"/>
          </p:cNvSpPr>
          <p:nvPr/>
        </p:nvSpPr>
        <p:spPr>
          <a:xfrm xmlns:a="http://schemas.openxmlformats.org/drawingml/2006/main" rot="0">
            <a:off x="7124700" y="40671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FF5B22"/>
                </a:solidFill>
                <a:latin typeface="Courier New"/>
                <a:ea typeface="Courier New"/>
                <a:cs typeface="Courier New"/>
              </a:defRPr>
            </a:pPr>
            <a:r>
              <a:rPr sz="1350" b="1">
                <a:solidFill>
                  <a:srgbClr val="FF5B22"/>
                </a:solidFill>
                <a:latin typeface="Courier New"/>
                <a:ea typeface="Courier New"/>
                <a:cs typeface="Courier New"/>
              </a:rPr>
              <a:t>05</a:t>
            </a:r>
          </a:p>
        </p:txBody>
      </p:sp>
      <p:sp>
        <p:nvSpPr>
          <p:cNvPr id="24" name="">
            <a:extLst xmlns:a="http://schemas.openxmlformats.org/drawingml/2006/main">
              <a:ext uri="{FF2B5EF4-FFF2-40B4-BE49-F238E27FC236}">
                <a16:creationId xmlns:a16="http://schemas.microsoft.com/office/drawing/2014/main" id="{60C24D0B-E212-4783-B7F5-637ADBAE5263}"/>
              </a:ext>
            </a:extLst>
          </p:cNvPr>
          <p:cNvSpPr>
            <a:spLocks xmlns:a="http://schemas.openxmlformats.org/drawingml/2006/main" noGrp="1"/>
          </p:cNvSpPr>
          <p:nvPr/>
        </p:nvSpPr>
        <p:spPr>
          <a:xfrm xmlns:a="http://schemas.openxmlformats.org/drawingml/2006/main" rot="0">
            <a:off x="7658100" y="4048125"/>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Manual reconciliation</a:t>
            </a:r>
          </a:p>
        </p:txBody>
      </p:sp>
      <p:sp>
        <p:nvSpPr>
          <p:cNvPr id="25" name="">
            <a:extLst xmlns:a="http://schemas.openxmlformats.org/drawingml/2006/main">
              <a:ext uri="{FF2B5EF4-FFF2-40B4-BE49-F238E27FC236}">
                <a16:creationId xmlns:a16="http://schemas.microsoft.com/office/drawing/2014/main" id="{A7836B3B-0E4A-4DEC-A113-DF06474847A6}"/>
              </a:ext>
            </a:extLst>
          </p:cNvPr>
          <p:cNvSpPr>
            <a:spLocks xmlns:a="http://schemas.openxmlformats.org/drawingml/2006/main" noGrp="1"/>
          </p:cNvSpPr>
          <p:nvPr/>
        </p:nvSpPr>
        <p:spPr>
          <a:xfrm xmlns:a="http://schemas.openxmlformats.org/drawingml/2006/main">
            <a:off x="7658100" y="4419600"/>
            <a:ext cx="333375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26" name="">
            <a:extLst xmlns:a="http://schemas.openxmlformats.org/drawingml/2006/main">
              <a:ext uri="{FF2B5EF4-FFF2-40B4-BE49-F238E27FC236}">
                <a16:creationId xmlns:a16="http://schemas.microsoft.com/office/drawing/2014/main" id="{28E0DD17-FB17-448B-91BB-98A734DD3646}"/>
              </a:ext>
            </a:extLst>
          </p:cNvPr>
          <p:cNvSpPr>
            <a:spLocks xmlns:a="http://schemas.openxmlformats.org/drawingml/2006/main" noGrp="1"/>
          </p:cNvSpPr>
          <p:nvPr/>
        </p:nvSpPr>
        <p:spPr>
          <a:xfrm xmlns:a="http://schemas.openxmlformats.org/drawingml/2006/main" rot="0">
            <a:off x="609600" y="5086350"/>
            <a:ext cx="10972800" cy="971550"/>
          </a:xfrm>
          <a:prstGeom xmlns:a="http://schemas.openxmlformats.org/drawingml/2006/main" prst="roundRect">
            <a:avLst>
              <a:gd name="adj" fmla="val 11765"/>
            </a:avLst>
          </a:prstGeom>
          <a:solidFill xmlns:a="http://schemas.openxmlformats.org/drawingml/2006/main">
            <a:srgbClr val="141416"/>
          </a:solidFill>
          <a:ln xmlns:a="http://schemas.openxmlformats.org/drawingml/2006/main" w="9525">
            <a:solidFill>
              <a:srgbClr val="333337"/>
            </a:solidFill>
            <a:prstDash val="solid"/>
          </a:ln>
        </p:spPr>
      </p:sp>
      <p:sp>
        <p:nvSpPr>
          <p:cNvPr id="27" name="">
            <a:extLst xmlns:a="http://schemas.openxmlformats.org/drawingml/2006/main">
              <a:ext uri="{FF2B5EF4-FFF2-40B4-BE49-F238E27FC236}">
                <a16:creationId xmlns:a16="http://schemas.microsoft.com/office/drawing/2014/main" id="{163F2861-EB81-4965-8565-01A38641A81B}"/>
              </a:ext>
            </a:extLst>
          </p:cNvPr>
          <p:cNvSpPr>
            <a:spLocks xmlns:a="http://schemas.openxmlformats.org/drawingml/2006/main" noGrp="1"/>
          </p:cNvSpPr>
          <p:nvPr/>
        </p:nvSpPr>
        <p:spPr>
          <a:xfrm xmlns:a="http://schemas.openxmlformats.org/drawingml/2006/main" rot="0">
            <a:off x="876300" y="5305425"/>
            <a:ext cx="228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6A62"/>
                </a:solidFill>
                <a:latin typeface="Courier New"/>
                <a:ea typeface="Courier New"/>
                <a:cs typeface="Courier New"/>
              </a:defRPr>
            </a:pPr>
            <a:r>
              <a:rPr sz="975" b="1">
                <a:solidFill>
                  <a:srgbClr val="FF6A62"/>
                </a:solidFill>
                <a:latin typeface="Courier New"/>
                <a:ea typeface="Courier New"/>
                <a:cs typeface="Courier New"/>
              </a:rPr>
              <a:t>THE UNRESOLVED QUESTION</a:t>
            </a:r>
          </a:p>
        </p:txBody>
      </p:sp>
      <p:sp>
        <p:nvSpPr>
          <p:cNvPr id="28" name="">
            <a:extLst xmlns:a="http://schemas.openxmlformats.org/drawingml/2006/main">
              <a:ext uri="{FF2B5EF4-FFF2-40B4-BE49-F238E27FC236}">
                <a16:creationId xmlns:a16="http://schemas.microsoft.com/office/drawing/2014/main" id="{C904B85B-4E2B-4FC8-857A-7C9FB0B7906C}"/>
              </a:ext>
            </a:extLst>
          </p:cNvPr>
          <p:cNvSpPr>
            <a:spLocks xmlns:a="http://schemas.openxmlformats.org/drawingml/2006/main" noGrp="1"/>
          </p:cNvSpPr>
          <p:nvPr/>
        </p:nvSpPr>
        <p:spPr>
          <a:xfrm xmlns:a="http://schemas.openxmlformats.org/drawingml/2006/main" rot="0">
            <a:off x="876300" y="5572125"/>
            <a:ext cx="9620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2250" b="1">
                <a:solidFill>
                  <a:srgbClr val="F4F3EF"/>
                </a:solidFill>
                <a:latin typeface="Arial"/>
                <a:ea typeface="Arial"/>
                <a:cs typeface="Arial"/>
              </a:defRPr>
            </a:pPr>
            <a:r>
              <a:rPr sz="2250" b="1">
                <a:solidFill>
                  <a:srgbClr val="F4F3EF"/>
                </a:solidFill>
                <a:latin typeface="Arial"/>
                <a:ea typeface="Arial"/>
                <a:cs typeface="Arial"/>
              </a:rPr>
              <a:t>Do independent signals support the same claim?</a:t>
            </a:r>
          </a:p>
        </p:txBody>
      </p:sp>
    </p:spTree>
    <p:extLst>
      <p:ext uri="{BB962C8B-B14F-4D97-AF65-F5344CB8AC3E}">
        <p14:creationId xmlns:p14="http://schemas.microsoft.com/office/powerpoint/2010/main" val="1617006017"/>
      </p:ext>
    </p:extLst>
  </p:cSld>
</p:sld>
</file>

<file path=ppt/slides/slide3.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F883C39-CFA9-4E5E-91EC-B032D7A36013}"/>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C331D678-C1E8-4C46-B1AC-157C8A0278D8}"/>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WORKING PRODUCT</a:t>
            </a:r>
          </a:p>
        </p:txBody>
      </p:sp>
      <p:sp>
        <p:nvSpPr>
          <p:cNvPr id="3" name="">
            <a:extLst xmlns:a="http://schemas.openxmlformats.org/drawingml/2006/main">
              <a:ext uri="{FF2B5EF4-FFF2-40B4-BE49-F238E27FC236}">
                <a16:creationId xmlns:a16="http://schemas.microsoft.com/office/drawing/2014/main" id="{B103BFB0-FA14-4FF3-85F0-DCE7DDA5FCFF}"/>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03 / 08</a:t>
            </a:r>
          </a:p>
        </p:txBody>
      </p:sp>
      <p:sp>
        <p:nvSpPr>
          <p:cNvPr id="4" name="">
            <a:extLst xmlns:a="http://schemas.openxmlformats.org/drawingml/2006/main">
              <a:ext uri="{FF2B5EF4-FFF2-40B4-BE49-F238E27FC236}">
                <a16:creationId xmlns:a16="http://schemas.microsoft.com/office/drawing/2014/main" id="{D246862F-107E-4152-B072-F98CF4A26456}"/>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012B1D00-56D4-4D95-8BEE-373113ECD240}"/>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C5B0A996-4D26-4459-99F6-21CA5BAF6505}"/>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A94893ED-2C57-4387-8F42-E55A5FCED9A6}"/>
              </a:ext>
            </a:extLst>
          </p:cNvPr>
          <p:cNvSpPr>
            <a:spLocks xmlns:a="http://schemas.openxmlformats.org/drawingml/2006/main" noGrp="1"/>
          </p:cNvSpPr>
          <p:nvPr/>
        </p:nvSpPr>
        <p:spPr>
          <a:xfrm xmlns:a="http://schemas.openxmlformats.org/drawingml/2006/main" rot="0">
            <a:off x="609600" y="8001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One claim becomes a verification mission.</a:t>
            </a:r>
          </a:p>
        </p:txBody>
      </p:sp>
      <p:sp>
        <p:nvSpPr>
          <p:cNvPr id="8" name="">
            <a:extLst xmlns:a="http://schemas.openxmlformats.org/drawingml/2006/main">
              <a:ext uri="{FF2B5EF4-FFF2-40B4-BE49-F238E27FC236}">
                <a16:creationId xmlns:a16="http://schemas.microsoft.com/office/drawing/2014/main" id="{DF3BE328-6E67-4E4B-A0FC-F736C00E111C}"/>
              </a:ext>
            </a:extLst>
          </p:cNvPr>
          <p:cNvSpPr>
            <a:spLocks xmlns:a="http://schemas.openxmlformats.org/drawingml/2006/main" noGrp="1"/>
          </p:cNvSpPr>
          <p:nvPr/>
        </p:nvSpPr>
        <p:spPr>
          <a:xfrm xmlns:a="http://schemas.openxmlformats.org/drawingml/2006/main" rot="0">
            <a:off x="8686800" y="1390650"/>
            <a:ext cx="2895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a:solidFill>
                  <a:srgbClr val="F3C45E"/>
                </a:solidFill>
                <a:latin typeface="Courier New"/>
                <a:ea typeface="Courier New"/>
                <a:cs typeface="Courier New"/>
              </a:defRPr>
            </a:pPr>
            <a:r>
              <a:rPr sz="975" b="1">
                <a:solidFill>
                  <a:srgbClr val="F3C45E"/>
                </a:solidFill>
                <a:latin typeface="Courier New"/>
                <a:ea typeface="Courier New"/>
                <a:cs typeface="Courier New"/>
              </a:rPr>
              <a:t>SYNTHETIC MORROW COFFEE CASE</a:t>
            </a:r>
          </a:p>
        </p:txBody>
      </p:sp>
      <p:sp>
        <p:nvSpPr>
          <p:cNvPr id="9" name="mission-plan-shot-frame">
            <a:extLst xmlns:a="http://schemas.openxmlformats.org/drawingml/2006/main">
              <a:ext uri="{FF2B5EF4-FFF2-40B4-BE49-F238E27FC236}">
                <a16:creationId xmlns:a16="http://schemas.microsoft.com/office/drawing/2014/main" id="{44730905-4C90-470C-B077-717A245FABBE}"/>
              </a:ext>
            </a:extLst>
          </p:cNvPr>
          <p:cNvSpPr>
            <a:spLocks xmlns:a="http://schemas.openxmlformats.org/drawingml/2006/main" noGrp="1"/>
          </p:cNvSpPr>
          <p:nvPr/>
        </p:nvSpPr>
        <p:spPr>
          <a:xfrm xmlns:a="http://schemas.openxmlformats.org/drawingml/2006/main" rot="0">
            <a:off x="581025" y="1628775"/>
            <a:ext cx="3448050" cy="2171700"/>
          </a:xfrm>
          <a:prstGeom xmlns:a="http://schemas.openxmlformats.org/drawingml/2006/main" prst="roundRect">
            <a:avLst>
              <a:gd name="adj" fmla="val 6140"/>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ef6a03314217434d"/>
          <a:srcRect xmlns:a="http://schemas.openxmlformats.org/drawingml/2006/main" l="0" t="112" r="0" b="112"/>
          <a:stretch xmlns:a="http://schemas.openxmlformats.org/drawingml/2006/main">
            <a:fillRect l="0" t="0" r="0" b="0"/>
          </a:stretch>
        </p:blipFill>
        <p:spPr>
          <a:xfrm xmlns:a="http://schemas.openxmlformats.org/drawingml/2006/main">
            <a:off x="609600" y="1657350"/>
            <a:ext cx="3390900" cy="2114550"/>
          </a:xfrm>
          <a:prstGeom xmlns:a="http://schemas.openxmlformats.org/drawingml/2006/main" prst="roundRect">
            <a:avLst>
              <a:gd name="adj" fmla="val 5405"/>
            </a:avLst>
          </a:prstGeom>
        </p:spPr>
      </p:pic>
      <p:sp>
        <p:nvSpPr>
          <p:cNvPr id="11" name="live-mission-shot-frame">
            <a:extLst xmlns:a="http://schemas.openxmlformats.org/drawingml/2006/main">
              <a:ext uri="{FF2B5EF4-FFF2-40B4-BE49-F238E27FC236}">
                <a16:creationId xmlns:a16="http://schemas.microsoft.com/office/drawing/2014/main" id="{745735E8-82C2-4E84-947E-E132EFDEBC23}"/>
              </a:ext>
            </a:extLst>
          </p:cNvPr>
          <p:cNvSpPr>
            <a:spLocks xmlns:a="http://schemas.openxmlformats.org/drawingml/2006/main" noGrp="1"/>
          </p:cNvSpPr>
          <p:nvPr/>
        </p:nvSpPr>
        <p:spPr>
          <a:xfrm xmlns:a="http://schemas.openxmlformats.org/drawingml/2006/main" rot="0">
            <a:off x="4371975" y="1628775"/>
            <a:ext cx="3448050" cy="2171700"/>
          </a:xfrm>
          <a:prstGeom xmlns:a="http://schemas.openxmlformats.org/drawingml/2006/main" prst="roundRect">
            <a:avLst>
              <a:gd name="adj" fmla="val 6140"/>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c412ae8a333b4968"/>
          <a:srcRect xmlns:a="http://schemas.openxmlformats.org/drawingml/2006/main" l="0" t="112" r="0" b="112"/>
          <a:stretch xmlns:a="http://schemas.openxmlformats.org/drawingml/2006/main">
            <a:fillRect l="0" t="0" r="0" b="0"/>
          </a:stretch>
        </p:blipFill>
        <p:spPr>
          <a:xfrm xmlns:a="http://schemas.openxmlformats.org/drawingml/2006/main">
            <a:off x="4400550" y="1657350"/>
            <a:ext cx="3390900" cy="2114550"/>
          </a:xfrm>
          <a:prstGeom xmlns:a="http://schemas.openxmlformats.org/drawingml/2006/main" prst="roundRect">
            <a:avLst>
              <a:gd name="adj" fmla="val 5405"/>
            </a:avLst>
          </a:prstGeom>
        </p:spPr>
      </p:pic>
      <p:sp>
        <p:nvSpPr>
          <p:cNvPr id="13" name="findings-shot-frame">
            <a:extLst xmlns:a="http://schemas.openxmlformats.org/drawingml/2006/main">
              <a:ext uri="{FF2B5EF4-FFF2-40B4-BE49-F238E27FC236}">
                <a16:creationId xmlns:a16="http://schemas.microsoft.com/office/drawing/2014/main" id="{13A75C8D-8917-4664-A605-971832BB63BC}"/>
              </a:ext>
            </a:extLst>
          </p:cNvPr>
          <p:cNvSpPr>
            <a:spLocks xmlns:a="http://schemas.openxmlformats.org/drawingml/2006/main" noGrp="1"/>
          </p:cNvSpPr>
          <p:nvPr/>
        </p:nvSpPr>
        <p:spPr>
          <a:xfrm xmlns:a="http://schemas.openxmlformats.org/drawingml/2006/main" rot="0">
            <a:off x="8162925" y="1628775"/>
            <a:ext cx="3448050" cy="2171700"/>
          </a:xfrm>
          <a:prstGeom xmlns:a="http://schemas.openxmlformats.org/drawingml/2006/main" prst="roundRect">
            <a:avLst>
              <a:gd name="adj" fmla="val 6140"/>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a96c2389d5b64882"/>
          <a:srcRect xmlns:a="http://schemas.openxmlformats.org/drawingml/2006/main" l="0" t="112" r="0" b="112"/>
          <a:stretch xmlns:a="http://schemas.openxmlformats.org/drawingml/2006/main">
            <a:fillRect l="0" t="0" r="0" b="0"/>
          </a:stretch>
        </p:blipFill>
        <p:spPr>
          <a:xfrm xmlns:a="http://schemas.openxmlformats.org/drawingml/2006/main">
            <a:off x="8191500" y="1657350"/>
            <a:ext cx="3390900" cy="2114550"/>
          </a:xfrm>
          <a:prstGeom xmlns:a="http://schemas.openxmlformats.org/drawingml/2006/main" prst="roundRect">
            <a:avLst>
              <a:gd name="adj" fmla="val 5405"/>
            </a:avLst>
          </a:prstGeom>
        </p:spPr>
      </p:pic>
      <p:sp>
        <p:nvSpPr>
          <p:cNvPr id="15" name="">
            <a:extLst xmlns:a="http://schemas.openxmlformats.org/drawingml/2006/main">
              <a:ext uri="{FF2B5EF4-FFF2-40B4-BE49-F238E27FC236}">
                <a16:creationId xmlns:a16="http://schemas.microsoft.com/office/drawing/2014/main" id="{A1BC4D4C-03C2-4B81-A5AC-527B3E20113E}"/>
              </a:ext>
            </a:extLst>
          </p:cNvPr>
          <p:cNvSpPr>
            <a:spLocks xmlns:a="http://schemas.openxmlformats.org/drawingml/2006/main" noGrp="1"/>
          </p:cNvSpPr>
          <p:nvPr/>
        </p:nvSpPr>
        <p:spPr>
          <a:xfrm xmlns:a="http://schemas.openxmlformats.org/drawingml/2006/main" rot="0">
            <a:off x="609600" y="3943350"/>
            <a:ext cx="3390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01  PLAN + APPROVE</a:t>
            </a:r>
          </a:p>
        </p:txBody>
      </p:sp>
      <p:sp>
        <p:nvSpPr>
          <p:cNvPr id="16" name="">
            <a:extLst xmlns:a="http://schemas.openxmlformats.org/drawingml/2006/main">
              <a:ext uri="{FF2B5EF4-FFF2-40B4-BE49-F238E27FC236}">
                <a16:creationId xmlns:a16="http://schemas.microsoft.com/office/drawing/2014/main" id="{3403BF7A-4417-41B7-9038-B30B1C310CD0}"/>
              </a:ext>
            </a:extLst>
          </p:cNvPr>
          <p:cNvSpPr>
            <a:spLocks xmlns:a="http://schemas.openxmlformats.org/drawingml/2006/main" noGrp="1"/>
          </p:cNvSpPr>
          <p:nvPr/>
        </p:nvSpPr>
        <p:spPr>
          <a:xfrm xmlns:a="http://schemas.openxmlformats.org/drawingml/2006/main" rot="0">
            <a:off x="4400550" y="3943350"/>
            <a:ext cx="3390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02  OBSERVE + CHALLENGE</a:t>
            </a:r>
          </a:p>
        </p:txBody>
      </p:sp>
      <p:sp>
        <p:nvSpPr>
          <p:cNvPr id="17" name="">
            <a:extLst xmlns:a="http://schemas.openxmlformats.org/drawingml/2006/main">
              <a:ext uri="{FF2B5EF4-FFF2-40B4-BE49-F238E27FC236}">
                <a16:creationId xmlns:a16="http://schemas.microsoft.com/office/drawing/2014/main" id="{DBA7D7BE-1FDE-4366-B749-94843DDAC0A8}"/>
              </a:ext>
            </a:extLst>
          </p:cNvPr>
          <p:cNvSpPr>
            <a:spLocks xmlns:a="http://schemas.openxmlformats.org/drawingml/2006/main" noGrp="1"/>
          </p:cNvSpPr>
          <p:nvPr/>
        </p:nvSpPr>
        <p:spPr>
          <a:xfrm xmlns:a="http://schemas.openxmlformats.org/drawingml/2006/main" rot="0">
            <a:off x="8191500" y="3943350"/>
            <a:ext cx="3390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03  INSPECT + ACT</a:t>
            </a:r>
          </a:p>
        </p:txBody>
      </p:sp>
      <p:sp>
        <p:nvSpPr>
          <p:cNvPr id="18" name="">
            <a:extLst xmlns:a="http://schemas.openxmlformats.org/drawingml/2006/main">
              <a:ext uri="{FF2B5EF4-FFF2-40B4-BE49-F238E27FC236}">
                <a16:creationId xmlns:a16="http://schemas.microsoft.com/office/drawing/2014/main" id="{C9CA9362-524E-4A11-9099-4269892C8542}"/>
              </a:ext>
            </a:extLst>
          </p:cNvPr>
          <p:cNvSpPr>
            <a:spLocks xmlns:a="http://schemas.openxmlformats.org/drawingml/2006/main" noGrp="1"/>
          </p:cNvSpPr>
          <p:nvPr/>
        </p:nvSpPr>
        <p:spPr>
          <a:xfrm xmlns:a="http://schemas.openxmlformats.org/drawingml/2006/main" rot="0">
            <a:off x="609600" y="44767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F4F3EF"/>
                </a:solidFill>
                <a:latin typeface="Courier New"/>
                <a:ea typeface="Courier New"/>
                <a:cs typeface="Courier New"/>
              </a:defRPr>
            </a:pPr>
            <a:r>
              <a:rPr sz="1275" b="1">
                <a:solidFill>
                  <a:srgbClr val="F4F3EF"/>
                </a:solidFill>
                <a:latin typeface="Courier New"/>
                <a:ea typeface="Courier New"/>
                <a:cs typeface="Courier New"/>
              </a:rPr>
              <a:t>CLAIM  →  PROBE  →  CHALLENGE  →  APPROVE  →  DECIDE</a:t>
            </a:r>
          </a:p>
        </p:txBody>
      </p:sp>
      <p:sp>
        <p:nvSpPr>
          <p:cNvPr id="19" name="">
            <a:extLst xmlns:a="http://schemas.openxmlformats.org/drawingml/2006/main">
              <a:ext uri="{FF2B5EF4-FFF2-40B4-BE49-F238E27FC236}">
                <a16:creationId xmlns:a16="http://schemas.microsoft.com/office/drawing/2014/main" id="{0E21EB87-AF0B-4CEC-992C-C2A379D8EE7A}"/>
              </a:ext>
            </a:extLst>
          </p:cNvPr>
          <p:cNvSpPr>
            <a:spLocks xmlns:a="http://schemas.openxmlformats.org/drawingml/2006/main" noGrp="1"/>
          </p:cNvSpPr>
          <p:nvPr/>
        </p:nvSpPr>
        <p:spPr>
          <a:xfrm xmlns:a="http://schemas.openxmlformats.org/drawingml/2006/main" rot="0">
            <a:off x="609600" y="4867275"/>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A repeatable decision workflow, not another report.</a:t>
            </a:r>
          </a:p>
        </p:txBody>
      </p:sp>
      <p:sp>
        <p:nvSpPr>
          <p:cNvPr id="20" name="">
            <a:extLst xmlns:a="http://schemas.openxmlformats.org/drawingml/2006/main">
              <a:ext uri="{FF2B5EF4-FFF2-40B4-BE49-F238E27FC236}">
                <a16:creationId xmlns:a16="http://schemas.microsoft.com/office/drawing/2014/main" id="{897B738C-2AB4-46BE-AB4F-3BBD1413C80B}"/>
              </a:ext>
            </a:extLst>
          </p:cNvPr>
          <p:cNvSpPr>
            <a:spLocks xmlns:a="http://schemas.openxmlformats.org/drawingml/2006/main" noGrp="1"/>
          </p:cNvSpPr>
          <p:nvPr/>
        </p:nvSpPr>
        <p:spPr>
          <a:xfrm xmlns:a="http://schemas.openxmlformats.org/drawingml/2006/main">
            <a:off x="6743700" y="4457700"/>
            <a:ext cx="0" cy="148590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1" name="">
            <a:extLst xmlns:a="http://schemas.openxmlformats.org/drawingml/2006/main">
              <a:ext uri="{FF2B5EF4-FFF2-40B4-BE49-F238E27FC236}">
                <a16:creationId xmlns:a16="http://schemas.microsoft.com/office/drawing/2014/main" id="{C1552C4F-0224-45B2-A008-93342E60688E}"/>
              </a:ext>
            </a:extLst>
          </p:cNvPr>
          <p:cNvSpPr>
            <a:spLocks xmlns:a="http://schemas.openxmlformats.org/drawingml/2006/main" noGrp="1"/>
          </p:cNvSpPr>
          <p:nvPr/>
        </p:nvSpPr>
        <p:spPr>
          <a:xfrm xmlns:a="http://schemas.openxmlformats.org/drawingml/2006/main" rot="0">
            <a:off x="7086600" y="4438650"/>
            <a:ext cx="1790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INITIAL ESTIMATE</a:t>
            </a:r>
          </a:p>
        </p:txBody>
      </p:sp>
      <p:sp>
        <p:nvSpPr>
          <p:cNvPr id="22" name="">
            <a:extLst xmlns:a="http://schemas.openxmlformats.org/drawingml/2006/main">
              <a:ext uri="{FF2B5EF4-FFF2-40B4-BE49-F238E27FC236}">
                <a16:creationId xmlns:a16="http://schemas.microsoft.com/office/drawing/2014/main" id="{C5FC24B3-1B5E-4785-892D-C73619F39AF2}"/>
              </a:ext>
            </a:extLst>
          </p:cNvPr>
          <p:cNvSpPr>
            <a:spLocks xmlns:a="http://schemas.openxmlformats.org/drawingml/2006/main" noGrp="1"/>
          </p:cNvSpPr>
          <p:nvPr/>
        </p:nvSpPr>
        <p:spPr>
          <a:xfrm xmlns:a="http://schemas.openxmlformats.org/drawingml/2006/main" rot="0">
            <a:off x="7086600" y="4686300"/>
            <a:ext cx="1952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a:solidFill>
                  <a:srgbClr val="FF5B22"/>
                </a:solidFill>
                <a:latin typeface="Arial"/>
                <a:ea typeface="Arial"/>
                <a:cs typeface="Arial"/>
              </a:defRPr>
            </a:pPr>
            <a:r>
              <a:rPr sz="3150" b="1">
                <a:solidFill>
                  <a:srgbClr val="FF5B22"/>
                </a:solidFill>
                <a:latin typeface="Arial"/>
                <a:ea typeface="Arial"/>
                <a:cs typeface="Arial"/>
              </a:rPr>
              <a:t>¥1.92m</a:t>
            </a:r>
          </a:p>
        </p:txBody>
      </p:sp>
      <p:sp>
        <p:nvSpPr>
          <p:cNvPr id="23" name="">
            <a:extLst xmlns:a="http://schemas.openxmlformats.org/drawingml/2006/main">
              <a:ext uri="{FF2B5EF4-FFF2-40B4-BE49-F238E27FC236}">
                <a16:creationId xmlns:a16="http://schemas.microsoft.com/office/drawing/2014/main" id="{515B3524-44FA-47FD-9460-D3504886C179}"/>
              </a:ext>
            </a:extLst>
          </p:cNvPr>
          <p:cNvSpPr>
            <a:spLocks xmlns:a="http://schemas.openxmlformats.org/drawingml/2006/main" noGrp="1"/>
          </p:cNvSpPr>
          <p:nvPr/>
        </p:nvSpPr>
        <p:spPr>
          <a:xfrm xmlns:a="http://schemas.openxmlformats.org/drawingml/2006/main" rot="0">
            <a:off x="7086600" y="5219700"/>
            <a:ext cx="27146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a:solidFill>
                  <a:srgbClr val="A6A3A0"/>
                </a:solidFill>
                <a:latin typeface="Arial"/>
                <a:ea typeface="Arial"/>
                <a:cs typeface="Arial"/>
              </a:defRPr>
            </a:pPr>
            <a:r>
              <a:rPr sz="1350" b="0">
                <a:solidFill>
                  <a:srgbClr val="A6A3A0"/>
                </a:solidFill>
                <a:latin typeface="Arial"/>
                <a:ea typeface="Arial"/>
                <a:cs typeface="Arial"/>
              </a:rPr>
              <a:t>42.3% gap  |  88% confidence</a:t>
            </a:r>
          </a:p>
        </p:txBody>
      </p:sp>
      <p:sp>
        <p:nvSpPr>
          <p:cNvPr id="24" name="">
            <a:extLst xmlns:a="http://schemas.openxmlformats.org/drawingml/2006/main">
              <a:ext uri="{FF2B5EF4-FFF2-40B4-BE49-F238E27FC236}">
                <a16:creationId xmlns:a16="http://schemas.microsoft.com/office/drawing/2014/main" id="{174446A1-D238-4FF7-99B1-6BDB7306141A}"/>
              </a:ext>
            </a:extLst>
          </p:cNvPr>
          <p:cNvSpPr>
            <a:spLocks xmlns:a="http://schemas.openxmlformats.org/drawingml/2006/main" noGrp="1"/>
          </p:cNvSpPr>
          <p:nvPr/>
        </p:nvSpPr>
        <p:spPr>
          <a:xfrm xmlns:a="http://schemas.openxmlformats.org/drawingml/2006/main" rot="0">
            <a:off x="9639300" y="4438650"/>
            <a:ext cx="123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REPLAY</a:t>
            </a:r>
          </a:p>
        </p:txBody>
      </p:sp>
      <p:sp>
        <p:nvSpPr>
          <p:cNvPr id="25" name="">
            <a:extLst xmlns:a="http://schemas.openxmlformats.org/drawingml/2006/main">
              <a:ext uri="{FF2B5EF4-FFF2-40B4-BE49-F238E27FC236}">
                <a16:creationId xmlns:a16="http://schemas.microsoft.com/office/drawing/2014/main" id="{638B58DC-972D-431E-A13D-8123075CBDC0}"/>
              </a:ext>
            </a:extLst>
          </p:cNvPr>
          <p:cNvSpPr>
            <a:spLocks xmlns:a="http://schemas.openxmlformats.org/drawingml/2006/main" noGrp="1"/>
          </p:cNvSpPr>
          <p:nvPr/>
        </p:nvSpPr>
        <p:spPr>
          <a:xfrm xmlns:a="http://schemas.openxmlformats.org/drawingml/2006/main" rot="0">
            <a:off x="9639300" y="4686300"/>
            <a:ext cx="1952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a:solidFill>
                  <a:srgbClr val="F4F3EF"/>
                </a:solidFill>
                <a:latin typeface="Arial"/>
                <a:ea typeface="Arial"/>
                <a:cs typeface="Arial"/>
              </a:defRPr>
            </a:pPr>
            <a:r>
              <a:rPr sz="3150" b="1">
                <a:solidFill>
                  <a:srgbClr val="F4F3EF"/>
                </a:solidFill>
                <a:latin typeface="Arial"/>
                <a:ea typeface="Arial"/>
                <a:cs typeface="Arial"/>
              </a:rPr>
              <a:t>¥2.40m</a:t>
            </a:r>
          </a:p>
        </p:txBody>
      </p:sp>
      <p:sp>
        <p:nvSpPr>
          <p:cNvPr id="26" name="">
            <a:extLst xmlns:a="http://schemas.openxmlformats.org/drawingml/2006/main">
              <a:ext uri="{FF2B5EF4-FFF2-40B4-BE49-F238E27FC236}">
                <a16:creationId xmlns:a16="http://schemas.microsoft.com/office/drawing/2014/main" id="{ECBE8F3C-F330-4FDC-BE51-BB2FDC262A2F}"/>
              </a:ext>
            </a:extLst>
          </p:cNvPr>
          <p:cNvSpPr>
            <a:spLocks xmlns:a="http://schemas.openxmlformats.org/drawingml/2006/main" noGrp="1"/>
          </p:cNvSpPr>
          <p:nvPr/>
        </p:nvSpPr>
        <p:spPr>
          <a:xfrm xmlns:a="http://schemas.openxmlformats.org/drawingml/2006/main" rot="0">
            <a:off x="9639300" y="5219700"/>
            <a:ext cx="1943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a:solidFill>
                  <a:srgbClr val="A6A3A0"/>
                </a:solidFill>
                <a:latin typeface="Arial"/>
                <a:ea typeface="Arial"/>
                <a:cs typeface="Arial"/>
              </a:defRPr>
            </a:pPr>
            <a:r>
              <a:rPr sz="1350" b="0">
                <a:solidFill>
                  <a:srgbClr val="A6A3A0"/>
                </a:solidFill>
                <a:latin typeface="Arial"/>
                <a:ea typeface="Arial"/>
                <a:cs typeface="Arial"/>
              </a:rPr>
              <a:t>27.9% gap  |  still unsupported</a:t>
            </a:r>
          </a:p>
        </p:txBody>
      </p:sp>
      <p:sp>
        <p:nvSpPr>
          <p:cNvPr id="27" name="">
            <a:extLst xmlns:a="http://schemas.openxmlformats.org/drawingml/2006/main">
              <a:ext uri="{FF2B5EF4-FFF2-40B4-BE49-F238E27FC236}">
                <a16:creationId xmlns:a16="http://schemas.microsoft.com/office/drawing/2014/main" id="{94BFFA33-7918-42FC-BD79-FA098BA613F2}"/>
              </a:ext>
            </a:extLst>
          </p:cNvPr>
          <p:cNvSpPr>
            <a:spLocks xmlns:a="http://schemas.openxmlformats.org/drawingml/2006/main" noGrp="1"/>
          </p:cNvSpPr>
          <p:nvPr/>
        </p:nvSpPr>
        <p:spPr>
          <a:xfrm xmlns:a="http://schemas.openxmlformats.org/drawingml/2006/main" rot="0">
            <a:off x="7086600" y="5772150"/>
            <a:ext cx="449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a:solidFill>
                  <a:srgbClr val="F3C45E"/>
                </a:solidFill>
                <a:latin typeface="Courier New"/>
                <a:ea typeface="Courier New"/>
                <a:cs typeface="Courier New"/>
              </a:defRPr>
            </a:pPr>
            <a:r>
              <a:rPr sz="975" b="1">
                <a:solidFill>
                  <a:srgbClr val="F3C45E"/>
                </a:solidFill>
                <a:latin typeface="Courier New"/>
                <a:ea typeface="Courier New"/>
                <a:cs typeface="Courier New"/>
              </a:rPr>
              <a:t>Declared ¥3.33m  |  1,024 probes  |  5 families</a:t>
            </a:r>
          </a:p>
        </p:txBody>
      </p:sp>
    </p:spTree>
    <p:extLst>
      <p:ext uri="{BB962C8B-B14F-4D97-AF65-F5344CB8AC3E}">
        <p14:creationId xmlns:p14="http://schemas.microsoft.com/office/powerpoint/2010/main" val="204588250"/>
      </p:ext>
    </p:extLst>
  </p:cSld>
</p:sld>
</file>

<file path=ppt/slides/slide4.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6BA4653B-1E69-4B0D-8A8E-D77141472B66}"/>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61ABF102-762E-4A26-B622-C9C595F1334D}"/>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SYSTEM + MOAT</a:t>
            </a:r>
          </a:p>
        </p:txBody>
      </p:sp>
      <p:sp>
        <p:nvSpPr>
          <p:cNvPr id="3" name="">
            <a:extLst xmlns:a="http://schemas.openxmlformats.org/drawingml/2006/main">
              <a:ext uri="{FF2B5EF4-FFF2-40B4-BE49-F238E27FC236}">
                <a16:creationId xmlns:a16="http://schemas.microsoft.com/office/drawing/2014/main" id="{BD13AFAA-A432-48DE-8AC5-F3E09FA6ED8A}"/>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04 / 08</a:t>
            </a:r>
          </a:p>
        </p:txBody>
      </p:sp>
      <p:sp>
        <p:nvSpPr>
          <p:cNvPr id="4" name="">
            <a:extLst xmlns:a="http://schemas.openxmlformats.org/drawingml/2006/main">
              <a:ext uri="{FF2B5EF4-FFF2-40B4-BE49-F238E27FC236}">
                <a16:creationId xmlns:a16="http://schemas.microsoft.com/office/drawing/2014/main" id="{0C577D44-B312-4182-A357-FDD329A8FD1F}"/>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DDF65264-09F9-4066-8AB1-BE526FBF4D78}"/>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BF0A90A6-8347-4AA8-BD0F-943D82946FEE}"/>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E4BCC463-7494-4BD3-A7A4-6B6C500988A2}"/>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The moat is the governed loop, not the model.</a:t>
            </a:r>
          </a:p>
        </p:txBody>
      </p:sp>
      <p:sp>
        <p:nvSpPr>
          <p:cNvPr id="8" name="">
            <a:extLst xmlns:a="http://schemas.openxmlformats.org/drawingml/2006/main">
              <a:ext uri="{FF2B5EF4-FFF2-40B4-BE49-F238E27FC236}">
                <a16:creationId xmlns:a16="http://schemas.microsoft.com/office/drawing/2014/main" id="{3A98DC14-FEDA-4D67-8A19-AE80917A9267}"/>
              </a:ext>
            </a:extLst>
          </p:cNvPr>
          <p:cNvSpPr>
            <a:spLocks xmlns:a="http://schemas.openxmlformats.org/drawingml/2006/main" noGrp="1"/>
          </p:cNvSpPr>
          <p:nvPr/>
        </p:nvSpPr>
        <p:spPr>
          <a:xfrm xmlns:a="http://schemas.openxmlformats.org/drawingml/2006/main" rot="0">
            <a:off x="609600" y="1381125"/>
            <a:ext cx="657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75" b="0">
                <a:solidFill>
                  <a:srgbClr val="A6A3A0"/>
                </a:solidFill>
                <a:latin typeface="Arial"/>
                <a:ea typeface="Arial"/>
                <a:cs typeface="Arial"/>
              </a:defRPr>
            </a:pPr>
            <a:r>
              <a:rPr sz="1575" b="0">
                <a:solidFill>
                  <a:srgbClr val="A6A3A0"/>
                </a:solidFill>
                <a:latin typeface="Arial"/>
                <a:ea typeface="Arial"/>
                <a:cs typeface="Arial"/>
              </a:rPr>
              <a:t>Claim-to-observable mappings, mission outcomes, source calibration, and authorized connectors compound with every approved workflow.</a:t>
            </a:r>
          </a:p>
        </p:txBody>
      </p:sp>
      <p:sp>
        <p:nvSpPr>
          <p:cNvPr id="9" name="">
            <a:extLst xmlns:a="http://schemas.openxmlformats.org/drawingml/2006/main">
              <a:ext uri="{FF2B5EF4-FFF2-40B4-BE49-F238E27FC236}">
                <a16:creationId xmlns:a16="http://schemas.microsoft.com/office/drawing/2014/main" id="{8458492D-968B-4018-88ED-3C451D750056}"/>
              </a:ext>
            </a:extLst>
          </p:cNvPr>
          <p:cNvSpPr>
            <a:spLocks xmlns:a="http://schemas.openxmlformats.org/drawingml/2006/main" noGrp="1"/>
          </p:cNvSpPr>
          <p:nvPr/>
        </p:nvSpPr>
        <p:spPr>
          <a:xfrm xmlns:a="http://schemas.openxmlformats.org/drawingml/2006/main" rot="0">
            <a:off x="1809750" y="2447925"/>
            <a:ext cx="2667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57DAAA-15FF-4F55-9F6E-E9C3B473EF15}"/>
              </a:ext>
            </a:extLst>
          </p:cNvPr>
          <p:cNvSpPr>
            <a:spLocks xmlns:a="http://schemas.openxmlformats.org/drawingml/2006/main" noGrp="1"/>
          </p:cNvSpPr>
          <p:nvPr/>
        </p:nvSpPr>
        <p:spPr>
          <a:xfrm xmlns:a="http://schemas.openxmlformats.org/drawingml/2006/main" rot="0">
            <a:off x="3352800" y="2447925"/>
            <a:ext cx="2667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F08A80A-619D-4C41-99CC-E1161CF0188A}"/>
              </a:ext>
            </a:extLst>
          </p:cNvPr>
          <p:cNvSpPr>
            <a:spLocks xmlns:a="http://schemas.openxmlformats.org/drawingml/2006/main" noGrp="1"/>
          </p:cNvSpPr>
          <p:nvPr/>
        </p:nvSpPr>
        <p:spPr>
          <a:xfrm xmlns:a="http://schemas.openxmlformats.org/drawingml/2006/main" rot="0">
            <a:off x="4895850" y="2447925"/>
            <a:ext cx="266700" cy="114300"/>
          </a:xfrm>
          <a:prstGeom xmlns:a="http://schemas.openxmlformats.org/drawingml/2006/main" prst="rightArrow">
            <a:avLst/>
          </a:prstGeom>
          <a:solidFill xmlns:a="http://schemas.openxmlformats.org/drawingml/2006/main">
            <a:srgbClr val="FF5B2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DE2CCC-06FD-4C36-A7ED-041F8D77CBBB}"/>
              </a:ext>
            </a:extLst>
          </p:cNvPr>
          <p:cNvSpPr>
            <a:spLocks xmlns:a="http://schemas.openxmlformats.org/drawingml/2006/main" noGrp="1"/>
          </p:cNvSpPr>
          <p:nvPr/>
        </p:nvSpPr>
        <p:spPr>
          <a:xfrm xmlns:a="http://schemas.openxmlformats.org/drawingml/2006/main">
            <a:off x="5838825" y="2762250"/>
            <a:ext cx="0" cy="790575"/>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13" name="">
            <a:extLst xmlns:a="http://schemas.openxmlformats.org/drawingml/2006/main">
              <a:ext uri="{FF2B5EF4-FFF2-40B4-BE49-F238E27FC236}">
                <a16:creationId xmlns:a16="http://schemas.microsoft.com/office/drawing/2014/main" id="{1BE11E0E-31F5-4123-8EDD-97F1DC26462A}"/>
              </a:ext>
            </a:extLst>
          </p:cNvPr>
          <p:cNvSpPr>
            <a:spLocks xmlns:a="http://schemas.openxmlformats.org/drawingml/2006/main" noGrp="1"/>
          </p:cNvSpPr>
          <p:nvPr/>
        </p:nvSpPr>
        <p:spPr>
          <a:xfrm xmlns:a="http://schemas.openxmlformats.org/drawingml/2006/main" rot="0">
            <a:off x="5705475" y="3429000"/>
            <a:ext cx="266700" cy="114300"/>
          </a:xfrm>
          <a:prstGeom xmlns:a="http://schemas.openxmlformats.org/drawingml/2006/main" prst="downArrow">
            <a:avLst/>
          </a:prstGeom>
          <a:solidFill xmlns:a="http://schemas.openxmlformats.org/drawingml/2006/main">
            <a:srgbClr val="FF5B2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AF22F7-A9BA-49B0-824C-1F6E34E88385}"/>
              </a:ext>
            </a:extLst>
          </p:cNvPr>
          <p:cNvSpPr>
            <a:spLocks xmlns:a="http://schemas.openxmlformats.org/drawingml/2006/main" noGrp="1"/>
          </p:cNvSpPr>
          <p:nvPr/>
        </p:nvSpPr>
        <p:spPr>
          <a:xfrm xmlns:a="http://schemas.openxmlformats.org/drawingml/2006/main" rot="0">
            <a:off x="1809750" y="4038600"/>
            <a:ext cx="266700" cy="114300"/>
          </a:xfrm>
          <a:prstGeom xmlns:a="http://schemas.openxmlformats.org/drawingml/2006/main" prst="leftArrow">
            <a:avLst/>
          </a:prstGeom>
          <a:solidFill xmlns:a="http://schemas.openxmlformats.org/drawingml/2006/main">
            <a:srgbClr val="FF5B2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B65162A-E30A-4922-B7D0-91D72011F74C}"/>
              </a:ext>
            </a:extLst>
          </p:cNvPr>
          <p:cNvSpPr>
            <a:spLocks xmlns:a="http://schemas.openxmlformats.org/drawingml/2006/main" noGrp="1"/>
          </p:cNvSpPr>
          <p:nvPr/>
        </p:nvSpPr>
        <p:spPr>
          <a:xfrm xmlns:a="http://schemas.openxmlformats.org/drawingml/2006/main" rot="0">
            <a:off x="3352800" y="4038600"/>
            <a:ext cx="266700" cy="114300"/>
          </a:xfrm>
          <a:prstGeom xmlns:a="http://schemas.openxmlformats.org/drawingml/2006/main" prst="leftArrow">
            <a:avLst/>
          </a:prstGeom>
          <a:solidFill xmlns:a="http://schemas.openxmlformats.org/drawingml/2006/main">
            <a:srgbClr val="33333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1E8F8F0-BC4A-46AC-A511-643AE88A3985}"/>
              </a:ext>
            </a:extLst>
          </p:cNvPr>
          <p:cNvSpPr>
            <a:spLocks xmlns:a="http://schemas.openxmlformats.org/drawingml/2006/main" noGrp="1"/>
          </p:cNvSpPr>
          <p:nvPr/>
        </p:nvSpPr>
        <p:spPr>
          <a:xfrm xmlns:a="http://schemas.openxmlformats.org/drawingml/2006/main" rot="0">
            <a:off x="4895850" y="4038600"/>
            <a:ext cx="266700" cy="114300"/>
          </a:xfrm>
          <a:prstGeom xmlns:a="http://schemas.openxmlformats.org/drawingml/2006/main" prst="leftArrow">
            <a:avLst/>
          </a:prstGeom>
          <a:solidFill xmlns:a="http://schemas.openxmlformats.org/drawingml/2006/main">
            <a:srgbClr val="33333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8A9CDD1-E81D-4635-909A-0FE3473CDFA6}"/>
              </a:ext>
            </a:extLst>
          </p:cNvPr>
          <p:cNvSpPr>
            <a:spLocks xmlns:a="http://schemas.openxmlformats.org/drawingml/2006/main" noGrp="1"/>
          </p:cNvSpPr>
          <p:nvPr/>
        </p:nvSpPr>
        <p:spPr>
          <a:xfrm xmlns:a="http://schemas.openxmlformats.org/drawingml/2006/main" rot="0">
            <a:off x="609600" y="215265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18" name="">
            <a:extLst xmlns:a="http://schemas.openxmlformats.org/drawingml/2006/main">
              <a:ext uri="{FF2B5EF4-FFF2-40B4-BE49-F238E27FC236}">
                <a16:creationId xmlns:a16="http://schemas.microsoft.com/office/drawing/2014/main" id="{1A8CDBBA-DD70-405A-A5F6-E2335B01260A}"/>
              </a:ext>
            </a:extLst>
          </p:cNvPr>
          <p:cNvSpPr>
            <a:spLocks xmlns:a="http://schemas.openxmlformats.org/drawingml/2006/main" noGrp="1"/>
          </p:cNvSpPr>
          <p:nvPr/>
        </p:nvSpPr>
        <p:spPr>
          <a:xfrm xmlns:a="http://schemas.openxmlformats.org/drawingml/2006/main" rot="0">
            <a:off x="73342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CLAIM</a:t>
            </a:r>
          </a:p>
        </p:txBody>
      </p:sp>
      <p:sp>
        <p:nvSpPr>
          <p:cNvPr id="19" name="">
            <a:extLst xmlns:a="http://schemas.openxmlformats.org/drawingml/2006/main">
              <a:ext uri="{FF2B5EF4-FFF2-40B4-BE49-F238E27FC236}">
                <a16:creationId xmlns:a16="http://schemas.microsoft.com/office/drawing/2014/main" id="{29C3597A-AF10-47C4-8155-69FC1ADE9F45}"/>
              </a:ext>
            </a:extLst>
          </p:cNvPr>
          <p:cNvSpPr>
            <a:spLocks xmlns:a="http://schemas.openxmlformats.org/drawingml/2006/main" noGrp="1"/>
          </p:cNvSpPr>
          <p:nvPr/>
        </p:nvSpPr>
        <p:spPr>
          <a:xfrm xmlns:a="http://schemas.openxmlformats.org/drawingml/2006/main" rot="0">
            <a:off x="73342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Compile</a:t>
            </a:r>
          </a:p>
        </p:txBody>
      </p:sp>
      <p:sp>
        <p:nvSpPr>
          <p:cNvPr id="20" name="">
            <a:extLst xmlns:a="http://schemas.openxmlformats.org/drawingml/2006/main">
              <a:ext uri="{FF2B5EF4-FFF2-40B4-BE49-F238E27FC236}">
                <a16:creationId xmlns:a16="http://schemas.microsoft.com/office/drawing/2014/main" id="{9DC7D3A7-85E9-4F93-BBD1-7C741DAB1DB0}"/>
              </a:ext>
            </a:extLst>
          </p:cNvPr>
          <p:cNvSpPr>
            <a:spLocks xmlns:a="http://schemas.openxmlformats.org/drawingml/2006/main" noGrp="1"/>
          </p:cNvSpPr>
          <p:nvPr/>
        </p:nvSpPr>
        <p:spPr>
          <a:xfrm xmlns:a="http://schemas.openxmlformats.org/drawingml/2006/main" rot="0">
            <a:off x="2152650" y="215265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21" name="">
            <a:extLst xmlns:a="http://schemas.openxmlformats.org/drawingml/2006/main">
              <a:ext uri="{FF2B5EF4-FFF2-40B4-BE49-F238E27FC236}">
                <a16:creationId xmlns:a16="http://schemas.microsoft.com/office/drawing/2014/main" id="{0C82BB0B-4C11-43C1-96A7-223A8707C3CC}"/>
              </a:ext>
            </a:extLst>
          </p:cNvPr>
          <p:cNvSpPr>
            <a:spLocks xmlns:a="http://schemas.openxmlformats.org/drawingml/2006/main" noGrp="1"/>
          </p:cNvSpPr>
          <p:nvPr/>
        </p:nvSpPr>
        <p:spPr>
          <a:xfrm xmlns:a="http://schemas.openxmlformats.org/drawingml/2006/main" rot="0">
            <a:off x="227647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PLAN</a:t>
            </a:r>
          </a:p>
        </p:txBody>
      </p:sp>
      <p:sp>
        <p:nvSpPr>
          <p:cNvPr id="22" name="">
            <a:extLst xmlns:a="http://schemas.openxmlformats.org/drawingml/2006/main">
              <a:ext uri="{FF2B5EF4-FFF2-40B4-BE49-F238E27FC236}">
                <a16:creationId xmlns:a16="http://schemas.microsoft.com/office/drawing/2014/main" id="{D4178813-D590-4047-900D-A310685C9D01}"/>
              </a:ext>
            </a:extLst>
          </p:cNvPr>
          <p:cNvSpPr>
            <a:spLocks xmlns:a="http://schemas.openxmlformats.org/drawingml/2006/main" noGrp="1"/>
          </p:cNvSpPr>
          <p:nvPr/>
        </p:nvSpPr>
        <p:spPr>
          <a:xfrm xmlns:a="http://schemas.openxmlformats.org/drawingml/2006/main" rot="0">
            <a:off x="227647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Bound</a:t>
            </a:r>
          </a:p>
        </p:txBody>
      </p:sp>
      <p:sp>
        <p:nvSpPr>
          <p:cNvPr id="23" name="">
            <a:extLst xmlns:a="http://schemas.openxmlformats.org/drawingml/2006/main">
              <a:ext uri="{FF2B5EF4-FFF2-40B4-BE49-F238E27FC236}">
                <a16:creationId xmlns:a16="http://schemas.microsoft.com/office/drawing/2014/main" id="{4F0B184C-1531-4285-8EDE-AF044C58C67C}"/>
              </a:ext>
            </a:extLst>
          </p:cNvPr>
          <p:cNvSpPr>
            <a:spLocks xmlns:a="http://schemas.openxmlformats.org/drawingml/2006/main" noGrp="1"/>
          </p:cNvSpPr>
          <p:nvPr/>
        </p:nvSpPr>
        <p:spPr>
          <a:xfrm xmlns:a="http://schemas.openxmlformats.org/drawingml/2006/main" rot="0">
            <a:off x="3695700" y="215265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24" name="">
            <a:extLst xmlns:a="http://schemas.openxmlformats.org/drawingml/2006/main">
              <a:ext uri="{FF2B5EF4-FFF2-40B4-BE49-F238E27FC236}">
                <a16:creationId xmlns:a16="http://schemas.microsoft.com/office/drawing/2014/main" id="{6BC27429-7E30-495C-87B0-C0B4441C1B5C}"/>
              </a:ext>
            </a:extLst>
          </p:cNvPr>
          <p:cNvSpPr>
            <a:spLocks xmlns:a="http://schemas.openxmlformats.org/drawingml/2006/main" noGrp="1"/>
          </p:cNvSpPr>
          <p:nvPr/>
        </p:nvSpPr>
        <p:spPr>
          <a:xfrm xmlns:a="http://schemas.openxmlformats.org/drawingml/2006/main" rot="0">
            <a:off x="381952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OBSERVE</a:t>
            </a:r>
          </a:p>
        </p:txBody>
      </p:sp>
      <p:sp>
        <p:nvSpPr>
          <p:cNvPr id="25" name="">
            <a:extLst xmlns:a="http://schemas.openxmlformats.org/drawingml/2006/main">
              <a:ext uri="{FF2B5EF4-FFF2-40B4-BE49-F238E27FC236}">
                <a16:creationId xmlns:a16="http://schemas.microsoft.com/office/drawing/2014/main" id="{F0B1EB05-729B-465B-B12A-18C64179F3D7}"/>
              </a:ext>
            </a:extLst>
          </p:cNvPr>
          <p:cNvSpPr>
            <a:spLocks xmlns:a="http://schemas.openxmlformats.org/drawingml/2006/main" noGrp="1"/>
          </p:cNvSpPr>
          <p:nvPr/>
        </p:nvSpPr>
        <p:spPr>
          <a:xfrm xmlns:a="http://schemas.openxmlformats.org/drawingml/2006/main" rot="0">
            <a:off x="381952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Probe</a:t>
            </a:r>
          </a:p>
        </p:txBody>
      </p:sp>
      <p:sp>
        <p:nvSpPr>
          <p:cNvPr id="26" name="">
            <a:extLst xmlns:a="http://schemas.openxmlformats.org/drawingml/2006/main">
              <a:ext uri="{FF2B5EF4-FFF2-40B4-BE49-F238E27FC236}">
                <a16:creationId xmlns:a16="http://schemas.microsoft.com/office/drawing/2014/main" id="{EC49022D-D925-4FFC-863F-1DC20C988C71}"/>
              </a:ext>
            </a:extLst>
          </p:cNvPr>
          <p:cNvSpPr>
            <a:spLocks xmlns:a="http://schemas.openxmlformats.org/drawingml/2006/main" noGrp="1"/>
          </p:cNvSpPr>
          <p:nvPr/>
        </p:nvSpPr>
        <p:spPr>
          <a:xfrm xmlns:a="http://schemas.openxmlformats.org/drawingml/2006/main" rot="0">
            <a:off x="5238750" y="2152650"/>
            <a:ext cx="1200150" cy="723900"/>
          </a:xfrm>
          <a:prstGeom xmlns:a="http://schemas.openxmlformats.org/drawingml/2006/main" prst="roundRect">
            <a:avLst>
              <a:gd name="adj" fmla="val 13158"/>
            </a:avLst>
          </a:prstGeom>
          <a:solidFill xmlns:a="http://schemas.openxmlformats.org/drawingml/2006/main">
            <a:srgbClr val="23150F"/>
          </a:solidFill>
          <a:ln xmlns:a="http://schemas.openxmlformats.org/drawingml/2006/main" w="9525">
            <a:solidFill>
              <a:srgbClr val="FF5B22"/>
            </a:solidFill>
            <a:prstDash val="solid"/>
          </a:ln>
        </p:spPr>
      </p:sp>
      <p:sp>
        <p:nvSpPr>
          <p:cNvPr id="27" name="">
            <a:extLst xmlns:a="http://schemas.openxmlformats.org/drawingml/2006/main">
              <a:ext uri="{FF2B5EF4-FFF2-40B4-BE49-F238E27FC236}">
                <a16:creationId xmlns:a16="http://schemas.microsoft.com/office/drawing/2014/main" id="{FAD99D46-E9AE-46D9-95B8-B74876911D9F}"/>
              </a:ext>
            </a:extLst>
          </p:cNvPr>
          <p:cNvSpPr>
            <a:spLocks xmlns:a="http://schemas.openxmlformats.org/drawingml/2006/main" noGrp="1"/>
          </p:cNvSpPr>
          <p:nvPr/>
        </p:nvSpPr>
        <p:spPr>
          <a:xfrm xmlns:a="http://schemas.openxmlformats.org/drawingml/2006/main" rot="0">
            <a:off x="536257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F5B22"/>
                </a:solidFill>
                <a:latin typeface="Courier New"/>
                <a:ea typeface="Courier New"/>
                <a:cs typeface="Courier New"/>
              </a:defRPr>
            </a:pPr>
            <a:r>
              <a:rPr sz="1125" b="1">
                <a:solidFill>
                  <a:srgbClr val="FF5B22"/>
                </a:solidFill>
                <a:latin typeface="Courier New"/>
                <a:ea typeface="Courier New"/>
                <a:cs typeface="Courier New"/>
              </a:rPr>
              <a:t>CHALLENGE</a:t>
            </a:r>
          </a:p>
        </p:txBody>
      </p:sp>
      <p:sp>
        <p:nvSpPr>
          <p:cNvPr id="28" name="">
            <a:extLst xmlns:a="http://schemas.openxmlformats.org/drawingml/2006/main">
              <a:ext uri="{FF2B5EF4-FFF2-40B4-BE49-F238E27FC236}">
                <a16:creationId xmlns:a16="http://schemas.microsoft.com/office/drawing/2014/main" id="{5AD5B6C7-E40C-41A7-8E34-22434498FA5F}"/>
              </a:ext>
            </a:extLst>
          </p:cNvPr>
          <p:cNvSpPr>
            <a:spLocks xmlns:a="http://schemas.openxmlformats.org/drawingml/2006/main" noGrp="1"/>
          </p:cNvSpPr>
          <p:nvPr/>
        </p:nvSpPr>
        <p:spPr>
          <a:xfrm xmlns:a="http://schemas.openxmlformats.org/drawingml/2006/main" rot="0">
            <a:off x="536257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Falsify</a:t>
            </a:r>
          </a:p>
        </p:txBody>
      </p:sp>
      <p:sp>
        <p:nvSpPr>
          <p:cNvPr id="29" name="">
            <a:extLst xmlns:a="http://schemas.openxmlformats.org/drawingml/2006/main">
              <a:ext uri="{FF2B5EF4-FFF2-40B4-BE49-F238E27FC236}">
                <a16:creationId xmlns:a16="http://schemas.microsoft.com/office/drawing/2014/main" id="{FA4581F3-25D5-466E-8F87-EF8CC93B44D2}"/>
              </a:ext>
            </a:extLst>
          </p:cNvPr>
          <p:cNvSpPr>
            <a:spLocks xmlns:a="http://schemas.openxmlformats.org/drawingml/2006/main" noGrp="1"/>
          </p:cNvSpPr>
          <p:nvPr/>
        </p:nvSpPr>
        <p:spPr>
          <a:xfrm xmlns:a="http://schemas.openxmlformats.org/drawingml/2006/main" rot="0">
            <a:off x="609600" y="373380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30" name="">
            <a:extLst xmlns:a="http://schemas.openxmlformats.org/drawingml/2006/main">
              <a:ext uri="{FF2B5EF4-FFF2-40B4-BE49-F238E27FC236}">
                <a16:creationId xmlns:a16="http://schemas.microsoft.com/office/drawing/2014/main" id="{D28FEA2E-CF29-44AF-9883-4282AA4B5E4E}"/>
              </a:ext>
            </a:extLst>
          </p:cNvPr>
          <p:cNvSpPr>
            <a:spLocks xmlns:a="http://schemas.openxmlformats.org/drawingml/2006/main" noGrp="1"/>
          </p:cNvSpPr>
          <p:nvPr/>
        </p:nvSpPr>
        <p:spPr>
          <a:xfrm xmlns:a="http://schemas.openxmlformats.org/drawingml/2006/main" rot="0">
            <a:off x="73342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DECIDE</a:t>
            </a:r>
          </a:p>
        </p:txBody>
      </p:sp>
      <p:sp>
        <p:nvSpPr>
          <p:cNvPr id="31" name="">
            <a:extLst xmlns:a="http://schemas.openxmlformats.org/drawingml/2006/main">
              <a:ext uri="{FF2B5EF4-FFF2-40B4-BE49-F238E27FC236}">
                <a16:creationId xmlns:a16="http://schemas.microsoft.com/office/drawing/2014/main" id="{8E667ED5-5A66-4F61-99CF-33097EECA941}"/>
              </a:ext>
            </a:extLst>
          </p:cNvPr>
          <p:cNvSpPr>
            <a:spLocks xmlns:a="http://schemas.openxmlformats.org/drawingml/2006/main" noGrp="1"/>
          </p:cNvSpPr>
          <p:nvPr/>
        </p:nvSpPr>
        <p:spPr>
          <a:xfrm xmlns:a="http://schemas.openxmlformats.org/drawingml/2006/main" rot="0">
            <a:off x="73342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Request</a:t>
            </a:r>
          </a:p>
        </p:txBody>
      </p:sp>
      <p:sp>
        <p:nvSpPr>
          <p:cNvPr id="32" name="">
            <a:extLst xmlns:a="http://schemas.openxmlformats.org/drawingml/2006/main">
              <a:ext uri="{FF2B5EF4-FFF2-40B4-BE49-F238E27FC236}">
                <a16:creationId xmlns:a16="http://schemas.microsoft.com/office/drawing/2014/main" id="{893D3DC5-DFA4-4E00-BC5A-A1A405B3499F}"/>
              </a:ext>
            </a:extLst>
          </p:cNvPr>
          <p:cNvSpPr>
            <a:spLocks xmlns:a="http://schemas.openxmlformats.org/drawingml/2006/main" noGrp="1"/>
          </p:cNvSpPr>
          <p:nvPr/>
        </p:nvSpPr>
        <p:spPr>
          <a:xfrm xmlns:a="http://schemas.openxmlformats.org/drawingml/2006/main" rot="0">
            <a:off x="2152650" y="373380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33" name="">
            <a:extLst xmlns:a="http://schemas.openxmlformats.org/drawingml/2006/main">
              <a:ext uri="{FF2B5EF4-FFF2-40B4-BE49-F238E27FC236}">
                <a16:creationId xmlns:a16="http://schemas.microsoft.com/office/drawing/2014/main" id="{284DA486-C0F1-4DEE-A5E7-63889D20C21F}"/>
              </a:ext>
            </a:extLst>
          </p:cNvPr>
          <p:cNvSpPr>
            <a:spLocks xmlns:a="http://schemas.openxmlformats.org/drawingml/2006/main" noGrp="1"/>
          </p:cNvSpPr>
          <p:nvPr/>
        </p:nvSpPr>
        <p:spPr>
          <a:xfrm xmlns:a="http://schemas.openxmlformats.org/drawingml/2006/main" rot="0">
            <a:off x="227647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AUDIT</a:t>
            </a:r>
          </a:p>
        </p:txBody>
      </p:sp>
      <p:sp>
        <p:nvSpPr>
          <p:cNvPr id="34" name="">
            <a:extLst xmlns:a="http://schemas.openxmlformats.org/drawingml/2006/main">
              <a:ext uri="{FF2B5EF4-FFF2-40B4-BE49-F238E27FC236}">
                <a16:creationId xmlns:a16="http://schemas.microsoft.com/office/drawing/2014/main" id="{A9EAD97C-8936-4CEE-B464-DB6DD8BF6CFC}"/>
              </a:ext>
            </a:extLst>
          </p:cNvPr>
          <p:cNvSpPr>
            <a:spLocks xmlns:a="http://schemas.openxmlformats.org/drawingml/2006/main" noGrp="1"/>
          </p:cNvSpPr>
          <p:nvPr/>
        </p:nvSpPr>
        <p:spPr>
          <a:xfrm xmlns:a="http://schemas.openxmlformats.org/drawingml/2006/main" rot="0">
            <a:off x="227647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Verify</a:t>
            </a:r>
          </a:p>
        </p:txBody>
      </p:sp>
      <p:sp>
        <p:nvSpPr>
          <p:cNvPr id="35" name="">
            <a:extLst xmlns:a="http://schemas.openxmlformats.org/drawingml/2006/main">
              <a:ext uri="{FF2B5EF4-FFF2-40B4-BE49-F238E27FC236}">
                <a16:creationId xmlns:a16="http://schemas.microsoft.com/office/drawing/2014/main" id="{32A22741-6470-4175-9739-AAB76ADAD12E}"/>
              </a:ext>
            </a:extLst>
          </p:cNvPr>
          <p:cNvSpPr>
            <a:spLocks xmlns:a="http://schemas.openxmlformats.org/drawingml/2006/main" noGrp="1"/>
          </p:cNvSpPr>
          <p:nvPr/>
        </p:nvSpPr>
        <p:spPr>
          <a:xfrm xmlns:a="http://schemas.openxmlformats.org/drawingml/2006/main" rot="0">
            <a:off x="3695700" y="373380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36" name="">
            <a:extLst xmlns:a="http://schemas.openxmlformats.org/drawingml/2006/main">
              <a:ext uri="{FF2B5EF4-FFF2-40B4-BE49-F238E27FC236}">
                <a16:creationId xmlns:a16="http://schemas.microsoft.com/office/drawing/2014/main" id="{5C1E1562-C0B2-4C31-909E-0FFA228A313D}"/>
              </a:ext>
            </a:extLst>
          </p:cNvPr>
          <p:cNvSpPr>
            <a:spLocks xmlns:a="http://schemas.openxmlformats.org/drawingml/2006/main" noGrp="1"/>
          </p:cNvSpPr>
          <p:nvPr/>
        </p:nvSpPr>
        <p:spPr>
          <a:xfrm xmlns:a="http://schemas.openxmlformats.org/drawingml/2006/main" rot="0">
            <a:off x="381952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REPLAY</a:t>
            </a:r>
          </a:p>
        </p:txBody>
      </p:sp>
      <p:sp>
        <p:nvSpPr>
          <p:cNvPr id="37" name="">
            <a:extLst xmlns:a="http://schemas.openxmlformats.org/drawingml/2006/main">
              <a:ext uri="{FF2B5EF4-FFF2-40B4-BE49-F238E27FC236}">
                <a16:creationId xmlns:a16="http://schemas.microsoft.com/office/drawing/2014/main" id="{E2E6C59B-DF76-4BBC-97D8-EEFFB039D043}"/>
              </a:ext>
            </a:extLst>
          </p:cNvPr>
          <p:cNvSpPr>
            <a:spLocks xmlns:a="http://schemas.openxmlformats.org/drawingml/2006/main" noGrp="1"/>
          </p:cNvSpPr>
          <p:nvPr/>
        </p:nvSpPr>
        <p:spPr>
          <a:xfrm xmlns:a="http://schemas.openxmlformats.org/drawingml/2006/main" rot="0">
            <a:off x="381952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Recompute</a:t>
            </a:r>
          </a:p>
        </p:txBody>
      </p:sp>
      <p:sp>
        <p:nvSpPr>
          <p:cNvPr id="38" name="">
            <a:extLst xmlns:a="http://schemas.openxmlformats.org/drawingml/2006/main">
              <a:ext uri="{FF2B5EF4-FFF2-40B4-BE49-F238E27FC236}">
                <a16:creationId xmlns:a16="http://schemas.microsoft.com/office/drawing/2014/main" id="{217A8DA0-4C7D-437A-9547-6C61B83436F1}"/>
              </a:ext>
            </a:extLst>
          </p:cNvPr>
          <p:cNvSpPr>
            <a:spLocks xmlns:a="http://schemas.openxmlformats.org/drawingml/2006/main" noGrp="1"/>
          </p:cNvSpPr>
          <p:nvPr/>
        </p:nvSpPr>
        <p:spPr>
          <a:xfrm xmlns:a="http://schemas.openxmlformats.org/drawingml/2006/main" rot="0">
            <a:off x="5238750" y="3733800"/>
            <a:ext cx="1200150" cy="723900"/>
          </a:xfrm>
          <a:prstGeom xmlns:a="http://schemas.openxmlformats.org/drawingml/2006/main" prst="roundRect">
            <a:avLst>
              <a:gd name="adj" fmla="val 13158"/>
            </a:avLst>
          </a:prstGeom>
          <a:solidFill xmlns:a="http://schemas.openxmlformats.org/drawingml/2006/main">
            <a:srgbClr val="23150F"/>
          </a:solidFill>
          <a:ln xmlns:a="http://schemas.openxmlformats.org/drawingml/2006/main" w="9525">
            <a:solidFill>
              <a:srgbClr val="FF5B22"/>
            </a:solidFill>
            <a:prstDash val="solid"/>
          </a:ln>
        </p:spPr>
      </p:sp>
      <p:sp>
        <p:nvSpPr>
          <p:cNvPr id="39" name="">
            <a:extLst xmlns:a="http://schemas.openxmlformats.org/drawingml/2006/main">
              <a:ext uri="{FF2B5EF4-FFF2-40B4-BE49-F238E27FC236}">
                <a16:creationId xmlns:a16="http://schemas.microsoft.com/office/drawing/2014/main" id="{F5F98407-E7AB-4EC0-B866-9FDA27C676C5}"/>
              </a:ext>
            </a:extLst>
          </p:cNvPr>
          <p:cNvSpPr>
            <a:spLocks xmlns:a="http://schemas.openxmlformats.org/drawingml/2006/main" noGrp="1"/>
          </p:cNvSpPr>
          <p:nvPr/>
        </p:nvSpPr>
        <p:spPr>
          <a:xfrm xmlns:a="http://schemas.openxmlformats.org/drawingml/2006/main" rot="0">
            <a:off x="536257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F5B22"/>
                </a:solidFill>
                <a:latin typeface="Courier New"/>
                <a:ea typeface="Courier New"/>
                <a:cs typeface="Courier New"/>
              </a:defRPr>
            </a:pPr>
            <a:r>
              <a:rPr sz="1125" b="1">
                <a:solidFill>
                  <a:srgbClr val="FF5B22"/>
                </a:solidFill>
                <a:latin typeface="Courier New"/>
                <a:ea typeface="Courier New"/>
                <a:cs typeface="Courier New"/>
              </a:rPr>
              <a:t>HUMAN</a:t>
            </a:r>
          </a:p>
        </p:txBody>
      </p:sp>
      <p:sp>
        <p:nvSpPr>
          <p:cNvPr id="40" name="">
            <a:extLst xmlns:a="http://schemas.openxmlformats.org/drawingml/2006/main">
              <a:ext uri="{FF2B5EF4-FFF2-40B4-BE49-F238E27FC236}">
                <a16:creationId xmlns:a16="http://schemas.microsoft.com/office/drawing/2014/main" id="{659147EB-2C7A-4C4C-8F9F-A6A5A265D494}"/>
              </a:ext>
            </a:extLst>
          </p:cNvPr>
          <p:cNvSpPr>
            <a:spLocks xmlns:a="http://schemas.openxmlformats.org/drawingml/2006/main" noGrp="1"/>
          </p:cNvSpPr>
          <p:nvPr/>
        </p:nvSpPr>
        <p:spPr>
          <a:xfrm xmlns:a="http://schemas.openxmlformats.org/drawingml/2006/main" rot="0">
            <a:off x="536257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Approve</a:t>
            </a:r>
          </a:p>
        </p:txBody>
      </p:sp>
      <p:sp>
        <p:nvSpPr>
          <p:cNvPr id="41" name="">
            <a:extLst xmlns:a="http://schemas.openxmlformats.org/drawingml/2006/main">
              <a:ext uri="{FF2B5EF4-FFF2-40B4-BE49-F238E27FC236}">
                <a16:creationId xmlns:a16="http://schemas.microsoft.com/office/drawing/2014/main" id="{E340183D-5D00-46FE-9AC1-765D24DB35BA}"/>
              </a:ext>
            </a:extLst>
          </p:cNvPr>
          <p:cNvSpPr>
            <a:spLocks xmlns:a="http://schemas.openxmlformats.org/drawingml/2006/main" noGrp="1"/>
          </p:cNvSpPr>
          <p:nvPr/>
        </p:nvSpPr>
        <p:spPr>
          <a:xfrm xmlns:a="http://schemas.openxmlformats.org/drawingml/2006/main" rot="0">
            <a:off x="609600" y="48291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FIVE INDEPENDENT EVIDENCE LANES</a:t>
            </a:r>
          </a:p>
        </p:txBody>
      </p:sp>
      <p:sp>
        <p:nvSpPr>
          <p:cNvPr id="42" name="">
            <a:extLst xmlns:a="http://schemas.openxmlformats.org/drawingml/2006/main">
              <a:ext uri="{FF2B5EF4-FFF2-40B4-BE49-F238E27FC236}">
                <a16:creationId xmlns:a16="http://schemas.microsoft.com/office/drawing/2014/main" id="{6FF5809B-8694-4DC4-AB20-0FDB5D43AE0E}"/>
              </a:ext>
            </a:extLst>
          </p:cNvPr>
          <p:cNvSpPr>
            <a:spLocks xmlns:a="http://schemas.openxmlformats.org/drawingml/2006/main" noGrp="1"/>
          </p:cNvSpPr>
          <p:nvPr/>
        </p:nvSpPr>
        <p:spPr>
          <a:xfrm xmlns:a="http://schemas.openxmlformats.org/drawingml/2006/main">
            <a:off x="609600" y="5200650"/>
            <a:ext cx="64770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43" name="">
            <a:extLst xmlns:a="http://schemas.openxmlformats.org/drawingml/2006/main">
              <a:ext uri="{FF2B5EF4-FFF2-40B4-BE49-F238E27FC236}">
                <a16:creationId xmlns:a16="http://schemas.microsoft.com/office/drawing/2014/main" id="{C82A9D95-22D3-45EC-97C9-76221D7EF05D}"/>
              </a:ext>
            </a:extLst>
          </p:cNvPr>
          <p:cNvSpPr>
            <a:spLocks xmlns:a="http://schemas.openxmlformats.org/drawingml/2006/main" noGrp="1"/>
          </p:cNvSpPr>
          <p:nvPr/>
        </p:nvSpPr>
        <p:spPr>
          <a:xfrm xmlns:a="http://schemas.openxmlformats.org/drawingml/2006/main" rot="0">
            <a:off x="1447800" y="5124450"/>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F4F3EF"/>
                </a:solidFill>
                <a:latin typeface="Courier New"/>
                <a:ea typeface="Courier New"/>
                <a:cs typeface="Courier New"/>
              </a:defRPr>
            </a:pPr>
            <a:r>
              <a:rPr sz="900" b="1">
                <a:solidFill>
                  <a:srgbClr val="F4F3EF"/>
                </a:solidFill>
                <a:latin typeface="Courier New"/>
                <a:ea typeface="Courier New"/>
                <a:cs typeface="Courier New"/>
              </a:rPr>
              <a:t>STORE OBSERVATION</a:t>
            </a:r>
          </a:p>
        </p:txBody>
      </p:sp>
      <p:sp>
        <p:nvSpPr>
          <p:cNvPr id="44" name="">
            <a:extLst xmlns:a="http://schemas.openxmlformats.org/drawingml/2006/main">
              <a:ext uri="{FF2B5EF4-FFF2-40B4-BE49-F238E27FC236}">
                <a16:creationId xmlns:a16="http://schemas.microsoft.com/office/drawing/2014/main" id="{24871A12-E74C-427E-9F0F-1A911B953E97}"/>
              </a:ext>
            </a:extLst>
          </p:cNvPr>
          <p:cNvSpPr>
            <a:spLocks xmlns:a="http://schemas.openxmlformats.org/drawingml/2006/main" noGrp="1"/>
          </p:cNvSpPr>
          <p:nvPr/>
        </p:nvSpPr>
        <p:spPr>
          <a:xfrm xmlns:a="http://schemas.openxmlformats.org/drawingml/2006/main">
            <a:off x="609600" y="5419725"/>
            <a:ext cx="85725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45" name="">
            <a:extLst xmlns:a="http://schemas.openxmlformats.org/drawingml/2006/main">
              <a:ext uri="{FF2B5EF4-FFF2-40B4-BE49-F238E27FC236}">
                <a16:creationId xmlns:a16="http://schemas.microsoft.com/office/drawing/2014/main" id="{617C145C-33D8-4A24-AF56-5D4CC0536404}"/>
              </a:ext>
            </a:extLst>
          </p:cNvPr>
          <p:cNvSpPr>
            <a:spLocks xmlns:a="http://schemas.openxmlformats.org/drawingml/2006/main" noGrp="1"/>
          </p:cNvSpPr>
          <p:nvPr/>
        </p:nvSpPr>
        <p:spPr>
          <a:xfrm xmlns:a="http://schemas.openxmlformats.org/drawingml/2006/main" rot="0">
            <a:off x="1657350" y="5343525"/>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F4F3EF"/>
                </a:solidFill>
                <a:latin typeface="Courier New"/>
                <a:ea typeface="Courier New"/>
                <a:cs typeface="Courier New"/>
              </a:defRPr>
            </a:pPr>
            <a:r>
              <a:rPr sz="900" b="1">
                <a:solidFill>
                  <a:srgbClr val="F4F3EF"/>
                </a:solidFill>
                <a:latin typeface="Courier New"/>
                <a:ea typeface="Courier New"/>
                <a:cs typeface="Courier New"/>
              </a:rPr>
              <a:t>SYNTHETIC CONSUMER</a:t>
            </a:r>
          </a:p>
        </p:txBody>
      </p:sp>
      <p:sp>
        <p:nvSpPr>
          <p:cNvPr id="46" name="">
            <a:extLst xmlns:a="http://schemas.openxmlformats.org/drawingml/2006/main">
              <a:ext uri="{FF2B5EF4-FFF2-40B4-BE49-F238E27FC236}">
                <a16:creationId xmlns:a16="http://schemas.microsoft.com/office/drawing/2014/main" id="{55D85C3E-72F2-41A0-B7FE-23A0189253B8}"/>
              </a:ext>
            </a:extLst>
          </p:cNvPr>
          <p:cNvSpPr>
            <a:spLocks xmlns:a="http://schemas.openxmlformats.org/drawingml/2006/main" noGrp="1"/>
          </p:cNvSpPr>
          <p:nvPr/>
        </p:nvSpPr>
        <p:spPr>
          <a:xfrm xmlns:a="http://schemas.openxmlformats.org/drawingml/2006/main">
            <a:off x="609600" y="5638800"/>
            <a:ext cx="1066800" cy="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47" name="">
            <a:extLst xmlns:a="http://schemas.openxmlformats.org/drawingml/2006/main">
              <a:ext uri="{FF2B5EF4-FFF2-40B4-BE49-F238E27FC236}">
                <a16:creationId xmlns:a16="http://schemas.microsoft.com/office/drawing/2014/main" id="{D9D51F94-D49C-41A9-AD55-B8EE59E198DC}"/>
              </a:ext>
            </a:extLst>
          </p:cNvPr>
          <p:cNvSpPr>
            <a:spLocks xmlns:a="http://schemas.openxmlformats.org/drawingml/2006/main" noGrp="1"/>
          </p:cNvSpPr>
          <p:nvPr/>
        </p:nvSpPr>
        <p:spPr>
          <a:xfrm xmlns:a="http://schemas.openxmlformats.org/drawingml/2006/main" rot="0">
            <a:off x="1866900" y="5562600"/>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A6A3A0"/>
                </a:solidFill>
                <a:latin typeface="Courier New"/>
                <a:ea typeface="Courier New"/>
                <a:cs typeface="Courier New"/>
              </a:defRPr>
            </a:pPr>
            <a:r>
              <a:rPr sz="900" b="1">
                <a:solidFill>
                  <a:srgbClr val="A6A3A0"/>
                </a:solidFill>
                <a:latin typeface="Courier New"/>
                <a:ea typeface="Courier New"/>
                <a:cs typeface="Courier New"/>
              </a:rPr>
              <a:t>DIGITAL FOOTPRINT</a:t>
            </a:r>
          </a:p>
        </p:txBody>
      </p:sp>
      <p:sp>
        <p:nvSpPr>
          <p:cNvPr id="48" name="">
            <a:extLst xmlns:a="http://schemas.openxmlformats.org/drawingml/2006/main">
              <a:ext uri="{FF2B5EF4-FFF2-40B4-BE49-F238E27FC236}">
                <a16:creationId xmlns:a16="http://schemas.microsoft.com/office/drawing/2014/main" id="{1D634A6D-EDB3-44D4-89AC-43C41280F2EF}"/>
              </a:ext>
            </a:extLst>
          </p:cNvPr>
          <p:cNvSpPr>
            <a:spLocks xmlns:a="http://schemas.openxmlformats.org/drawingml/2006/main" noGrp="1"/>
          </p:cNvSpPr>
          <p:nvPr/>
        </p:nvSpPr>
        <p:spPr>
          <a:xfrm xmlns:a="http://schemas.openxmlformats.org/drawingml/2006/main">
            <a:off x="609600" y="5857875"/>
            <a:ext cx="1276350" cy="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49" name="">
            <a:extLst xmlns:a="http://schemas.openxmlformats.org/drawingml/2006/main">
              <a:ext uri="{FF2B5EF4-FFF2-40B4-BE49-F238E27FC236}">
                <a16:creationId xmlns:a16="http://schemas.microsoft.com/office/drawing/2014/main" id="{100A1FC1-5797-49B7-BB0B-140CAC88B405}"/>
              </a:ext>
            </a:extLst>
          </p:cNvPr>
          <p:cNvSpPr>
            <a:spLocks xmlns:a="http://schemas.openxmlformats.org/drawingml/2006/main" noGrp="1"/>
          </p:cNvSpPr>
          <p:nvPr/>
        </p:nvSpPr>
        <p:spPr>
          <a:xfrm xmlns:a="http://schemas.openxmlformats.org/drawingml/2006/main" rot="0">
            <a:off x="2076450" y="5781675"/>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A6A3A0"/>
                </a:solidFill>
                <a:latin typeface="Courier New"/>
                <a:ea typeface="Courier New"/>
                <a:cs typeface="Courier New"/>
              </a:defRPr>
            </a:pPr>
            <a:r>
              <a:rPr sz="900" b="1">
                <a:solidFill>
                  <a:srgbClr val="A6A3A0"/>
                </a:solidFill>
                <a:latin typeface="Courier New"/>
                <a:ea typeface="Courier New"/>
                <a:cs typeface="Courier New"/>
              </a:rPr>
              <a:t>LABOR</a:t>
            </a:r>
          </a:p>
        </p:txBody>
      </p:sp>
      <p:sp>
        <p:nvSpPr>
          <p:cNvPr id="50" name="">
            <a:extLst xmlns:a="http://schemas.openxmlformats.org/drawingml/2006/main">
              <a:ext uri="{FF2B5EF4-FFF2-40B4-BE49-F238E27FC236}">
                <a16:creationId xmlns:a16="http://schemas.microsoft.com/office/drawing/2014/main" id="{C085514B-B189-41C0-9FAC-3F93075292A7}"/>
              </a:ext>
            </a:extLst>
          </p:cNvPr>
          <p:cNvSpPr>
            <a:spLocks xmlns:a="http://schemas.openxmlformats.org/drawingml/2006/main" noGrp="1"/>
          </p:cNvSpPr>
          <p:nvPr/>
        </p:nvSpPr>
        <p:spPr>
          <a:xfrm xmlns:a="http://schemas.openxmlformats.org/drawingml/2006/main">
            <a:off x="609600" y="6076950"/>
            <a:ext cx="1485900" cy="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51" name="">
            <a:extLst xmlns:a="http://schemas.openxmlformats.org/drawingml/2006/main">
              <a:ext uri="{FF2B5EF4-FFF2-40B4-BE49-F238E27FC236}">
                <a16:creationId xmlns:a16="http://schemas.microsoft.com/office/drawing/2014/main" id="{BA4BCB0A-497A-4380-85E3-B93E60B12E3E}"/>
              </a:ext>
            </a:extLst>
          </p:cNvPr>
          <p:cNvSpPr>
            <a:spLocks xmlns:a="http://schemas.openxmlformats.org/drawingml/2006/main" noGrp="1"/>
          </p:cNvSpPr>
          <p:nvPr/>
        </p:nvSpPr>
        <p:spPr>
          <a:xfrm xmlns:a="http://schemas.openxmlformats.org/drawingml/2006/main" rot="0">
            <a:off x="2286000" y="6000750"/>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A6A3A0"/>
                </a:solidFill>
                <a:latin typeface="Courier New"/>
                <a:ea typeface="Courier New"/>
                <a:cs typeface="Courier New"/>
              </a:defRPr>
            </a:pPr>
            <a:r>
              <a:rPr sz="900" b="1">
                <a:solidFill>
                  <a:srgbClr val="A6A3A0"/>
                </a:solidFill>
                <a:latin typeface="Courier New"/>
                <a:ea typeface="Courier New"/>
                <a:cs typeface="Courier New"/>
              </a:rPr>
              <a:t>SUPPLY CHAIN</a:t>
            </a:r>
          </a:p>
        </p:txBody>
      </p:sp>
      <p:sp>
        <p:nvSpPr>
          <p:cNvPr id="52" name="replay-shot-frame">
            <a:extLst xmlns:a="http://schemas.openxmlformats.org/drawingml/2006/main">
              <a:ext uri="{FF2B5EF4-FFF2-40B4-BE49-F238E27FC236}">
                <a16:creationId xmlns:a16="http://schemas.microsoft.com/office/drawing/2014/main" id="{31DED053-73D2-4C67-8DD4-32F64269F507}"/>
              </a:ext>
            </a:extLst>
          </p:cNvPr>
          <p:cNvSpPr>
            <a:spLocks xmlns:a="http://schemas.openxmlformats.org/drawingml/2006/main" noGrp="1"/>
          </p:cNvSpPr>
          <p:nvPr/>
        </p:nvSpPr>
        <p:spPr>
          <a:xfrm xmlns:a="http://schemas.openxmlformats.org/drawingml/2006/main" rot="0">
            <a:off x="7458075" y="1743075"/>
            <a:ext cx="4152900" cy="2619375"/>
          </a:xfrm>
          <a:prstGeom xmlns:a="http://schemas.openxmlformats.org/drawingml/2006/main" prst="roundRect">
            <a:avLst>
              <a:gd name="adj" fmla="val 5091"/>
            </a:avLst>
          </a:prstGeom>
          <a:solidFill xmlns:a="http://schemas.openxmlformats.org/drawingml/2006/main">
            <a:srgbClr val="1A1A1D"/>
          </a:solidFill>
          <a:ln xmlns:a="http://schemas.openxmlformats.org/drawingml/2006/main" w="9525">
            <a:solidFill>
              <a:srgbClr val="FF5B22"/>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109" name=""/>
          <p:cNvPicPr>
            <a:picLocks xmlns:a="http://schemas.openxmlformats.org/drawingml/2006/main" noChangeAspect="1"/>
          </p:cNvPicPr>
          <p:nvPr/>
        </p:nvPicPr>
        <p:blipFill>
          <a:blip xmlns:r="http://schemas.openxmlformats.org/officeDocument/2006/relationships" xmlns:a="http://schemas.openxmlformats.org/drawingml/2006/main" r:embed="R8a1686527da149e2"/>
          <a:srcRect xmlns:a="http://schemas.openxmlformats.org/drawingml/2006/main" l="46" t="0" r="46" b="0"/>
          <a:stretch xmlns:a="http://schemas.openxmlformats.org/drawingml/2006/main">
            <a:fillRect l="0" t="0" r="0" b="0"/>
          </a:stretch>
        </p:blipFill>
        <p:spPr>
          <a:xfrm xmlns:a="http://schemas.openxmlformats.org/drawingml/2006/main">
            <a:off x="7486650" y="1771650"/>
            <a:ext cx="4095750" cy="2562225"/>
          </a:xfrm>
          <a:prstGeom xmlns:a="http://schemas.openxmlformats.org/drawingml/2006/main" prst="roundRect">
            <a:avLst>
              <a:gd name="adj" fmla="val 4461"/>
            </a:avLst>
          </a:prstGeom>
        </p:spPr>
      </p:pic>
      <p:sp>
        <p:nvSpPr>
          <p:cNvPr id="54" name="">
            <a:extLst xmlns:a="http://schemas.openxmlformats.org/drawingml/2006/main">
              <a:ext uri="{FF2B5EF4-FFF2-40B4-BE49-F238E27FC236}">
                <a16:creationId xmlns:a16="http://schemas.microsoft.com/office/drawing/2014/main" id="{E8767E82-3705-41B6-9D99-B3F3D18801DA}"/>
              </a:ext>
            </a:extLst>
          </p:cNvPr>
          <p:cNvSpPr>
            <a:spLocks xmlns:a="http://schemas.openxmlformats.org/drawingml/2006/main" noGrp="1"/>
          </p:cNvSpPr>
          <p:nvPr/>
        </p:nvSpPr>
        <p:spPr>
          <a:xfrm xmlns:a="http://schemas.openxmlformats.org/drawingml/2006/main" rot="0">
            <a:off x="7486650" y="4591050"/>
            <a:ext cx="2476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THE CONTROLLED TRANSITION</a:t>
            </a:r>
          </a:p>
        </p:txBody>
      </p:sp>
      <p:sp>
        <p:nvSpPr>
          <p:cNvPr id="55" name="">
            <a:extLst xmlns:a="http://schemas.openxmlformats.org/drawingml/2006/main">
              <a:ext uri="{FF2B5EF4-FFF2-40B4-BE49-F238E27FC236}">
                <a16:creationId xmlns:a16="http://schemas.microsoft.com/office/drawing/2014/main" id="{B3E8C611-0B96-4343-81DE-9451EBAD2884}"/>
              </a:ext>
            </a:extLst>
          </p:cNvPr>
          <p:cNvSpPr>
            <a:spLocks xmlns:a="http://schemas.openxmlformats.org/drawingml/2006/main" noGrp="1"/>
          </p:cNvSpPr>
          <p:nvPr/>
        </p:nvSpPr>
        <p:spPr>
          <a:xfrm xmlns:a="http://schemas.openxmlformats.org/drawingml/2006/main" rot="0">
            <a:off x="7486650" y="4886325"/>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699"/>
          </a:bodyPr>
          <a:lstStyle xmlns:a="http://schemas.openxmlformats.org/drawingml/2006/main"/>
          <a:p xmlns:a="http://schemas.openxmlformats.org/drawingml/2006/main">
            <a:pPr algn="l">
              <a:lnSpc>
                <a:spcPct val="102000"/>
              </a:lnSpc>
              <a:buNone/>
              <a:defRPr sz="1800" b="1">
                <a:solidFill>
                  <a:srgbClr val="F4F3EF"/>
                </a:solidFill>
                <a:latin typeface="Arial"/>
                <a:ea typeface="Arial"/>
                <a:cs typeface="Arial"/>
              </a:defRPr>
            </a:pPr>
            <a:r>
              <a:rPr sz="1800" b="1">
                <a:solidFill>
                  <a:srgbClr val="F4F3EF"/>
                </a:solidFill>
                <a:latin typeface="Arial"/>
                <a:ea typeface="Arial"/>
                <a:cs typeface="Arial"/>
              </a:rPr>
              <a:t>The Skeptic can propose an alternative explanation. Only a human can authorize the replay.</a:t>
            </a:r>
          </a:p>
        </p:txBody>
      </p:sp>
      <p:sp>
        <p:nvSpPr>
          <p:cNvPr id="56" name="">
            <a:extLst xmlns:a="http://schemas.openxmlformats.org/drawingml/2006/main">
              <a:ext uri="{FF2B5EF4-FFF2-40B4-BE49-F238E27FC236}">
                <a16:creationId xmlns:a16="http://schemas.microsoft.com/office/drawing/2014/main" id="{55C276FE-A936-4CFE-AD01-DDDA69A058F3}"/>
              </a:ext>
            </a:extLst>
          </p:cNvPr>
          <p:cNvSpPr>
            <a:spLocks xmlns:a="http://schemas.openxmlformats.org/drawingml/2006/main" noGrp="1"/>
          </p:cNvSpPr>
          <p:nvPr/>
        </p:nvSpPr>
        <p:spPr>
          <a:xfrm xmlns:a="http://schemas.openxmlformats.org/drawingml/2006/main" rot="0">
            <a:off x="7486650" y="57340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defRPr sz="1200" b="0">
                <a:solidFill>
                  <a:srgbClr val="A6A3A0"/>
                </a:solidFill>
                <a:latin typeface="Arial"/>
                <a:ea typeface="Arial"/>
                <a:cs typeface="Arial"/>
              </a:defRPr>
            </a:pPr>
            <a:r>
              <a:rPr sz="1200" b="0">
                <a:solidFill>
                  <a:srgbClr val="A6A3A0"/>
                </a:solidFill>
                <a:latin typeface="Arial"/>
                <a:ea typeface="Arial"/>
                <a:cs typeface="Arial"/>
              </a:rPr>
              <a:t>Provenance + content hashes remain attached to every evidence receipt.</a:t>
            </a:r>
          </a:p>
        </p:txBody>
      </p:sp>
    </p:spTree>
    <p:extLst>
      <p:ext uri="{BB962C8B-B14F-4D97-AF65-F5344CB8AC3E}">
        <p14:creationId xmlns:p14="http://schemas.microsoft.com/office/powerpoint/2010/main" val="1920328507"/>
      </p:ext>
    </p:extLst>
  </p:cSld>
</p:sld>
</file>

<file path=ppt/slides/slide5.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7856C6C-2C0C-40BF-A252-BA5B546F3B23}"/>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E50FC418-EFB1-45EF-B7A4-D66B973C0634}"/>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INITIAL WEDGE</a:t>
            </a:r>
          </a:p>
        </p:txBody>
      </p:sp>
      <p:sp>
        <p:nvSpPr>
          <p:cNvPr id="3" name="">
            <a:extLst xmlns:a="http://schemas.openxmlformats.org/drawingml/2006/main">
              <a:ext uri="{FF2B5EF4-FFF2-40B4-BE49-F238E27FC236}">
                <a16:creationId xmlns:a16="http://schemas.microsoft.com/office/drawing/2014/main" id="{177DD135-6A4C-4AB4-93D0-DC63DC2FC2A4}"/>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05 / 08</a:t>
            </a:r>
          </a:p>
        </p:txBody>
      </p:sp>
      <p:sp>
        <p:nvSpPr>
          <p:cNvPr id="4" name="">
            <a:extLst xmlns:a="http://schemas.openxmlformats.org/drawingml/2006/main">
              <a:ext uri="{FF2B5EF4-FFF2-40B4-BE49-F238E27FC236}">
                <a16:creationId xmlns:a16="http://schemas.microsoft.com/office/drawing/2014/main" id="{FC547468-47B6-467D-A874-D0E63361C77D}"/>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50203C9A-30F0-402B-B6B8-EFA397AC76A5}"/>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0131C81C-997A-4783-93E5-48CC52012FB1}"/>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6DF286EB-2207-4154-A271-29028BE9D13D}"/>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Start where one contradiction can change a deal.</a:t>
            </a:r>
          </a:p>
        </p:txBody>
      </p:sp>
      <p:sp>
        <p:nvSpPr>
          <p:cNvPr id="8" name="">
            <a:extLst xmlns:a="http://schemas.openxmlformats.org/drawingml/2006/main">
              <a:ext uri="{FF2B5EF4-FFF2-40B4-BE49-F238E27FC236}">
                <a16:creationId xmlns:a16="http://schemas.microsoft.com/office/drawing/2014/main" id="{AC0B0D72-F88D-468A-AA4B-2EDE71CA0096}"/>
              </a:ext>
            </a:extLst>
          </p:cNvPr>
          <p:cNvSpPr>
            <a:spLocks xmlns:a="http://schemas.openxmlformats.org/drawingml/2006/main" noGrp="1"/>
          </p:cNvSpPr>
          <p:nvPr/>
        </p:nvSpPr>
        <p:spPr>
          <a:xfrm xmlns:a="http://schemas.openxmlformats.org/drawingml/2006/main" rot="0">
            <a:off x="609600" y="1381125"/>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484"/>
          </a:bodyPr>
          <a:lstStyle xmlns:a="http://schemas.openxmlformats.org/drawingml/2006/main"/>
          <a:p xmlns:a="http://schemas.openxmlformats.org/drawingml/2006/main">
            <a:pPr algn="l">
              <a:defRPr sz="1650" b="0">
                <a:solidFill>
                  <a:srgbClr val="A6A3A0"/>
                </a:solidFill>
                <a:latin typeface="Arial"/>
                <a:ea typeface="Arial"/>
                <a:cs typeface="Arial"/>
              </a:defRPr>
            </a:pPr>
            <a:r>
              <a:rPr sz="1650" b="0">
                <a:solidFill>
                  <a:srgbClr val="A6A3A0"/>
                </a:solidFill>
                <a:latin typeface="Arial"/>
                <a:ea typeface="Arial"/>
                <a:cs typeface="Arial"/>
              </a:rPr>
              <a:t>Investment and commercial diligence for offline and omnichannel businesses.</a:t>
            </a:r>
          </a:p>
        </p:txBody>
      </p:sp>
      <p:sp>
        <p:nvSpPr>
          <p:cNvPr id="9" name="">
            <a:extLst xmlns:a="http://schemas.openxmlformats.org/drawingml/2006/main">
              <a:ext uri="{FF2B5EF4-FFF2-40B4-BE49-F238E27FC236}">
                <a16:creationId xmlns:a16="http://schemas.microsoft.com/office/drawing/2014/main" id="{575BBCAF-E190-412D-A1A4-ABC104299B55}"/>
              </a:ext>
            </a:extLst>
          </p:cNvPr>
          <p:cNvSpPr>
            <a:spLocks xmlns:a="http://schemas.openxmlformats.org/drawingml/2006/main" noGrp="1"/>
          </p:cNvSpPr>
          <p:nvPr/>
        </p:nvSpPr>
        <p:spPr>
          <a:xfrm xmlns:a="http://schemas.openxmlformats.org/drawingml/2006/main">
            <a:off x="876300" y="2124075"/>
            <a:ext cx="0" cy="259080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10" name="">
            <a:extLst xmlns:a="http://schemas.openxmlformats.org/drawingml/2006/main">
              <a:ext uri="{FF2B5EF4-FFF2-40B4-BE49-F238E27FC236}">
                <a16:creationId xmlns:a16="http://schemas.microsoft.com/office/drawing/2014/main" id="{F6A5194F-A288-467A-84E6-8A2510914837}"/>
              </a:ext>
            </a:extLst>
          </p:cNvPr>
          <p:cNvSpPr>
            <a:spLocks xmlns:a="http://schemas.openxmlformats.org/drawingml/2006/main" noGrp="1"/>
          </p:cNvSpPr>
          <p:nvPr/>
        </p:nvSpPr>
        <p:spPr>
          <a:xfrm xmlns:a="http://schemas.openxmlformats.org/drawingml/2006/main" rot="0">
            <a:off x="781050" y="1990725"/>
            <a:ext cx="190500" cy="190500"/>
          </a:xfrm>
          <a:prstGeom xmlns:a="http://schemas.openxmlformats.org/drawingml/2006/main" prst="ellipse">
            <a:avLst/>
          </a:prstGeom>
          <a:solidFill xmlns:a="http://schemas.openxmlformats.org/drawingml/2006/main">
            <a:srgbClr val="FF5B22"/>
          </a:solidFill>
          <a:ln xmlns:a="http://schemas.openxmlformats.org/drawingml/2006/main" w="19050">
            <a:solidFill>
              <a:srgbClr val="FF5B22"/>
            </a:solidFill>
            <a:prstDash val="solid"/>
          </a:ln>
        </p:spPr>
      </p:sp>
      <p:sp>
        <p:nvSpPr>
          <p:cNvPr id="11" name="">
            <a:extLst xmlns:a="http://schemas.openxmlformats.org/drawingml/2006/main">
              <a:ext uri="{FF2B5EF4-FFF2-40B4-BE49-F238E27FC236}">
                <a16:creationId xmlns:a16="http://schemas.microsoft.com/office/drawing/2014/main" id="{B5FD064D-1DD5-4145-B4DB-E7034F288D87}"/>
              </a:ext>
            </a:extLst>
          </p:cNvPr>
          <p:cNvSpPr>
            <a:spLocks xmlns:a="http://schemas.openxmlformats.org/drawingml/2006/main" noGrp="1"/>
          </p:cNvSpPr>
          <p:nvPr/>
        </p:nvSpPr>
        <p:spPr>
          <a:xfrm xmlns:a="http://schemas.openxmlformats.org/drawingml/2006/main" rot="0">
            <a:off x="1200150" y="19621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01</a:t>
            </a:r>
          </a:p>
        </p:txBody>
      </p:sp>
      <p:sp>
        <p:nvSpPr>
          <p:cNvPr id="12" name="">
            <a:extLst xmlns:a="http://schemas.openxmlformats.org/drawingml/2006/main">
              <a:ext uri="{FF2B5EF4-FFF2-40B4-BE49-F238E27FC236}">
                <a16:creationId xmlns:a16="http://schemas.microsoft.com/office/drawing/2014/main" id="{DA7D3D68-6AD6-4AA1-8AEB-DCFA3AEAACE4}"/>
              </a:ext>
            </a:extLst>
          </p:cNvPr>
          <p:cNvSpPr>
            <a:spLocks xmlns:a="http://schemas.openxmlformats.org/drawingml/2006/main" noGrp="1"/>
          </p:cNvSpPr>
          <p:nvPr/>
        </p:nvSpPr>
        <p:spPr>
          <a:xfrm xmlns:a="http://schemas.openxmlformats.org/drawingml/2006/main" rot="0">
            <a:off x="1695450" y="193357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1 design-partner fund</a:t>
            </a:r>
          </a:p>
        </p:txBody>
      </p:sp>
      <p:sp>
        <p:nvSpPr>
          <p:cNvPr id="13" name="">
            <a:extLst xmlns:a="http://schemas.openxmlformats.org/drawingml/2006/main">
              <a:ext uri="{FF2B5EF4-FFF2-40B4-BE49-F238E27FC236}">
                <a16:creationId xmlns:a16="http://schemas.microsoft.com/office/drawing/2014/main" id="{48846217-7B0C-4916-A5D8-2125FF25BF90}"/>
              </a:ext>
            </a:extLst>
          </p:cNvPr>
          <p:cNvSpPr>
            <a:spLocks xmlns:a="http://schemas.openxmlformats.org/drawingml/2006/main" noGrp="1"/>
          </p:cNvSpPr>
          <p:nvPr/>
        </p:nvSpPr>
        <p:spPr>
          <a:xfrm xmlns:a="http://schemas.openxmlformats.org/drawingml/2006/main" rot="0">
            <a:off x="1695450" y="2257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One material operating claim</a:t>
            </a:r>
          </a:p>
        </p:txBody>
      </p:sp>
      <p:sp>
        <p:nvSpPr>
          <p:cNvPr id="14" name="">
            <a:extLst xmlns:a="http://schemas.openxmlformats.org/drawingml/2006/main">
              <a:ext uri="{FF2B5EF4-FFF2-40B4-BE49-F238E27FC236}">
                <a16:creationId xmlns:a16="http://schemas.microsoft.com/office/drawing/2014/main" id="{329EF3EC-BB65-496F-B2DD-809D77859F5D}"/>
              </a:ext>
            </a:extLst>
          </p:cNvPr>
          <p:cNvSpPr>
            <a:spLocks xmlns:a="http://schemas.openxmlformats.org/drawingml/2006/main" noGrp="1"/>
          </p:cNvSpPr>
          <p:nvPr/>
        </p:nvSpPr>
        <p:spPr>
          <a:xfrm xmlns:a="http://schemas.openxmlformats.org/drawingml/2006/main" rot="0">
            <a:off x="781050" y="2876550"/>
            <a:ext cx="190500" cy="190500"/>
          </a:xfrm>
          <a:prstGeom xmlns:a="http://schemas.openxmlformats.org/drawingml/2006/main" prst="ellipse">
            <a:avLst/>
          </a:prstGeom>
          <a:solidFill xmlns:a="http://schemas.openxmlformats.org/drawingml/2006/main">
            <a:srgbClr val="0D0D0F"/>
          </a:solidFill>
          <a:ln xmlns:a="http://schemas.openxmlformats.org/drawingml/2006/main" w="19050">
            <a:solidFill>
              <a:srgbClr val="333337"/>
            </a:solidFill>
            <a:prstDash val="solid"/>
          </a:ln>
        </p:spPr>
      </p:sp>
      <p:sp>
        <p:nvSpPr>
          <p:cNvPr id="15" name="">
            <a:extLst xmlns:a="http://schemas.openxmlformats.org/drawingml/2006/main">
              <a:ext uri="{FF2B5EF4-FFF2-40B4-BE49-F238E27FC236}">
                <a16:creationId xmlns:a16="http://schemas.microsoft.com/office/drawing/2014/main" id="{32A0B4FB-BDED-488A-BF06-B3DF6570EEC6}"/>
              </a:ext>
            </a:extLst>
          </p:cNvPr>
          <p:cNvSpPr>
            <a:spLocks xmlns:a="http://schemas.openxmlformats.org/drawingml/2006/main" noGrp="1"/>
          </p:cNvSpPr>
          <p:nvPr/>
        </p:nvSpPr>
        <p:spPr>
          <a:xfrm xmlns:a="http://schemas.openxmlformats.org/drawingml/2006/main" rot="0">
            <a:off x="1200150" y="284797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02</a:t>
            </a:r>
          </a:p>
        </p:txBody>
      </p:sp>
      <p:sp>
        <p:nvSpPr>
          <p:cNvPr id="16" name="">
            <a:extLst xmlns:a="http://schemas.openxmlformats.org/drawingml/2006/main">
              <a:ext uri="{FF2B5EF4-FFF2-40B4-BE49-F238E27FC236}">
                <a16:creationId xmlns:a16="http://schemas.microsoft.com/office/drawing/2014/main" id="{3E8D992B-2109-4BD9-AD40-6D878983A9AB}"/>
              </a:ext>
            </a:extLst>
          </p:cNvPr>
          <p:cNvSpPr>
            <a:spLocks xmlns:a="http://schemas.openxmlformats.org/drawingml/2006/main" noGrp="1"/>
          </p:cNvSpPr>
          <p:nvPr/>
        </p:nvSpPr>
        <p:spPr>
          <a:xfrm xmlns:a="http://schemas.openxmlformats.org/drawingml/2006/main" rot="0">
            <a:off x="1695450" y="28194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Repeated deal missions</a:t>
            </a:r>
          </a:p>
        </p:txBody>
      </p:sp>
      <p:sp>
        <p:nvSpPr>
          <p:cNvPr id="17" name="">
            <a:extLst xmlns:a="http://schemas.openxmlformats.org/drawingml/2006/main">
              <a:ext uri="{FF2B5EF4-FFF2-40B4-BE49-F238E27FC236}">
                <a16:creationId xmlns:a16="http://schemas.microsoft.com/office/drawing/2014/main" id="{A18C7F48-1B26-4F79-BDBD-2C7869364F34}"/>
              </a:ext>
            </a:extLst>
          </p:cNvPr>
          <p:cNvSpPr>
            <a:spLocks xmlns:a="http://schemas.openxmlformats.org/drawingml/2006/main" noGrp="1"/>
          </p:cNvSpPr>
          <p:nvPr/>
        </p:nvSpPr>
        <p:spPr>
          <a:xfrm xmlns:a="http://schemas.openxmlformats.org/drawingml/2006/main" rot="0">
            <a:off x="1695450" y="31432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Paid, scoped verification work</a:t>
            </a:r>
          </a:p>
        </p:txBody>
      </p:sp>
      <p:sp>
        <p:nvSpPr>
          <p:cNvPr id="18" name="">
            <a:extLst xmlns:a="http://schemas.openxmlformats.org/drawingml/2006/main">
              <a:ext uri="{FF2B5EF4-FFF2-40B4-BE49-F238E27FC236}">
                <a16:creationId xmlns:a16="http://schemas.microsoft.com/office/drawing/2014/main" id="{83A5EEAE-178B-469A-BCCD-4482955F6D5C}"/>
              </a:ext>
            </a:extLst>
          </p:cNvPr>
          <p:cNvSpPr>
            <a:spLocks xmlns:a="http://schemas.openxmlformats.org/drawingml/2006/main" noGrp="1"/>
          </p:cNvSpPr>
          <p:nvPr/>
        </p:nvSpPr>
        <p:spPr>
          <a:xfrm xmlns:a="http://schemas.openxmlformats.org/drawingml/2006/main" rot="0">
            <a:off x="781050" y="3762375"/>
            <a:ext cx="190500" cy="190500"/>
          </a:xfrm>
          <a:prstGeom xmlns:a="http://schemas.openxmlformats.org/drawingml/2006/main" prst="ellipse">
            <a:avLst/>
          </a:prstGeom>
          <a:solidFill xmlns:a="http://schemas.openxmlformats.org/drawingml/2006/main">
            <a:srgbClr val="0D0D0F"/>
          </a:solidFill>
          <a:ln xmlns:a="http://schemas.openxmlformats.org/drawingml/2006/main" w="19050">
            <a:solidFill>
              <a:srgbClr val="333337"/>
            </a:solidFill>
            <a:prstDash val="solid"/>
          </a:ln>
        </p:spPr>
      </p:sp>
      <p:sp>
        <p:nvSpPr>
          <p:cNvPr id="19" name="">
            <a:extLst xmlns:a="http://schemas.openxmlformats.org/drawingml/2006/main">
              <a:ext uri="{FF2B5EF4-FFF2-40B4-BE49-F238E27FC236}">
                <a16:creationId xmlns:a16="http://schemas.microsoft.com/office/drawing/2014/main" id="{D405C76C-A613-4942-B3FF-69E7F3B4C79A}"/>
              </a:ext>
            </a:extLst>
          </p:cNvPr>
          <p:cNvSpPr>
            <a:spLocks xmlns:a="http://schemas.openxmlformats.org/drawingml/2006/main" noGrp="1"/>
          </p:cNvSpPr>
          <p:nvPr/>
        </p:nvSpPr>
        <p:spPr>
          <a:xfrm xmlns:a="http://schemas.openxmlformats.org/drawingml/2006/main" rot="0">
            <a:off x="1200150" y="37338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03</a:t>
            </a:r>
          </a:p>
        </p:txBody>
      </p:sp>
      <p:sp>
        <p:nvSpPr>
          <p:cNvPr id="20" name="">
            <a:extLst xmlns:a="http://schemas.openxmlformats.org/drawingml/2006/main">
              <a:ext uri="{FF2B5EF4-FFF2-40B4-BE49-F238E27FC236}">
                <a16:creationId xmlns:a16="http://schemas.microsoft.com/office/drawing/2014/main" id="{E9B01F41-D778-45C5-B248-2BEB2D34AC94}"/>
              </a:ext>
            </a:extLst>
          </p:cNvPr>
          <p:cNvSpPr>
            <a:spLocks xmlns:a="http://schemas.openxmlformats.org/drawingml/2006/main" noGrp="1"/>
          </p:cNvSpPr>
          <p:nvPr/>
        </p:nvSpPr>
        <p:spPr>
          <a:xfrm xmlns:a="http://schemas.openxmlformats.org/drawingml/2006/main" rot="0">
            <a:off x="1695450" y="37052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Portfolio workflows</a:t>
            </a:r>
          </a:p>
        </p:txBody>
      </p:sp>
      <p:sp>
        <p:nvSpPr>
          <p:cNvPr id="21" name="">
            <a:extLst xmlns:a="http://schemas.openxmlformats.org/drawingml/2006/main">
              <a:ext uri="{FF2B5EF4-FFF2-40B4-BE49-F238E27FC236}">
                <a16:creationId xmlns:a16="http://schemas.microsoft.com/office/drawing/2014/main" id="{B49B894A-4C15-4364-A3F7-9E0A09134009}"/>
              </a:ext>
            </a:extLst>
          </p:cNvPr>
          <p:cNvSpPr>
            <a:spLocks xmlns:a="http://schemas.openxmlformats.org/drawingml/2006/main" noGrp="1"/>
          </p:cNvSpPr>
          <p:nvPr/>
        </p:nvSpPr>
        <p:spPr>
          <a:xfrm xmlns:a="http://schemas.openxmlformats.org/drawingml/2006/main" rot="0">
            <a:off x="1695450" y="402907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Reusable questions and monitoring</a:t>
            </a:r>
          </a:p>
        </p:txBody>
      </p:sp>
      <p:sp>
        <p:nvSpPr>
          <p:cNvPr id="22" name="">
            <a:extLst xmlns:a="http://schemas.openxmlformats.org/drawingml/2006/main">
              <a:ext uri="{FF2B5EF4-FFF2-40B4-BE49-F238E27FC236}">
                <a16:creationId xmlns:a16="http://schemas.microsoft.com/office/drawing/2014/main" id="{5E473827-4788-4CF9-98FD-61106B03601B}"/>
              </a:ext>
            </a:extLst>
          </p:cNvPr>
          <p:cNvSpPr>
            <a:spLocks xmlns:a="http://schemas.openxmlformats.org/drawingml/2006/main" noGrp="1"/>
          </p:cNvSpPr>
          <p:nvPr/>
        </p:nvSpPr>
        <p:spPr>
          <a:xfrm xmlns:a="http://schemas.openxmlformats.org/drawingml/2006/main" rot="0">
            <a:off x="781050" y="4648200"/>
            <a:ext cx="190500" cy="190500"/>
          </a:xfrm>
          <a:prstGeom xmlns:a="http://schemas.openxmlformats.org/drawingml/2006/main" prst="ellipse">
            <a:avLst/>
          </a:prstGeom>
          <a:solidFill xmlns:a="http://schemas.openxmlformats.org/drawingml/2006/main">
            <a:srgbClr val="0D0D0F"/>
          </a:solidFill>
          <a:ln xmlns:a="http://schemas.openxmlformats.org/drawingml/2006/main" w="19050">
            <a:solidFill>
              <a:srgbClr val="333337"/>
            </a:solidFill>
            <a:prstDash val="solid"/>
          </a:ln>
        </p:spPr>
      </p:sp>
      <p:sp>
        <p:nvSpPr>
          <p:cNvPr id="23" name="">
            <a:extLst xmlns:a="http://schemas.openxmlformats.org/drawingml/2006/main">
              <a:ext uri="{FF2B5EF4-FFF2-40B4-BE49-F238E27FC236}">
                <a16:creationId xmlns:a16="http://schemas.microsoft.com/office/drawing/2014/main" id="{EB20AA71-344A-4BB7-9492-6CF9D4A6B72D}"/>
              </a:ext>
            </a:extLst>
          </p:cNvPr>
          <p:cNvSpPr>
            <a:spLocks xmlns:a="http://schemas.openxmlformats.org/drawingml/2006/main" noGrp="1"/>
          </p:cNvSpPr>
          <p:nvPr/>
        </p:nvSpPr>
        <p:spPr>
          <a:xfrm xmlns:a="http://schemas.openxmlformats.org/drawingml/2006/main" rot="0">
            <a:off x="1200150" y="461962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04</a:t>
            </a:r>
          </a:p>
        </p:txBody>
      </p:sp>
      <p:sp>
        <p:nvSpPr>
          <p:cNvPr id="24" name="">
            <a:extLst xmlns:a="http://schemas.openxmlformats.org/drawingml/2006/main">
              <a:ext uri="{FF2B5EF4-FFF2-40B4-BE49-F238E27FC236}">
                <a16:creationId xmlns:a16="http://schemas.microsoft.com/office/drawing/2014/main" id="{77689F5C-7176-44D5-8E02-33CB993A4D9A}"/>
              </a:ext>
            </a:extLst>
          </p:cNvPr>
          <p:cNvSpPr>
            <a:spLocks xmlns:a="http://schemas.openxmlformats.org/drawingml/2006/main" noGrp="1"/>
          </p:cNvSpPr>
          <p:nvPr/>
        </p:nvSpPr>
        <p:spPr>
          <a:xfrm xmlns:a="http://schemas.openxmlformats.org/drawingml/2006/main" rot="0">
            <a:off x="1695450" y="459105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Vertical mission library</a:t>
            </a:r>
          </a:p>
        </p:txBody>
      </p:sp>
      <p:sp>
        <p:nvSpPr>
          <p:cNvPr id="25" name="">
            <a:extLst xmlns:a="http://schemas.openxmlformats.org/drawingml/2006/main">
              <a:ext uri="{FF2B5EF4-FFF2-40B4-BE49-F238E27FC236}">
                <a16:creationId xmlns:a16="http://schemas.microsoft.com/office/drawing/2014/main" id="{3752A56E-2096-4C00-8F62-FABA1FC2922C}"/>
              </a:ext>
            </a:extLst>
          </p:cNvPr>
          <p:cNvSpPr>
            <a:spLocks xmlns:a="http://schemas.openxmlformats.org/drawingml/2006/main" noGrp="1"/>
          </p:cNvSpPr>
          <p:nvPr/>
        </p:nvSpPr>
        <p:spPr>
          <a:xfrm xmlns:a="http://schemas.openxmlformats.org/drawingml/2006/main" rot="0">
            <a:off x="1695450" y="4914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Calibrated claim-to-signal mappings</a:t>
            </a:r>
          </a:p>
        </p:txBody>
      </p:sp>
      <p:sp>
        <p:nvSpPr>
          <p:cNvPr id="26" name="action-queue-shot-frame">
            <a:extLst xmlns:a="http://schemas.openxmlformats.org/drawingml/2006/main">
              <a:ext uri="{FF2B5EF4-FFF2-40B4-BE49-F238E27FC236}">
                <a16:creationId xmlns:a16="http://schemas.microsoft.com/office/drawing/2014/main" id="{02B17916-4C99-4948-A09D-7D0B5C91C88C}"/>
              </a:ext>
            </a:extLst>
          </p:cNvPr>
          <p:cNvSpPr>
            <a:spLocks xmlns:a="http://schemas.openxmlformats.org/drawingml/2006/main" noGrp="1"/>
          </p:cNvSpPr>
          <p:nvPr/>
        </p:nvSpPr>
        <p:spPr>
          <a:xfrm xmlns:a="http://schemas.openxmlformats.org/drawingml/2006/main" rot="0">
            <a:off x="5781675" y="1819275"/>
            <a:ext cx="5829300" cy="3667125"/>
          </a:xfrm>
          <a:prstGeom xmlns:a="http://schemas.openxmlformats.org/drawingml/2006/main" prst="roundRect">
            <a:avLst>
              <a:gd name="adj" fmla="val 3636"/>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b0792f203c85452e"/>
          <a:srcRect xmlns:a="http://schemas.openxmlformats.org/drawingml/2006/main" l="33" t="0" r="33" b="0"/>
          <a:stretch xmlns:a="http://schemas.openxmlformats.org/drawingml/2006/main">
            <a:fillRect l="0" t="0" r="0" b="0"/>
          </a:stretch>
        </p:blipFill>
        <p:spPr>
          <a:xfrm xmlns:a="http://schemas.openxmlformats.org/drawingml/2006/main">
            <a:off x="5810250" y="1847850"/>
            <a:ext cx="5772150" cy="3609975"/>
          </a:xfrm>
          <a:prstGeom xmlns:a="http://schemas.openxmlformats.org/drawingml/2006/main" prst="roundRect">
            <a:avLst>
              <a:gd name="adj" fmla="val 3166"/>
            </a:avLst>
          </a:prstGeom>
        </p:spPr>
      </p:pic>
      <p:sp>
        <p:nvSpPr>
          <p:cNvPr id="28" name="">
            <a:extLst xmlns:a="http://schemas.openxmlformats.org/drawingml/2006/main">
              <a:ext uri="{FF2B5EF4-FFF2-40B4-BE49-F238E27FC236}">
                <a16:creationId xmlns:a16="http://schemas.microsoft.com/office/drawing/2014/main" id="{103AA150-DF2E-4EAE-81D0-90CF989900F4}"/>
              </a:ext>
            </a:extLst>
          </p:cNvPr>
          <p:cNvSpPr>
            <a:spLocks xmlns:a="http://schemas.openxmlformats.org/drawingml/2006/main" noGrp="1"/>
          </p:cNvSpPr>
          <p:nvPr/>
        </p:nvSpPr>
        <p:spPr>
          <a:xfrm xmlns:a="http://schemas.openxmlformats.org/drawingml/2006/main" rot="0">
            <a:off x="5810250" y="5715000"/>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THE PURCHASE IS A DECISION WORKFLOW</a:t>
            </a:r>
          </a:p>
        </p:txBody>
      </p:sp>
      <p:sp>
        <p:nvSpPr>
          <p:cNvPr id="29" name="">
            <a:extLst xmlns:a="http://schemas.openxmlformats.org/drawingml/2006/main">
              <a:ext uri="{FF2B5EF4-FFF2-40B4-BE49-F238E27FC236}">
                <a16:creationId xmlns:a16="http://schemas.microsoft.com/office/drawing/2014/main" id="{A284900F-09B9-4D15-9880-82BB381B2B74}"/>
              </a:ext>
            </a:extLst>
          </p:cNvPr>
          <p:cNvSpPr>
            <a:spLocks xmlns:a="http://schemas.openxmlformats.org/drawingml/2006/main" noGrp="1"/>
          </p:cNvSpPr>
          <p:nvPr/>
        </p:nvSpPr>
        <p:spPr>
          <a:xfrm xmlns:a="http://schemas.openxmlformats.org/drawingml/2006/main" rot="0">
            <a:off x="5810250" y="5953125"/>
            <a:ext cx="577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650" b="1">
                <a:solidFill>
                  <a:srgbClr val="F4F3EF"/>
                </a:solidFill>
                <a:latin typeface="Arial"/>
                <a:ea typeface="Arial"/>
                <a:cs typeface="Arial"/>
              </a:defRPr>
            </a:pPr>
            <a:r>
              <a:rPr sz="1650" b="1">
                <a:solidFill>
                  <a:srgbClr val="F4F3EF"/>
                </a:solidFill>
                <a:latin typeface="Arial"/>
                <a:ea typeface="Arial"/>
                <a:cs typeface="Arial"/>
              </a:rPr>
              <a:t>VC access is distribution, not the entire market.</a:t>
            </a:r>
          </a:p>
        </p:txBody>
      </p:sp>
    </p:spTree>
    <p:extLst>
      <p:ext uri="{BB962C8B-B14F-4D97-AF65-F5344CB8AC3E}">
        <p14:creationId xmlns:p14="http://schemas.microsoft.com/office/powerpoint/2010/main" val="2140840194"/>
      </p:ext>
    </p:extLst>
  </p:cSld>
</p:sld>
</file>

<file path=ppt/slides/slide6.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F6BA4C6-6537-4FBB-A6B1-A3CF28CB2988}"/>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D6B043D0-6E43-4F91-B4A2-5C21C752C940}"/>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CATEGORY POSITION</a:t>
            </a:r>
          </a:p>
        </p:txBody>
      </p:sp>
      <p:sp>
        <p:nvSpPr>
          <p:cNvPr id="3" name="">
            <a:extLst xmlns:a="http://schemas.openxmlformats.org/drawingml/2006/main">
              <a:ext uri="{FF2B5EF4-FFF2-40B4-BE49-F238E27FC236}">
                <a16:creationId xmlns:a16="http://schemas.microsoft.com/office/drawing/2014/main" id="{D0B6CA7F-5905-4EE1-8378-E7AA61DE654C}"/>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06 / 08</a:t>
            </a:r>
          </a:p>
        </p:txBody>
      </p:sp>
      <p:sp>
        <p:nvSpPr>
          <p:cNvPr id="4" name="">
            <a:extLst xmlns:a="http://schemas.openxmlformats.org/drawingml/2006/main">
              <a:ext uri="{FF2B5EF4-FFF2-40B4-BE49-F238E27FC236}">
                <a16:creationId xmlns:a16="http://schemas.microsoft.com/office/drawing/2014/main" id="{C0819BA4-4150-47E2-AF2F-B064204688C0}"/>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8FEF05FF-7C8B-4321-99E3-3B244D35AE12}"/>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BA0180B9-5FD0-4554-B204-444C1E1F92BD}"/>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4D6A6ACB-3BA1-4A68-A1C0-FB00C29A73DD}"/>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A verification mission is a new unit of work.</a:t>
            </a:r>
          </a:p>
        </p:txBody>
      </p:sp>
      <p:sp>
        <p:nvSpPr>
          <p:cNvPr id="8" name="">
            <a:extLst xmlns:a="http://schemas.openxmlformats.org/drawingml/2006/main">
              <a:ext uri="{FF2B5EF4-FFF2-40B4-BE49-F238E27FC236}">
                <a16:creationId xmlns:a16="http://schemas.microsoft.com/office/drawing/2014/main" id="{85D41806-D20A-4299-B141-6BA0218B6C6D}"/>
              </a:ext>
            </a:extLst>
          </p:cNvPr>
          <p:cNvSpPr>
            <a:spLocks xmlns:a="http://schemas.openxmlformats.org/drawingml/2006/main" noGrp="1"/>
          </p:cNvSpPr>
          <p:nvPr/>
        </p:nvSpPr>
        <p:spPr>
          <a:xfrm xmlns:a="http://schemas.openxmlformats.org/drawingml/2006/main" rot="0">
            <a:off x="609600" y="1390650"/>
            <a:ext cx="10191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75" b="0">
                <a:solidFill>
                  <a:srgbClr val="A6A3A0"/>
                </a:solidFill>
                <a:latin typeface="Arial"/>
                <a:ea typeface="Arial"/>
                <a:cs typeface="Arial"/>
              </a:defRPr>
            </a:pPr>
            <a:r>
              <a:rPr sz="1575" b="0">
                <a:solidFill>
                  <a:srgbClr val="A6A3A0"/>
                </a:solidFill>
                <a:latin typeface="Arial"/>
                <a:ea typeface="Arial"/>
                <a:cs typeface="Arial"/>
              </a:rPr>
              <a:t>LRWA does not replace financial diligence, expert networks, or data platforms. It connects a material claim to the next decision.</a:t>
            </a:r>
          </a:p>
        </p:txBody>
      </p:sp>
      <p:sp>
        <p:nvSpPr>
          <p:cNvPr id="9" name="">
            <a:extLst xmlns:a="http://schemas.openxmlformats.org/drawingml/2006/main">
              <a:ext uri="{FF2B5EF4-FFF2-40B4-BE49-F238E27FC236}">
                <a16:creationId xmlns:a16="http://schemas.microsoft.com/office/drawing/2014/main" id="{7FB6A5E7-52ED-4A6A-9D99-A67DA2B7ED77}"/>
              </a:ext>
            </a:extLst>
          </p:cNvPr>
          <p:cNvSpPr>
            <a:spLocks xmlns:a="http://schemas.openxmlformats.org/drawingml/2006/main" noGrp="1"/>
          </p:cNvSpPr>
          <p:nvPr/>
        </p:nvSpPr>
        <p:spPr>
          <a:xfrm xmlns:a="http://schemas.openxmlformats.org/drawingml/2006/main" rot="0">
            <a:off x="609600" y="220980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WHY NOW</a:t>
            </a:r>
          </a:p>
        </p:txBody>
      </p:sp>
      <p:sp>
        <p:nvSpPr>
          <p:cNvPr id="10" name="">
            <a:extLst xmlns:a="http://schemas.openxmlformats.org/drawingml/2006/main">
              <a:ext uri="{FF2B5EF4-FFF2-40B4-BE49-F238E27FC236}">
                <a16:creationId xmlns:a16="http://schemas.microsoft.com/office/drawing/2014/main" id="{8650BBE0-40BD-4E87-B1F9-8F1D9F7FA7F1}"/>
              </a:ext>
            </a:extLst>
          </p:cNvPr>
          <p:cNvSpPr>
            <a:spLocks xmlns:a="http://schemas.openxmlformats.org/drawingml/2006/main" noGrp="1"/>
          </p:cNvSpPr>
          <p:nvPr/>
        </p:nvSpPr>
        <p:spPr>
          <a:xfrm xmlns:a="http://schemas.openxmlformats.org/drawingml/2006/main" rot="0">
            <a:off x="609600" y="26098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6F6D6B"/>
                </a:solidFill>
                <a:latin typeface="Courier New"/>
                <a:ea typeface="Courier New"/>
                <a:cs typeface="Courier New"/>
              </a:defRPr>
            </a:pPr>
            <a:r>
              <a:rPr sz="1200" b="1">
                <a:solidFill>
                  <a:srgbClr val="6F6D6B"/>
                </a:solidFill>
                <a:latin typeface="Courier New"/>
                <a:ea typeface="Courier New"/>
                <a:cs typeface="Courier New"/>
              </a:rPr>
              <a:t>01</a:t>
            </a:r>
          </a:p>
        </p:txBody>
      </p:sp>
      <p:sp>
        <p:nvSpPr>
          <p:cNvPr id="11" name="">
            <a:extLst xmlns:a="http://schemas.openxmlformats.org/drawingml/2006/main">
              <a:ext uri="{FF2B5EF4-FFF2-40B4-BE49-F238E27FC236}">
                <a16:creationId xmlns:a16="http://schemas.microsoft.com/office/drawing/2014/main" id="{7946F9DF-5073-4EE6-8F0C-84AE20F0A712}"/>
              </a:ext>
            </a:extLst>
          </p:cNvPr>
          <p:cNvSpPr>
            <a:spLocks xmlns:a="http://schemas.openxmlformats.org/drawingml/2006/main" noGrp="1"/>
          </p:cNvSpPr>
          <p:nvPr/>
        </p:nvSpPr>
        <p:spPr>
          <a:xfrm xmlns:a="http://schemas.openxmlformats.org/drawingml/2006/main" rot="0">
            <a:off x="1085850" y="2581275"/>
            <a:ext cx="443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725" b="1">
                <a:solidFill>
                  <a:srgbClr val="F4F3EF"/>
                </a:solidFill>
                <a:latin typeface="Arial"/>
                <a:ea typeface="Arial"/>
                <a:cs typeface="Arial"/>
              </a:defRPr>
            </a:pPr>
            <a:r>
              <a:rPr sz="1725" b="1">
                <a:solidFill>
                  <a:srgbClr val="F4F3EF"/>
                </a:solidFill>
                <a:latin typeface="Arial"/>
                <a:ea typeface="Arial"/>
                <a:cs typeface="Arial"/>
              </a:rPr>
              <a:t>Agents execute multi-step research</a:t>
            </a:r>
          </a:p>
        </p:txBody>
      </p:sp>
      <p:sp>
        <p:nvSpPr>
          <p:cNvPr id="12" name="">
            <a:extLst xmlns:a="http://schemas.openxmlformats.org/drawingml/2006/main">
              <a:ext uri="{FF2B5EF4-FFF2-40B4-BE49-F238E27FC236}">
                <a16:creationId xmlns:a16="http://schemas.microsoft.com/office/drawing/2014/main" id="{CC997434-4CFA-4CDE-84D3-E16EAC59E93C}"/>
              </a:ext>
            </a:extLst>
          </p:cNvPr>
          <p:cNvSpPr>
            <a:spLocks xmlns:a="http://schemas.openxmlformats.org/drawingml/2006/main" noGrp="1"/>
          </p:cNvSpPr>
          <p:nvPr/>
        </p:nvSpPr>
        <p:spPr>
          <a:xfrm xmlns:a="http://schemas.openxmlformats.org/drawingml/2006/main" rot="0">
            <a:off x="609600" y="32575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6F6D6B"/>
                </a:solidFill>
                <a:latin typeface="Courier New"/>
                <a:ea typeface="Courier New"/>
                <a:cs typeface="Courier New"/>
              </a:defRPr>
            </a:pPr>
            <a:r>
              <a:rPr sz="1200" b="1">
                <a:solidFill>
                  <a:srgbClr val="6F6D6B"/>
                </a:solidFill>
                <a:latin typeface="Courier New"/>
                <a:ea typeface="Courier New"/>
                <a:cs typeface="Courier New"/>
              </a:rPr>
              <a:t>02</a:t>
            </a:r>
          </a:p>
        </p:txBody>
      </p:sp>
      <p:sp>
        <p:nvSpPr>
          <p:cNvPr id="13" name="">
            <a:extLst xmlns:a="http://schemas.openxmlformats.org/drawingml/2006/main">
              <a:ext uri="{FF2B5EF4-FFF2-40B4-BE49-F238E27FC236}">
                <a16:creationId xmlns:a16="http://schemas.microsoft.com/office/drawing/2014/main" id="{04C99606-5A63-4F33-A90F-24D1DCA53C18}"/>
              </a:ext>
            </a:extLst>
          </p:cNvPr>
          <p:cNvSpPr>
            <a:spLocks xmlns:a="http://schemas.openxmlformats.org/drawingml/2006/main" noGrp="1"/>
          </p:cNvSpPr>
          <p:nvPr/>
        </p:nvSpPr>
        <p:spPr>
          <a:xfrm xmlns:a="http://schemas.openxmlformats.org/drawingml/2006/main" rot="0">
            <a:off x="1085850" y="3228975"/>
            <a:ext cx="443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576"/>
          </a:bodyPr>
          <a:lstStyle xmlns:a="http://schemas.openxmlformats.org/drawingml/2006/main"/>
          <a:p xmlns:a="http://schemas.openxmlformats.org/drawingml/2006/main">
            <a:pPr algn="l">
              <a:lnSpc>
                <a:spcPct val="103000"/>
              </a:lnSpc>
              <a:buNone/>
              <a:defRPr sz="1725" b="1">
                <a:solidFill>
                  <a:srgbClr val="F4F3EF"/>
                </a:solidFill>
                <a:latin typeface="Arial"/>
                <a:ea typeface="Arial"/>
                <a:cs typeface="Arial"/>
              </a:defRPr>
            </a:pPr>
            <a:r>
              <a:rPr sz="1725" b="1">
                <a:solidFill>
                  <a:srgbClr val="F4F3EF"/>
                </a:solidFill>
                <a:latin typeface="Arial"/>
                <a:ea typeface="Arial"/>
                <a:cs typeface="Arial"/>
              </a:rPr>
              <a:t>Commercial operations leave queryable signals</a:t>
            </a:r>
          </a:p>
        </p:txBody>
      </p:sp>
      <p:sp>
        <p:nvSpPr>
          <p:cNvPr id="14" name="">
            <a:extLst xmlns:a="http://schemas.openxmlformats.org/drawingml/2006/main">
              <a:ext uri="{FF2B5EF4-FFF2-40B4-BE49-F238E27FC236}">
                <a16:creationId xmlns:a16="http://schemas.microsoft.com/office/drawing/2014/main" id="{15F0F1AB-377F-4B70-A53A-A02C11103110}"/>
              </a:ext>
            </a:extLst>
          </p:cNvPr>
          <p:cNvSpPr>
            <a:spLocks xmlns:a="http://schemas.openxmlformats.org/drawingml/2006/main" noGrp="1"/>
          </p:cNvSpPr>
          <p:nvPr/>
        </p:nvSpPr>
        <p:spPr>
          <a:xfrm xmlns:a="http://schemas.openxmlformats.org/drawingml/2006/main" rot="0">
            <a:off x="609600" y="39052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6F6D6B"/>
                </a:solidFill>
                <a:latin typeface="Courier New"/>
                <a:ea typeface="Courier New"/>
                <a:cs typeface="Courier New"/>
              </a:defRPr>
            </a:pPr>
            <a:r>
              <a:rPr sz="1200" b="1">
                <a:solidFill>
                  <a:srgbClr val="6F6D6B"/>
                </a:solidFill>
                <a:latin typeface="Courier New"/>
                <a:ea typeface="Courier New"/>
                <a:cs typeface="Courier New"/>
              </a:rPr>
              <a:t>03</a:t>
            </a:r>
          </a:p>
        </p:txBody>
      </p:sp>
      <p:sp>
        <p:nvSpPr>
          <p:cNvPr id="15" name="">
            <a:extLst xmlns:a="http://schemas.openxmlformats.org/drawingml/2006/main">
              <a:ext uri="{FF2B5EF4-FFF2-40B4-BE49-F238E27FC236}">
                <a16:creationId xmlns:a16="http://schemas.microsoft.com/office/drawing/2014/main" id="{1BFBEE61-8243-4A42-AC3E-7159E9ED0261}"/>
              </a:ext>
            </a:extLst>
          </p:cNvPr>
          <p:cNvSpPr>
            <a:spLocks xmlns:a="http://schemas.openxmlformats.org/drawingml/2006/main" noGrp="1"/>
          </p:cNvSpPr>
          <p:nvPr/>
        </p:nvSpPr>
        <p:spPr>
          <a:xfrm xmlns:a="http://schemas.openxmlformats.org/drawingml/2006/main" rot="0">
            <a:off x="1085850" y="3876675"/>
            <a:ext cx="443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676"/>
          </a:bodyPr>
          <a:lstStyle xmlns:a="http://schemas.openxmlformats.org/drawingml/2006/main"/>
          <a:p xmlns:a="http://schemas.openxmlformats.org/drawingml/2006/main">
            <a:pPr algn="l">
              <a:lnSpc>
                <a:spcPct val="103000"/>
              </a:lnSpc>
              <a:buNone/>
              <a:defRPr sz="1725" b="1">
                <a:solidFill>
                  <a:srgbClr val="F4F3EF"/>
                </a:solidFill>
                <a:latin typeface="Arial"/>
                <a:ea typeface="Arial"/>
                <a:cs typeface="Arial"/>
              </a:defRPr>
            </a:pPr>
            <a:r>
              <a:rPr sz="1725" b="1">
                <a:solidFill>
                  <a:srgbClr val="F4F3EF"/>
                </a:solidFill>
                <a:latin typeface="Arial"/>
                <a:ea typeface="Arial"/>
                <a:cs typeface="Arial"/>
              </a:rPr>
              <a:t>Buyers need provenance, permission, and replay</a:t>
            </a:r>
          </a:p>
        </p:txBody>
      </p:sp>
      <p:sp>
        <p:nvSpPr>
          <p:cNvPr id="16" name="">
            <a:extLst xmlns:a="http://schemas.openxmlformats.org/drawingml/2006/main">
              <a:ext uri="{FF2B5EF4-FFF2-40B4-BE49-F238E27FC236}">
                <a16:creationId xmlns:a16="http://schemas.microsoft.com/office/drawing/2014/main" id="{CD2F9C33-5EBD-4363-AEAE-A1FD550FAE84}"/>
              </a:ext>
            </a:extLst>
          </p:cNvPr>
          <p:cNvSpPr>
            <a:spLocks xmlns:a="http://schemas.openxmlformats.org/drawingml/2006/main" noGrp="1"/>
          </p:cNvSpPr>
          <p:nvPr/>
        </p:nvSpPr>
        <p:spPr>
          <a:xfrm xmlns:a="http://schemas.openxmlformats.org/drawingml/2006/main">
            <a:off x="6096000" y="2152650"/>
            <a:ext cx="0" cy="285750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17" name="">
            <a:extLst xmlns:a="http://schemas.openxmlformats.org/drawingml/2006/main">
              <a:ext uri="{FF2B5EF4-FFF2-40B4-BE49-F238E27FC236}">
                <a16:creationId xmlns:a16="http://schemas.microsoft.com/office/drawing/2014/main" id="{562CB040-4876-4E7A-9D9D-7AD5A20F777F}"/>
              </a:ext>
            </a:extLst>
          </p:cNvPr>
          <p:cNvSpPr>
            <a:spLocks xmlns:a="http://schemas.openxmlformats.org/drawingml/2006/main" noGrp="1"/>
          </p:cNvSpPr>
          <p:nvPr/>
        </p:nvSpPr>
        <p:spPr>
          <a:xfrm xmlns:a="http://schemas.openxmlformats.org/drawingml/2006/main" rot="0">
            <a:off x="6496050" y="220980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UNIT OF WORK</a:t>
            </a:r>
          </a:p>
        </p:txBody>
      </p:sp>
      <p:sp>
        <p:nvSpPr>
          <p:cNvPr id="18" name="">
            <a:extLst xmlns:a="http://schemas.openxmlformats.org/drawingml/2006/main">
              <a:ext uri="{FF2B5EF4-FFF2-40B4-BE49-F238E27FC236}">
                <a16:creationId xmlns:a16="http://schemas.microsoft.com/office/drawing/2014/main" id="{C3826E08-79D1-4AB6-AA7E-7C019B4D6D98}"/>
              </a:ext>
            </a:extLst>
          </p:cNvPr>
          <p:cNvSpPr>
            <a:spLocks xmlns:a="http://schemas.openxmlformats.org/drawingml/2006/main" noGrp="1"/>
          </p:cNvSpPr>
          <p:nvPr/>
        </p:nvSpPr>
        <p:spPr>
          <a:xfrm xmlns:a="http://schemas.openxmlformats.org/drawingml/2006/main" rot="0">
            <a:off x="6496050" y="26289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DATA-ROOM TOOLS</a:t>
            </a:r>
          </a:p>
        </p:txBody>
      </p:sp>
      <p:sp>
        <p:nvSpPr>
          <p:cNvPr id="19" name="">
            <a:extLst xmlns:a="http://schemas.openxmlformats.org/drawingml/2006/main">
              <a:ext uri="{FF2B5EF4-FFF2-40B4-BE49-F238E27FC236}">
                <a16:creationId xmlns:a16="http://schemas.microsoft.com/office/drawing/2014/main" id="{8A92308B-2177-49F2-86BD-DD7884C4A387}"/>
              </a:ext>
            </a:extLst>
          </p:cNvPr>
          <p:cNvSpPr>
            <a:spLocks xmlns:a="http://schemas.openxmlformats.org/drawingml/2006/main" noGrp="1"/>
          </p:cNvSpPr>
          <p:nvPr/>
        </p:nvSpPr>
        <p:spPr>
          <a:xfrm xmlns:a="http://schemas.openxmlformats.org/drawingml/2006/main" rot="0">
            <a:off x="8858250" y="25908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725" b="0">
                <a:solidFill>
                  <a:srgbClr val="A6A3A0"/>
                </a:solidFill>
                <a:latin typeface="Arial"/>
                <a:ea typeface="Arial"/>
                <a:cs typeface="Arial"/>
              </a:defRPr>
            </a:pPr>
            <a:r>
              <a:rPr sz="1725" b="0">
                <a:solidFill>
                  <a:srgbClr val="A6A3A0"/>
                </a:solidFill>
                <a:latin typeface="Arial"/>
                <a:ea typeface="Arial"/>
                <a:cs typeface="Arial"/>
              </a:rPr>
              <a:t>Document</a:t>
            </a:r>
          </a:p>
        </p:txBody>
      </p:sp>
      <p:sp>
        <p:nvSpPr>
          <p:cNvPr id="20" name="">
            <a:extLst xmlns:a="http://schemas.openxmlformats.org/drawingml/2006/main">
              <a:ext uri="{FF2B5EF4-FFF2-40B4-BE49-F238E27FC236}">
                <a16:creationId xmlns:a16="http://schemas.microsoft.com/office/drawing/2014/main" id="{824ADAFD-C833-41DC-A379-F70D3212F9CD}"/>
              </a:ext>
            </a:extLst>
          </p:cNvPr>
          <p:cNvSpPr>
            <a:spLocks xmlns:a="http://schemas.openxmlformats.org/drawingml/2006/main" noGrp="1"/>
          </p:cNvSpPr>
          <p:nvPr/>
        </p:nvSpPr>
        <p:spPr>
          <a:xfrm xmlns:a="http://schemas.openxmlformats.org/drawingml/2006/main">
            <a:off x="6496050" y="3000375"/>
            <a:ext cx="47434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1" name="">
            <a:extLst xmlns:a="http://schemas.openxmlformats.org/drawingml/2006/main">
              <a:ext uri="{FF2B5EF4-FFF2-40B4-BE49-F238E27FC236}">
                <a16:creationId xmlns:a16="http://schemas.microsoft.com/office/drawing/2014/main" id="{58F6E865-46C7-4837-BD8C-5D3E82CE1EEC}"/>
              </a:ext>
            </a:extLst>
          </p:cNvPr>
          <p:cNvSpPr>
            <a:spLocks xmlns:a="http://schemas.openxmlformats.org/drawingml/2006/main" noGrp="1"/>
          </p:cNvSpPr>
          <p:nvPr/>
        </p:nvSpPr>
        <p:spPr>
          <a:xfrm xmlns:a="http://schemas.openxmlformats.org/drawingml/2006/main" rot="0">
            <a:off x="6496050" y="32670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EXPERT NETWORKS</a:t>
            </a:r>
          </a:p>
        </p:txBody>
      </p:sp>
      <p:sp>
        <p:nvSpPr>
          <p:cNvPr id="22" name="">
            <a:extLst xmlns:a="http://schemas.openxmlformats.org/drawingml/2006/main">
              <a:ext uri="{FF2B5EF4-FFF2-40B4-BE49-F238E27FC236}">
                <a16:creationId xmlns:a16="http://schemas.microsoft.com/office/drawing/2014/main" id="{D40D62F5-0AC1-4220-A082-1B8F93A94E3C}"/>
              </a:ext>
            </a:extLst>
          </p:cNvPr>
          <p:cNvSpPr>
            <a:spLocks xmlns:a="http://schemas.openxmlformats.org/drawingml/2006/main" noGrp="1"/>
          </p:cNvSpPr>
          <p:nvPr/>
        </p:nvSpPr>
        <p:spPr>
          <a:xfrm xmlns:a="http://schemas.openxmlformats.org/drawingml/2006/main" rot="0">
            <a:off x="8858250" y="3228975"/>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725" b="0">
                <a:solidFill>
                  <a:srgbClr val="A6A3A0"/>
                </a:solidFill>
                <a:latin typeface="Arial"/>
                <a:ea typeface="Arial"/>
                <a:cs typeface="Arial"/>
              </a:defRPr>
            </a:pPr>
            <a:r>
              <a:rPr sz="1725" b="0">
                <a:solidFill>
                  <a:srgbClr val="A6A3A0"/>
                </a:solidFill>
                <a:latin typeface="Arial"/>
                <a:ea typeface="Arial"/>
                <a:cs typeface="Arial"/>
              </a:rPr>
              <a:t>Interview</a:t>
            </a:r>
          </a:p>
        </p:txBody>
      </p:sp>
      <p:sp>
        <p:nvSpPr>
          <p:cNvPr id="23" name="">
            <a:extLst xmlns:a="http://schemas.openxmlformats.org/drawingml/2006/main">
              <a:ext uri="{FF2B5EF4-FFF2-40B4-BE49-F238E27FC236}">
                <a16:creationId xmlns:a16="http://schemas.microsoft.com/office/drawing/2014/main" id="{5E16FD16-E03A-42C5-855E-A051247F5248}"/>
              </a:ext>
            </a:extLst>
          </p:cNvPr>
          <p:cNvSpPr>
            <a:spLocks xmlns:a="http://schemas.openxmlformats.org/drawingml/2006/main" noGrp="1"/>
          </p:cNvSpPr>
          <p:nvPr/>
        </p:nvSpPr>
        <p:spPr>
          <a:xfrm xmlns:a="http://schemas.openxmlformats.org/drawingml/2006/main">
            <a:off x="6496050" y="3638550"/>
            <a:ext cx="47434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4" name="">
            <a:extLst xmlns:a="http://schemas.openxmlformats.org/drawingml/2006/main">
              <a:ext uri="{FF2B5EF4-FFF2-40B4-BE49-F238E27FC236}">
                <a16:creationId xmlns:a16="http://schemas.microsoft.com/office/drawing/2014/main" id="{DFE6F5C3-E60A-4F28-BA49-C8A34397F75E}"/>
              </a:ext>
            </a:extLst>
          </p:cNvPr>
          <p:cNvSpPr>
            <a:spLocks xmlns:a="http://schemas.openxmlformats.org/drawingml/2006/main" noGrp="1"/>
          </p:cNvSpPr>
          <p:nvPr/>
        </p:nvSpPr>
        <p:spPr>
          <a:xfrm xmlns:a="http://schemas.openxmlformats.org/drawingml/2006/main" rot="0">
            <a:off x="6496050" y="39052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DATA PLATFORMS</a:t>
            </a:r>
          </a:p>
        </p:txBody>
      </p:sp>
      <p:sp>
        <p:nvSpPr>
          <p:cNvPr id="25" name="">
            <a:extLst xmlns:a="http://schemas.openxmlformats.org/drawingml/2006/main">
              <a:ext uri="{FF2B5EF4-FFF2-40B4-BE49-F238E27FC236}">
                <a16:creationId xmlns:a16="http://schemas.microsoft.com/office/drawing/2014/main" id="{405D353F-9D6B-4687-BED1-1C372590C469}"/>
              </a:ext>
            </a:extLst>
          </p:cNvPr>
          <p:cNvSpPr>
            <a:spLocks xmlns:a="http://schemas.openxmlformats.org/drawingml/2006/main" noGrp="1"/>
          </p:cNvSpPr>
          <p:nvPr/>
        </p:nvSpPr>
        <p:spPr>
          <a:xfrm xmlns:a="http://schemas.openxmlformats.org/drawingml/2006/main" rot="0">
            <a:off x="8858250" y="38671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725" b="0">
                <a:solidFill>
                  <a:srgbClr val="A6A3A0"/>
                </a:solidFill>
                <a:latin typeface="Arial"/>
                <a:ea typeface="Arial"/>
                <a:cs typeface="Arial"/>
              </a:defRPr>
            </a:pPr>
            <a:r>
              <a:rPr sz="1725" b="0">
                <a:solidFill>
                  <a:srgbClr val="A6A3A0"/>
                </a:solidFill>
                <a:latin typeface="Arial"/>
                <a:ea typeface="Arial"/>
                <a:cs typeface="Arial"/>
              </a:rPr>
              <a:t>Dataset</a:t>
            </a:r>
          </a:p>
        </p:txBody>
      </p:sp>
      <p:sp>
        <p:nvSpPr>
          <p:cNvPr id="26" name="">
            <a:extLst xmlns:a="http://schemas.openxmlformats.org/drawingml/2006/main">
              <a:ext uri="{FF2B5EF4-FFF2-40B4-BE49-F238E27FC236}">
                <a16:creationId xmlns:a16="http://schemas.microsoft.com/office/drawing/2014/main" id="{185E4EB6-B5BF-4A03-AA04-AF9649E807C0}"/>
              </a:ext>
            </a:extLst>
          </p:cNvPr>
          <p:cNvSpPr>
            <a:spLocks xmlns:a="http://schemas.openxmlformats.org/drawingml/2006/main" noGrp="1"/>
          </p:cNvSpPr>
          <p:nvPr/>
        </p:nvSpPr>
        <p:spPr>
          <a:xfrm xmlns:a="http://schemas.openxmlformats.org/drawingml/2006/main">
            <a:off x="6496050" y="4276725"/>
            <a:ext cx="47434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7" name="">
            <a:extLst xmlns:a="http://schemas.openxmlformats.org/drawingml/2006/main">
              <a:ext uri="{FF2B5EF4-FFF2-40B4-BE49-F238E27FC236}">
                <a16:creationId xmlns:a16="http://schemas.microsoft.com/office/drawing/2014/main" id="{DFCD0164-DC1A-4E6C-91D8-E4FDFF522678}"/>
              </a:ext>
            </a:extLst>
          </p:cNvPr>
          <p:cNvSpPr>
            <a:spLocks xmlns:a="http://schemas.openxmlformats.org/drawingml/2006/main" noGrp="1"/>
          </p:cNvSpPr>
          <p:nvPr/>
        </p:nvSpPr>
        <p:spPr>
          <a:xfrm xmlns:a="http://schemas.openxmlformats.org/drawingml/2006/main" rot="0">
            <a:off x="6496050" y="454342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a:t>
            </a:r>
          </a:p>
        </p:txBody>
      </p:sp>
      <p:sp>
        <p:nvSpPr>
          <p:cNvPr id="28" name="">
            <a:extLst xmlns:a="http://schemas.openxmlformats.org/drawingml/2006/main">
              <a:ext uri="{FF2B5EF4-FFF2-40B4-BE49-F238E27FC236}">
                <a16:creationId xmlns:a16="http://schemas.microsoft.com/office/drawing/2014/main" id="{54AD403D-82FD-4A75-8A8D-EE4E7607E49F}"/>
              </a:ext>
            </a:extLst>
          </p:cNvPr>
          <p:cNvSpPr>
            <a:spLocks xmlns:a="http://schemas.openxmlformats.org/drawingml/2006/main" noGrp="1"/>
          </p:cNvSpPr>
          <p:nvPr/>
        </p:nvSpPr>
        <p:spPr>
          <a:xfrm xmlns:a="http://schemas.openxmlformats.org/drawingml/2006/main" rot="0">
            <a:off x="8286750" y="4505325"/>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r">
              <a:defRPr sz="1725" b="1">
                <a:solidFill>
                  <a:srgbClr val="F4F3EF"/>
                </a:solidFill>
                <a:latin typeface="Arial"/>
                <a:ea typeface="Arial"/>
                <a:cs typeface="Arial"/>
              </a:defRPr>
            </a:pPr>
            <a:r>
              <a:rPr sz="1725" b="1">
                <a:solidFill>
                  <a:srgbClr val="F4F3EF"/>
                </a:solidFill>
                <a:latin typeface="Arial"/>
                <a:ea typeface="Arial"/>
                <a:cs typeface="Arial"/>
              </a:rPr>
              <a:t>Verification mission</a:t>
            </a:r>
          </a:p>
        </p:txBody>
      </p:sp>
      <p:sp>
        <p:nvSpPr>
          <p:cNvPr id="29" name="">
            <a:extLst xmlns:a="http://schemas.openxmlformats.org/drawingml/2006/main">
              <a:ext uri="{FF2B5EF4-FFF2-40B4-BE49-F238E27FC236}">
                <a16:creationId xmlns:a16="http://schemas.microsoft.com/office/drawing/2014/main" id="{2A9CF736-1DB4-4E3D-99FD-9680FF8941C8}"/>
              </a:ext>
            </a:extLst>
          </p:cNvPr>
          <p:cNvSpPr>
            <a:spLocks xmlns:a="http://schemas.openxmlformats.org/drawingml/2006/main" noGrp="1"/>
          </p:cNvSpPr>
          <p:nvPr/>
        </p:nvSpPr>
        <p:spPr>
          <a:xfrm xmlns:a="http://schemas.openxmlformats.org/drawingml/2006/main">
            <a:off x="6496050" y="4914900"/>
            <a:ext cx="474345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30" name="">
            <a:extLst xmlns:a="http://schemas.openxmlformats.org/drawingml/2006/main">
              <a:ext uri="{FF2B5EF4-FFF2-40B4-BE49-F238E27FC236}">
                <a16:creationId xmlns:a16="http://schemas.microsoft.com/office/drawing/2014/main" id="{E0ED4FB3-56D0-4056-BD82-3566351537ED}"/>
              </a:ext>
            </a:extLst>
          </p:cNvPr>
          <p:cNvSpPr>
            <a:spLocks xmlns:a="http://schemas.openxmlformats.org/drawingml/2006/main" noGrp="1"/>
          </p:cNvSpPr>
          <p:nvPr/>
        </p:nvSpPr>
        <p:spPr>
          <a:xfrm xmlns:a="http://schemas.openxmlformats.org/drawingml/2006/main" rot="0">
            <a:off x="609600" y="5248275"/>
            <a:ext cx="10972800" cy="809625"/>
          </a:xfrm>
          <a:prstGeom xmlns:a="http://schemas.openxmlformats.org/drawingml/2006/main" prst="roundRect">
            <a:avLst>
              <a:gd name="adj" fmla="val 14118"/>
            </a:avLst>
          </a:prstGeom>
          <a:solidFill xmlns:a="http://schemas.openxmlformats.org/drawingml/2006/main">
            <a:srgbClr val="1B120E"/>
          </a:solidFill>
          <a:ln xmlns:a="http://schemas.openxmlformats.org/drawingml/2006/main" w="9525">
            <a:solidFill>
              <a:srgbClr val="FF5B22"/>
            </a:solidFill>
            <a:prstDash val="solid"/>
          </a:ln>
        </p:spPr>
      </p:sp>
      <p:sp>
        <p:nvSpPr>
          <p:cNvPr id="31" name="">
            <a:extLst xmlns:a="http://schemas.openxmlformats.org/drawingml/2006/main">
              <a:ext uri="{FF2B5EF4-FFF2-40B4-BE49-F238E27FC236}">
                <a16:creationId xmlns:a16="http://schemas.microsoft.com/office/drawing/2014/main" id="{7D6CCF31-38B3-477E-BF7E-1C2D7E0DA9A2}"/>
              </a:ext>
            </a:extLst>
          </p:cNvPr>
          <p:cNvSpPr>
            <a:spLocks xmlns:a="http://schemas.openxmlformats.org/drawingml/2006/main" noGrp="1"/>
          </p:cNvSpPr>
          <p:nvPr/>
        </p:nvSpPr>
        <p:spPr>
          <a:xfrm xmlns:a="http://schemas.openxmlformats.org/drawingml/2006/main" rot="0">
            <a:off x="876300" y="5476875"/>
            <a:ext cx="2333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POSITIONING HYPOTHESIS</a:t>
            </a:r>
          </a:p>
        </p:txBody>
      </p:sp>
      <p:sp>
        <p:nvSpPr>
          <p:cNvPr id="32" name="">
            <a:extLst xmlns:a="http://schemas.openxmlformats.org/drawingml/2006/main">
              <a:ext uri="{FF2B5EF4-FFF2-40B4-BE49-F238E27FC236}">
                <a16:creationId xmlns:a16="http://schemas.microsoft.com/office/drawing/2014/main" id="{EF50A35C-2254-41BA-A36B-4198A67A516B}"/>
              </a:ext>
            </a:extLst>
          </p:cNvPr>
          <p:cNvSpPr>
            <a:spLocks xmlns:a="http://schemas.openxmlformats.org/drawingml/2006/main" noGrp="1"/>
          </p:cNvSpPr>
          <p:nvPr/>
        </p:nvSpPr>
        <p:spPr>
          <a:xfrm xmlns:a="http://schemas.openxmlformats.org/drawingml/2006/main" rot="0">
            <a:off x="3543300" y="539115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2250" b="1">
                <a:solidFill>
                  <a:srgbClr val="F4F3EF"/>
                </a:solidFill>
                <a:latin typeface="Arial"/>
                <a:ea typeface="Arial"/>
                <a:cs typeface="Arial"/>
              </a:defRPr>
            </a:pPr>
            <a:r>
              <a:rPr sz="2250" b="1">
                <a:solidFill>
                  <a:srgbClr val="F4F3EF"/>
                </a:solidFill>
                <a:latin typeface="Arial"/>
                <a:ea typeface="Arial"/>
                <a:cs typeface="Arial"/>
              </a:rPr>
              <a:t>The category is commercial verification infrastructure.</a:t>
            </a:r>
          </a:p>
        </p:txBody>
      </p:sp>
    </p:spTree>
    <p:extLst>
      <p:ext uri="{BB962C8B-B14F-4D97-AF65-F5344CB8AC3E}">
        <p14:creationId xmlns:p14="http://schemas.microsoft.com/office/powerpoint/2010/main" val="1780433103"/>
      </p:ext>
    </p:extLst>
  </p:cSld>
</p:sld>
</file>

<file path=ppt/slides/slide7.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F41B5B9-D5D5-44F0-BBF5-2CA669DFE8C1}"/>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8D67992E-12EA-4C3A-996E-5BCE65ADAE6E}"/>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BUSINESS MODEL</a:t>
            </a:r>
          </a:p>
        </p:txBody>
      </p:sp>
      <p:sp>
        <p:nvSpPr>
          <p:cNvPr id="3" name="">
            <a:extLst xmlns:a="http://schemas.openxmlformats.org/drawingml/2006/main">
              <a:ext uri="{FF2B5EF4-FFF2-40B4-BE49-F238E27FC236}">
                <a16:creationId xmlns:a16="http://schemas.microsoft.com/office/drawing/2014/main" id="{C8FEFD83-6C23-4291-B115-3CEC7A5C80BD}"/>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07 / 08</a:t>
            </a:r>
          </a:p>
        </p:txBody>
      </p:sp>
      <p:sp>
        <p:nvSpPr>
          <p:cNvPr id="4" name="">
            <a:extLst xmlns:a="http://schemas.openxmlformats.org/drawingml/2006/main">
              <a:ext uri="{FF2B5EF4-FFF2-40B4-BE49-F238E27FC236}">
                <a16:creationId xmlns:a16="http://schemas.microsoft.com/office/drawing/2014/main" id="{8E6FE12D-56DE-4ACB-9681-9B229F3BDA2B}"/>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C7376424-DB3F-4CAD-8D57-2C2FBA625CFC}"/>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C5B7817C-8069-4BF5-9FAB-147BE7901AE7}"/>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DBB45A62-4268-451D-AA3F-2B472CCDD2C2}"/>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809"/>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One mission engine expands across decision surfaces.</a:t>
            </a:r>
          </a:p>
        </p:txBody>
      </p:sp>
      <p:sp>
        <p:nvSpPr>
          <p:cNvPr id="8" name="">
            <a:extLst xmlns:a="http://schemas.openxmlformats.org/drawingml/2006/main">
              <a:ext uri="{FF2B5EF4-FFF2-40B4-BE49-F238E27FC236}">
                <a16:creationId xmlns:a16="http://schemas.microsoft.com/office/drawing/2014/main" id="{5A2A9C92-6047-45F9-9552-154AAF512698}"/>
              </a:ext>
            </a:extLst>
          </p:cNvPr>
          <p:cNvSpPr>
            <a:spLocks xmlns:a="http://schemas.openxmlformats.org/drawingml/2006/main" noGrp="1"/>
          </p:cNvSpPr>
          <p:nvPr/>
        </p:nvSpPr>
        <p:spPr>
          <a:xfrm xmlns:a="http://schemas.openxmlformats.org/drawingml/2006/main" rot="0">
            <a:off x="609600" y="1381125"/>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A6A3A0"/>
                </a:solidFill>
                <a:latin typeface="Arial"/>
                <a:ea typeface="Arial"/>
                <a:cs typeface="Arial"/>
              </a:defRPr>
            </a:pPr>
            <a:r>
              <a:rPr sz="1650" b="0">
                <a:solidFill>
                  <a:srgbClr val="A6A3A0"/>
                </a:solidFill>
                <a:latin typeface="Arial"/>
                <a:ea typeface="Arial"/>
                <a:cs typeface="Arial"/>
              </a:rPr>
              <a:t>Institutional verification is the wedge. Merchant and self-service questions come later.</a:t>
            </a:r>
          </a:p>
        </p:txBody>
      </p:sp>
      <p:sp>
        <p:nvSpPr>
          <p:cNvPr id="9" name="">
            <a:extLst xmlns:a="http://schemas.openxmlformats.org/drawingml/2006/main">
              <a:ext uri="{FF2B5EF4-FFF2-40B4-BE49-F238E27FC236}">
                <a16:creationId xmlns:a16="http://schemas.microsoft.com/office/drawing/2014/main" id="{167ED839-0F0F-4C2E-A0DB-33C2E0080443}"/>
              </a:ext>
            </a:extLst>
          </p:cNvPr>
          <p:cNvSpPr>
            <a:spLocks xmlns:a="http://schemas.openxmlformats.org/drawingml/2006/main" noGrp="1"/>
          </p:cNvSpPr>
          <p:nvPr/>
        </p:nvSpPr>
        <p:spPr>
          <a:xfrm xmlns:a="http://schemas.openxmlformats.org/drawingml/2006/main" rot="0">
            <a:off x="2400300" y="2952750"/>
            <a:ext cx="342900" cy="114300"/>
          </a:xfrm>
          <a:prstGeom xmlns:a="http://schemas.openxmlformats.org/drawingml/2006/main" prst="rightArrow">
            <a:avLst/>
          </a:prstGeom>
          <a:solidFill xmlns:a="http://schemas.openxmlformats.org/drawingml/2006/main">
            <a:srgbClr val="FF5B2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3BF5FBF-6F97-439D-B9A0-C8B135020D48}"/>
              </a:ext>
            </a:extLst>
          </p:cNvPr>
          <p:cNvSpPr>
            <a:spLocks xmlns:a="http://schemas.openxmlformats.org/drawingml/2006/main" noGrp="1"/>
          </p:cNvSpPr>
          <p:nvPr/>
        </p:nvSpPr>
        <p:spPr>
          <a:xfrm xmlns:a="http://schemas.openxmlformats.org/drawingml/2006/main" rot="0">
            <a:off x="4686300" y="2952750"/>
            <a:ext cx="3429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D1B4305-F301-475A-8A81-31A4471160B0}"/>
              </a:ext>
            </a:extLst>
          </p:cNvPr>
          <p:cNvSpPr>
            <a:spLocks xmlns:a="http://schemas.openxmlformats.org/drawingml/2006/main" noGrp="1"/>
          </p:cNvSpPr>
          <p:nvPr/>
        </p:nvSpPr>
        <p:spPr>
          <a:xfrm xmlns:a="http://schemas.openxmlformats.org/drawingml/2006/main" rot="0">
            <a:off x="6972300" y="2952750"/>
            <a:ext cx="3429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0B62B0-CEC1-4C28-A512-977DE0987620}"/>
              </a:ext>
            </a:extLst>
          </p:cNvPr>
          <p:cNvSpPr>
            <a:spLocks xmlns:a="http://schemas.openxmlformats.org/drawingml/2006/main" noGrp="1"/>
          </p:cNvSpPr>
          <p:nvPr/>
        </p:nvSpPr>
        <p:spPr>
          <a:xfrm xmlns:a="http://schemas.openxmlformats.org/drawingml/2006/main" rot="0">
            <a:off x="609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FF5B22"/>
                </a:solidFill>
                <a:latin typeface="Courier New"/>
                <a:ea typeface="Courier New"/>
                <a:cs typeface="Courier New"/>
              </a:defRPr>
            </a:pPr>
            <a:r>
              <a:rPr sz="1275" b="1">
                <a:solidFill>
                  <a:srgbClr val="FF5B22"/>
                </a:solidFill>
                <a:latin typeface="Courier New"/>
                <a:ea typeface="Courier New"/>
                <a:cs typeface="Courier New"/>
              </a:rPr>
              <a:t>01</a:t>
            </a:r>
          </a:p>
        </p:txBody>
      </p:sp>
      <p:sp>
        <p:nvSpPr>
          <p:cNvPr id="13" name="">
            <a:extLst xmlns:a="http://schemas.openxmlformats.org/drawingml/2006/main">
              <a:ext uri="{FF2B5EF4-FFF2-40B4-BE49-F238E27FC236}">
                <a16:creationId xmlns:a16="http://schemas.microsoft.com/office/drawing/2014/main" id="{95516FE4-C4B8-47BC-9E42-F7C78B3D37C4}"/>
              </a:ext>
            </a:extLst>
          </p:cNvPr>
          <p:cNvSpPr>
            <a:spLocks xmlns:a="http://schemas.openxmlformats.org/drawingml/2006/main" noGrp="1"/>
          </p:cNvSpPr>
          <p:nvPr/>
        </p:nvSpPr>
        <p:spPr>
          <a:xfrm xmlns:a="http://schemas.openxmlformats.org/drawingml/2006/main" rot="0">
            <a:off x="609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F4F3EF"/>
                </a:solidFill>
                <a:latin typeface="Courier New"/>
                <a:ea typeface="Courier New"/>
                <a:cs typeface="Courier New"/>
              </a:defRPr>
            </a:pPr>
            <a:r>
              <a:rPr sz="1275" b="1">
                <a:solidFill>
                  <a:srgbClr val="F4F3EF"/>
                </a:solidFill>
                <a:latin typeface="Courier New"/>
                <a:ea typeface="Courier New"/>
                <a:cs typeface="Courier New"/>
              </a:rPr>
              <a:t>PAID MISSION</a:t>
            </a:r>
          </a:p>
        </p:txBody>
      </p:sp>
      <p:sp>
        <p:nvSpPr>
          <p:cNvPr id="14" name="">
            <a:extLst xmlns:a="http://schemas.openxmlformats.org/drawingml/2006/main">
              <a:ext uri="{FF2B5EF4-FFF2-40B4-BE49-F238E27FC236}">
                <a16:creationId xmlns:a16="http://schemas.microsoft.com/office/drawing/2014/main" id="{91B36715-CD42-48E8-9EE6-FE05482B4B23}"/>
              </a:ext>
            </a:extLst>
          </p:cNvPr>
          <p:cNvSpPr>
            <a:spLocks xmlns:a="http://schemas.openxmlformats.org/drawingml/2006/main" noGrp="1"/>
          </p:cNvSpPr>
          <p:nvPr/>
        </p:nvSpPr>
        <p:spPr>
          <a:xfrm xmlns:a="http://schemas.openxmlformats.org/drawingml/2006/main">
            <a:off x="609600" y="3152775"/>
            <a:ext cx="1790700" cy="0"/>
          </a:xfrm>
          <a:prstGeom xmlns:a="http://schemas.openxmlformats.org/drawingml/2006/main" prst="line">
            <a:avLst/>
          </a:prstGeom>
          <a:noFill xmlns:a="http://schemas.openxmlformats.org/drawingml/2006/main"/>
          <a:ln xmlns:a="http://schemas.openxmlformats.org/drawingml/2006/main" w="28575">
            <a:solidFill>
              <a:srgbClr val="FF5B22"/>
            </a:solidFill>
            <a:prstDash val="solid"/>
          </a:ln>
        </p:spPr>
      </p:sp>
      <p:sp>
        <p:nvSpPr>
          <p:cNvPr id="15" name="">
            <a:extLst xmlns:a="http://schemas.openxmlformats.org/drawingml/2006/main">
              <a:ext uri="{FF2B5EF4-FFF2-40B4-BE49-F238E27FC236}">
                <a16:creationId xmlns:a16="http://schemas.microsoft.com/office/drawing/2014/main" id="{42E99945-9C26-45C5-BA28-E7F364901D32}"/>
              </a:ext>
            </a:extLst>
          </p:cNvPr>
          <p:cNvSpPr>
            <a:spLocks xmlns:a="http://schemas.openxmlformats.org/drawingml/2006/main" noGrp="1"/>
          </p:cNvSpPr>
          <p:nvPr/>
        </p:nvSpPr>
        <p:spPr>
          <a:xfrm xmlns:a="http://schemas.openxmlformats.org/drawingml/2006/main" rot="0">
            <a:off x="609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One claim</a:t>
            </a:r>
          </a:p>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One scoped plan</a:t>
            </a:r>
          </a:p>
        </p:txBody>
      </p:sp>
      <p:sp>
        <p:nvSpPr>
          <p:cNvPr id="16" name="">
            <a:extLst xmlns:a="http://schemas.openxmlformats.org/drawingml/2006/main">
              <a:ext uri="{FF2B5EF4-FFF2-40B4-BE49-F238E27FC236}">
                <a16:creationId xmlns:a16="http://schemas.microsoft.com/office/drawing/2014/main" id="{44E136AE-487E-43CA-95E2-4F6B83419BDD}"/>
              </a:ext>
            </a:extLst>
          </p:cNvPr>
          <p:cNvSpPr>
            <a:spLocks xmlns:a="http://schemas.openxmlformats.org/drawingml/2006/main" noGrp="1"/>
          </p:cNvSpPr>
          <p:nvPr/>
        </p:nvSpPr>
        <p:spPr>
          <a:xfrm xmlns:a="http://schemas.openxmlformats.org/drawingml/2006/main" rot="0">
            <a:off x="2895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FF5B22"/>
                </a:solidFill>
                <a:latin typeface="Courier New"/>
                <a:ea typeface="Courier New"/>
                <a:cs typeface="Courier New"/>
              </a:defRPr>
            </a:pPr>
            <a:r>
              <a:rPr sz="1275" b="1">
                <a:solidFill>
                  <a:srgbClr val="FF5B22"/>
                </a:solidFill>
                <a:latin typeface="Courier New"/>
                <a:ea typeface="Courier New"/>
                <a:cs typeface="Courier New"/>
              </a:rPr>
              <a:t>02</a:t>
            </a:r>
          </a:p>
        </p:txBody>
      </p:sp>
      <p:sp>
        <p:nvSpPr>
          <p:cNvPr id="17" name="">
            <a:extLst xmlns:a="http://schemas.openxmlformats.org/drawingml/2006/main">
              <a:ext uri="{FF2B5EF4-FFF2-40B4-BE49-F238E27FC236}">
                <a16:creationId xmlns:a16="http://schemas.microsoft.com/office/drawing/2014/main" id="{2AA500EB-2DAE-4079-8978-C2149F0F1DBA}"/>
              </a:ext>
            </a:extLst>
          </p:cNvPr>
          <p:cNvSpPr>
            <a:spLocks xmlns:a="http://schemas.openxmlformats.org/drawingml/2006/main" noGrp="1"/>
          </p:cNvSpPr>
          <p:nvPr/>
        </p:nvSpPr>
        <p:spPr>
          <a:xfrm xmlns:a="http://schemas.openxmlformats.org/drawingml/2006/main" rot="0">
            <a:off x="2895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a:solidFill>
                  <a:srgbClr val="F4F3EF"/>
                </a:solidFill>
                <a:latin typeface="Courier New"/>
                <a:ea typeface="Courier New"/>
                <a:cs typeface="Courier New"/>
              </a:defRPr>
            </a:pPr>
            <a:r>
              <a:rPr sz="1350" b="1">
                <a:solidFill>
                  <a:srgbClr val="F4F3EF"/>
                </a:solidFill>
                <a:latin typeface="Courier New"/>
                <a:ea typeface="Courier New"/>
                <a:cs typeface="Courier New"/>
              </a:rPr>
              <a:t>PORTFOLIO SUBSCRIPTION</a:t>
            </a:r>
          </a:p>
        </p:txBody>
      </p:sp>
      <p:sp>
        <p:nvSpPr>
          <p:cNvPr id="18" name="">
            <a:extLst xmlns:a="http://schemas.openxmlformats.org/drawingml/2006/main">
              <a:ext uri="{FF2B5EF4-FFF2-40B4-BE49-F238E27FC236}">
                <a16:creationId xmlns:a16="http://schemas.microsoft.com/office/drawing/2014/main" id="{25095940-89F9-4B31-8778-469E84F0FD2E}"/>
              </a:ext>
            </a:extLst>
          </p:cNvPr>
          <p:cNvSpPr>
            <a:spLocks xmlns:a="http://schemas.openxmlformats.org/drawingml/2006/main" noGrp="1"/>
          </p:cNvSpPr>
          <p:nvPr/>
        </p:nvSpPr>
        <p:spPr>
          <a:xfrm xmlns:a="http://schemas.openxmlformats.org/drawingml/2006/main">
            <a:off x="2895600" y="3152775"/>
            <a:ext cx="1790700" cy="0"/>
          </a:xfrm>
          <a:prstGeom xmlns:a="http://schemas.openxmlformats.org/drawingml/2006/main" prst="line">
            <a:avLst/>
          </a:prstGeom>
          <a:noFill xmlns:a="http://schemas.openxmlformats.org/drawingml/2006/main"/>
          <a:ln xmlns:a="http://schemas.openxmlformats.org/drawingml/2006/main" w="28575">
            <a:solidFill>
              <a:srgbClr val="FF5B22"/>
            </a:solidFill>
            <a:prstDash val="solid"/>
          </a:ln>
        </p:spPr>
      </p:sp>
      <p:sp>
        <p:nvSpPr>
          <p:cNvPr id="19" name="">
            <a:extLst xmlns:a="http://schemas.openxmlformats.org/drawingml/2006/main">
              <a:ext uri="{FF2B5EF4-FFF2-40B4-BE49-F238E27FC236}">
                <a16:creationId xmlns:a16="http://schemas.microsoft.com/office/drawing/2014/main" id="{134BBE6D-B52D-4E6C-8E55-A0AB75D984FF}"/>
              </a:ext>
            </a:extLst>
          </p:cNvPr>
          <p:cNvSpPr>
            <a:spLocks xmlns:a="http://schemas.openxmlformats.org/drawingml/2006/main" noGrp="1"/>
          </p:cNvSpPr>
          <p:nvPr/>
        </p:nvSpPr>
        <p:spPr>
          <a:xfrm xmlns:a="http://schemas.openxmlformats.org/drawingml/2006/main" rot="0">
            <a:off x="2895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6"/>
          </a:bodyPr>
          <a:lstStyle xmlns:a="http://schemas.openxmlformats.org/drawingml/2006/main"/>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Reusable missions</a:t>
            </a:r>
          </a:p>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Longitudinal monitoring</a:t>
            </a:r>
          </a:p>
        </p:txBody>
      </p:sp>
      <p:sp>
        <p:nvSpPr>
          <p:cNvPr id="20" name="">
            <a:extLst xmlns:a="http://schemas.openxmlformats.org/drawingml/2006/main">
              <a:ext uri="{FF2B5EF4-FFF2-40B4-BE49-F238E27FC236}">
                <a16:creationId xmlns:a16="http://schemas.microsoft.com/office/drawing/2014/main" id="{AA8ED126-6B84-40D3-A944-FE8BFC5D39D2}"/>
              </a:ext>
            </a:extLst>
          </p:cNvPr>
          <p:cNvSpPr>
            <a:spLocks xmlns:a="http://schemas.openxmlformats.org/drawingml/2006/main" noGrp="1"/>
          </p:cNvSpPr>
          <p:nvPr/>
        </p:nvSpPr>
        <p:spPr>
          <a:xfrm xmlns:a="http://schemas.openxmlformats.org/drawingml/2006/main" rot="0">
            <a:off x="5181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6F6D6B"/>
                </a:solidFill>
                <a:latin typeface="Courier New"/>
                <a:ea typeface="Courier New"/>
                <a:cs typeface="Courier New"/>
              </a:defRPr>
            </a:pPr>
            <a:r>
              <a:rPr sz="1275" b="1">
                <a:solidFill>
                  <a:srgbClr val="6F6D6B"/>
                </a:solidFill>
                <a:latin typeface="Courier New"/>
                <a:ea typeface="Courier New"/>
                <a:cs typeface="Courier New"/>
              </a:rPr>
              <a:t>03</a:t>
            </a:r>
          </a:p>
        </p:txBody>
      </p:sp>
      <p:sp>
        <p:nvSpPr>
          <p:cNvPr id="21" name="">
            <a:extLst xmlns:a="http://schemas.openxmlformats.org/drawingml/2006/main">
              <a:ext uri="{FF2B5EF4-FFF2-40B4-BE49-F238E27FC236}">
                <a16:creationId xmlns:a16="http://schemas.microsoft.com/office/drawing/2014/main" id="{278EA813-968D-4A4A-9306-12EA85E60BF3}"/>
              </a:ext>
            </a:extLst>
          </p:cNvPr>
          <p:cNvSpPr>
            <a:spLocks xmlns:a="http://schemas.openxmlformats.org/drawingml/2006/main" noGrp="1"/>
          </p:cNvSpPr>
          <p:nvPr/>
        </p:nvSpPr>
        <p:spPr>
          <a:xfrm xmlns:a="http://schemas.openxmlformats.org/drawingml/2006/main" rot="0">
            <a:off x="5181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A6A3A0"/>
                </a:solidFill>
                <a:latin typeface="Courier New"/>
                <a:ea typeface="Courier New"/>
                <a:cs typeface="Courier New"/>
              </a:defRPr>
            </a:pPr>
            <a:r>
              <a:rPr sz="1275" b="1">
                <a:solidFill>
                  <a:srgbClr val="A6A3A0"/>
                </a:solidFill>
                <a:latin typeface="Courier New"/>
                <a:ea typeface="Courier New"/>
                <a:cs typeface="Courier New"/>
              </a:rPr>
              <a:t>INTEGRATIONS</a:t>
            </a:r>
          </a:p>
        </p:txBody>
      </p:sp>
      <p:sp>
        <p:nvSpPr>
          <p:cNvPr id="22" name="">
            <a:extLst xmlns:a="http://schemas.openxmlformats.org/drawingml/2006/main">
              <a:ext uri="{FF2B5EF4-FFF2-40B4-BE49-F238E27FC236}">
                <a16:creationId xmlns:a16="http://schemas.microsoft.com/office/drawing/2014/main" id="{706B748D-0EB0-4EB1-9C61-95FE757B047F}"/>
              </a:ext>
            </a:extLst>
          </p:cNvPr>
          <p:cNvSpPr>
            <a:spLocks xmlns:a="http://schemas.openxmlformats.org/drawingml/2006/main" noGrp="1"/>
          </p:cNvSpPr>
          <p:nvPr/>
        </p:nvSpPr>
        <p:spPr>
          <a:xfrm xmlns:a="http://schemas.openxmlformats.org/drawingml/2006/main">
            <a:off x="5181600" y="3152775"/>
            <a:ext cx="1790700" cy="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3" name="">
            <a:extLst xmlns:a="http://schemas.openxmlformats.org/drawingml/2006/main">
              <a:ext uri="{FF2B5EF4-FFF2-40B4-BE49-F238E27FC236}">
                <a16:creationId xmlns:a16="http://schemas.microsoft.com/office/drawing/2014/main" id="{C4471091-82D2-4A3E-BE47-438DB4CD274E}"/>
              </a:ext>
            </a:extLst>
          </p:cNvPr>
          <p:cNvSpPr>
            <a:spLocks xmlns:a="http://schemas.openxmlformats.org/drawingml/2006/main" noGrp="1"/>
          </p:cNvSpPr>
          <p:nvPr/>
        </p:nvSpPr>
        <p:spPr>
          <a:xfrm xmlns:a="http://schemas.openxmlformats.org/drawingml/2006/main" rot="0">
            <a:off x="5181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Licensed sources</a:t>
            </a:r>
          </a:p>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Authorized connectors</a:t>
            </a:r>
          </a:p>
        </p:txBody>
      </p:sp>
      <p:sp>
        <p:nvSpPr>
          <p:cNvPr id="24" name="">
            <a:extLst xmlns:a="http://schemas.openxmlformats.org/drawingml/2006/main">
              <a:ext uri="{FF2B5EF4-FFF2-40B4-BE49-F238E27FC236}">
                <a16:creationId xmlns:a16="http://schemas.microsoft.com/office/drawing/2014/main" id="{27A416A1-C24C-41AB-9C36-6FAD28162D59}"/>
              </a:ext>
            </a:extLst>
          </p:cNvPr>
          <p:cNvSpPr>
            <a:spLocks xmlns:a="http://schemas.openxmlformats.org/drawingml/2006/main" noGrp="1"/>
          </p:cNvSpPr>
          <p:nvPr/>
        </p:nvSpPr>
        <p:spPr>
          <a:xfrm xmlns:a="http://schemas.openxmlformats.org/drawingml/2006/main" rot="0">
            <a:off x="7467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6F6D6B"/>
                </a:solidFill>
                <a:latin typeface="Courier New"/>
                <a:ea typeface="Courier New"/>
                <a:cs typeface="Courier New"/>
              </a:defRPr>
            </a:pPr>
            <a:r>
              <a:rPr sz="1275" b="1">
                <a:solidFill>
                  <a:srgbClr val="6F6D6B"/>
                </a:solidFill>
                <a:latin typeface="Courier New"/>
                <a:ea typeface="Courier New"/>
                <a:cs typeface="Courier New"/>
              </a:rPr>
              <a:t>04</a:t>
            </a:r>
          </a:p>
        </p:txBody>
      </p:sp>
      <p:sp>
        <p:nvSpPr>
          <p:cNvPr id="25" name="">
            <a:extLst xmlns:a="http://schemas.openxmlformats.org/drawingml/2006/main">
              <a:ext uri="{FF2B5EF4-FFF2-40B4-BE49-F238E27FC236}">
                <a16:creationId xmlns:a16="http://schemas.microsoft.com/office/drawing/2014/main" id="{21E2D6EF-5643-4554-83DB-F45565EF2F65}"/>
              </a:ext>
            </a:extLst>
          </p:cNvPr>
          <p:cNvSpPr>
            <a:spLocks xmlns:a="http://schemas.openxmlformats.org/drawingml/2006/main" noGrp="1"/>
          </p:cNvSpPr>
          <p:nvPr/>
        </p:nvSpPr>
        <p:spPr>
          <a:xfrm xmlns:a="http://schemas.openxmlformats.org/drawingml/2006/main" rot="0">
            <a:off x="7467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A6A3A0"/>
                </a:solidFill>
                <a:latin typeface="Courier New"/>
                <a:ea typeface="Courier New"/>
                <a:cs typeface="Courier New"/>
              </a:defRPr>
            </a:pPr>
            <a:r>
              <a:rPr sz="1275" b="1">
                <a:solidFill>
                  <a:srgbClr val="A6A3A0"/>
                </a:solidFill>
                <a:latin typeface="Courier New"/>
                <a:ea typeface="Courier New"/>
                <a:cs typeface="Courier New"/>
              </a:rPr>
              <a:t>SELF-SERVICE</a:t>
            </a:r>
          </a:p>
        </p:txBody>
      </p:sp>
      <p:sp>
        <p:nvSpPr>
          <p:cNvPr id="26" name="">
            <a:extLst xmlns:a="http://schemas.openxmlformats.org/drawingml/2006/main">
              <a:ext uri="{FF2B5EF4-FFF2-40B4-BE49-F238E27FC236}">
                <a16:creationId xmlns:a16="http://schemas.microsoft.com/office/drawing/2014/main" id="{62B678E7-4F47-45B2-BA64-CF956B709930}"/>
              </a:ext>
            </a:extLst>
          </p:cNvPr>
          <p:cNvSpPr>
            <a:spLocks xmlns:a="http://schemas.openxmlformats.org/drawingml/2006/main" noGrp="1"/>
          </p:cNvSpPr>
          <p:nvPr/>
        </p:nvSpPr>
        <p:spPr>
          <a:xfrm xmlns:a="http://schemas.openxmlformats.org/drawingml/2006/main">
            <a:off x="7467600" y="3152775"/>
            <a:ext cx="1790700" cy="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7" name="">
            <a:extLst xmlns:a="http://schemas.openxmlformats.org/drawingml/2006/main">
              <a:ext uri="{FF2B5EF4-FFF2-40B4-BE49-F238E27FC236}">
                <a16:creationId xmlns:a16="http://schemas.microsoft.com/office/drawing/2014/main" id="{DDEDF03E-BA58-4BBD-9DD9-62B437B434A9}"/>
              </a:ext>
            </a:extLst>
          </p:cNvPr>
          <p:cNvSpPr>
            <a:spLocks xmlns:a="http://schemas.openxmlformats.org/drawingml/2006/main" noGrp="1"/>
          </p:cNvSpPr>
          <p:nvPr/>
        </p:nvSpPr>
        <p:spPr>
          <a:xfrm xmlns:a="http://schemas.openxmlformats.org/drawingml/2006/main" rot="0">
            <a:off x="7467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Merchant location</a:t>
            </a:r>
          </a:p>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Market questions</a:t>
            </a:r>
          </a:p>
        </p:txBody>
      </p:sp>
      <p:sp>
        <p:nvSpPr>
          <p:cNvPr id="28" name="">
            <a:extLst xmlns:a="http://schemas.openxmlformats.org/drawingml/2006/main">
              <a:ext uri="{FF2B5EF4-FFF2-40B4-BE49-F238E27FC236}">
                <a16:creationId xmlns:a16="http://schemas.microsoft.com/office/drawing/2014/main" id="{6B4E4D09-C2E7-45E2-8756-FD9D2FA9F387}"/>
              </a:ext>
            </a:extLst>
          </p:cNvPr>
          <p:cNvSpPr>
            <a:spLocks xmlns:a="http://schemas.openxmlformats.org/drawingml/2006/main" noGrp="1"/>
          </p:cNvSpPr>
          <p:nvPr/>
        </p:nvSpPr>
        <p:spPr>
          <a:xfrm xmlns:a="http://schemas.openxmlformats.org/drawingml/2006/main" rot="0">
            <a:off x="609600" y="463867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SAME MISSION ENGINE</a:t>
            </a:r>
          </a:p>
        </p:txBody>
      </p:sp>
      <p:sp>
        <p:nvSpPr>
          <p:cNvPr id="29" name="">
            <a:extLst xmlns:a="http://schemas.openxmlformats.org/drawingml/2006/main">
              <a:ext uri="{FF2B5EF4-FFF2-40B4-BE49-F238E27FC236}">
                <a16:creationId xmlns:a16="http://schemas.microsoft.com/office/drawing/2014/main" id="{61740EE8-3157-4D72-BA69-7541F2114091}"/>
              </a:ext>
            </a:extLst>
          </p:cNvPr>
          <p:cNvSpPr>
            <a:spLocks xmlns:a="http://schemas.openxmlformats.org/drawingml/2006/main" noGrp="1"/>
          </p:cNvSpPr>
          <p:nvPr/>
        </p:nvSpPr>
        <p:spPr>
          <a:xfrm xmlns:a="http://schemas.openxmlformats.org/drawingml/2006/main" rot="0">
            <a:off x="609600" y="4914900"/>
            <a:ext cx="83629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650" b="1">
                <a:solidFill>
                  <a:srgbClr val="F4F3EF"/>
                </a:solidFill>
                <a:latin typeface="Arial"/>
                <a:ea typeface="Arial"/>
                <a:cs typeface="Arial"/>
              </a:defRPr>
            </a:pPr>
            <a:r>
              <a:rPr sz="1650" b="1">
                <a:solidFill>
                  <a:srgbClr val="F4F3EF"/>
                </a:solidFill>
                <a:latin typeface="Arial"/>
                <a:ea typeface="Arial"/>
                <a:cs typeface="Arial"/>
              </a:rPr>
              <a:t>Commercial diligence  →  Supplier + channel checks  →  Merchant decisions</a:t>
            </a:r>
          </a:p>
        </p:txBody>
      </p:sp>
      <p:sp>
        <p:nvSpPr>
          <p:cNvPr id="30" name="">
            <a:extLst xmlns:a="http://schemas.openxmlformats.org/drawingml/2006/main">
              <a:ext uri="{FF2B5EF4-FFF2-40B4-BE49-F238E27FC236}">
                <a16:creationId xmlns:a16="http://schemas.microsoft.com/office/drawing/2014/main" id="{7411D313-924B-409C-8F8A-05FC61EE778F}"/>
              </a:ext>
            </a:extLst>
          </p:cNvPr>
          <p:cNvSpPr>
            <a:spLocks xmlns:a="http://schemas.openxmlformats.org/drawingml/2006/main" noGrp="1"/>
          </p:cNvSpPr>
          <p:nvPr/>
        </p:nvSpPr>
        <p:spPr>
          <a:xfrm xmlns:a="http://schemas.openxmlformats.org/drawingml/2006/main" rot="0">
            <a:off x="609600" y="5657850"/>
            <a:ext cx="733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a:solidFill>
                  <a:srgbClr val="6F6D6B"/>
                </a:solidFill>
                <a:latin typeface="Arial"/>
                <a:ea typeface="Arial"/>
                <a:cs typeface="Arial"/>
              </a:defRPr>
            </a:pPr>
            <a:r>
              <a:rPr sz="1200" b="0">
                <a:solidFill>
                  <a:srgbClr val="6F6D6B"/>
                </a:solidFill>
                <a:latin typeface="Arial"/>
                <a:ea typeface="Arial"/>
                <a:cs typeface="Arial"/>
              </a:rPr>
              <a:t>Pricing remains a hypothesis until validated in buying processes.</a:t>
            </a:r>
          </a:p>
        </p:txBody>
      </p:sp>
      <p:sp>
        <p:nvSpPr>
          <p:cNvPr id="31" name="mobile-plan-shot-frame">
            <a:extLst xmlns:a="http://schemas.openxmlformats.org/drawingml/2006/main">
              <a:ext uri="{FF2B5EF4-FFF2-40B4-BE49-F238E27FC236}">
                <a16:creationId xmlns:a16="http://schemas.microsoft.com/office/drawing/2014/main" id="{6DCAE0B4-2E72-4F07-A1AC-DAA7F289EF70}"/>
              </a:ext>
            </a:extLst>
          </p:cNvPr>
          <p:cNvSpPr>
            <a:spLocks xmlns:a="http://schemas.openxmlformats.org/drawingml/2006/main" noGrp="1"/>
          </p:cNvSpPr>
          <p:nvPr/>
        </p:nvSpPr>
        <p:spPr>
          <a:xfrm xmlns:a="http://schemas.openxmlformats.org/drawingml/2006/main" rot="0">
            <a:off x="9791700" y="2000250"/>
            <a:ext cx="1714500" cy="3648075"/>
          </a:xfrm>
          <a:prstGeom xmlns:a="http://schemas.openxmlformats.org/drawingml/2006/main" prst="roundRect">
            <a:avLst>
              <a:gd name="adj" fmla="val 10000"/>
            </a:avLst>
          </a:prstGeom>
          <a:solidFill xmlns:a="http://schemas.openxmlformats.org/drawingml/2006/main">
            <a:srgbClr val="1A1A1D"/>
          </a:solidFill>
          <a:ln xmlns:a="http://schemas.openxmlformats.org/drawingml/2006/main" w="9525">
            <a:solidFill>
              <a:srgbClr val="FF5B22"/>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65" name=""/>
          <p:cNvPicPr>
            <a:picLocks xmlns:a="http://schemas.openxmlformats.org/drawingml/2006/main" noChangeAspect="1"/>
          </p:cNvPicPr>
          <p:nvPr/>
        </p:nvPicPr>
        <p:blipFill>
          <a:blip xmlns:r="http://schemas.openxmlformats.org/officeDocument/2006/relationships" xmlns:a="http://schemas.openxmlformats.org/drawingml/2006/main" r:embed="R4b54d8c25be04bee"/>
          <a:srcRect xmlns:a="http://schemas.openxmlformats.org/drawingml/2006/main" l="59" t="0" r="59" b="0"/>
          <a:stretch xmlns:a="http://schemas.openxmlformats.org/drawingml/2006/main">
            <a:fillRect l="0" t="0" r="0" b="0"/>
          </a:stretch>
        </p:blipFill>
        <p:spPr>
          <a:xfrm xmlns:a="http://schemas.openxmlformats.org/drawingml/2006/main">
            <a:off x="9820275" y="2028825"/>
            <a:ext cx="1657350" cy="3590925"/>
          </a:xfrm>
          <a:prstGeom xmlns:a="http://schemas.openxmlformats.org/drawingml/2006/main" prst="roundRect">
            <a:avLst>
              <a:gd name="adj" fmla="val 10345"/>
            </a:avLst>
          </a:prstGeom>
        </p:spPr>
      </p:pic>
      <p:sp>
        <p:nvSpPr>
          <p:cNvPr id="33" name="">
            <a:extLst xmlns:a="http://schemas.openxmlformats.org/drawingml/2006/main">
              <a:ext uri="{FF2B5EF4-FFF2-40B4-BE49-F238E27FC236}">
                <a16:creationId xmlns:a16="http://schemas.microsoft.com/office/drawing/2014/main" id="{9B28AA46-CCBD-4EBB-A3B2-D18480E78561}"/>
              </a:ext>
            </a:extLst>
          </p:cNvPr>
          <p:cNvSpPr>
            <a:spLocks xmlns:a="http://schemas.openxmlformats.org/drawingml/2006/main" noGrp="1"/>
          </p:cNvSpPr>
          <p:nvPr/>
        </p:nvSpPr>
        <p:spPr>
          <a:xfrm xmlns:a="http://schemas.openxmlformats.org/drawingml/2006/main" rot="0">
            <a:off x="9324975" y="5810250"/>
            <a:ext cx="2266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SHOULD I OPEN HERE?</a:t>
            </a:r>
          </a:p>
        </p:txBody>
      </p:sp>
    </p:spTree>
    <p:extLst>
      <p:ext uri="{BB962C8B-B14F-4D97-AF65-F5344CB8AC3E}">
        <p14:creationId xmlns:p14="http://schemas.microsoft.com/office/powerpoint/2010/main" val="2000460740"/>
      </p:ext>
    </p:extLst>
  </p:cSld>
</p:sld>
</file>

<file path=ppt/slides/slide8.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D7246AB4-632F-4FA1-B013-C89329485796}"/>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8CA30314-09B6-4A24-A39C-05A6C213D343}"/>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 / PROOF PLAN + ASK</a:t>
            </a:r>
          </a:p>
        </p:txBody>
      </p:sp>
      <p:sp>
        <p:nvSpPr>
          <p:cNvPr id="3" name="">
            <a:extLst xmlns:a="http://schemas.openxmlformats.org/drawingml/2006/main">
              <a:ext uri="{FF2B5EF4-FFF2-40B4-BE49-F238E27FC236}">
                <a16:creationId xmlns:a16="http://schemas.microsoft.com/office/drawing/2014/main" id="{D3A8D3A8-5DF1-4199-9467-25742A4A2E4C}"/>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08 / 08</a:t>
            </a:r>
          </a:p>
        </p:txBody>
      </p:sp>
      <p:sp>
        <p:nvSpPr>
          <p:cNvPr id="4" name="">
            <a:extLst xmlns:a="http://schemas.openxmlformats.org/drawingml/2006/main">
              <a:ext uri="{FF2B5EF4-FFF2-40B4-BE49-F238E27FC236}">
                <a16:creationId xmlns:a16="http://schemas.microsoft.com/office/drawing/2014/main" id="{C89103C1-5A92-47E6-A3BB-D488B60F008D}"/>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5" name="">
            <a:extLst xmlns:a="http://schemas.openxmlformats.org/drawingml/2006/main">
              <a:ext uri="{FF2B5EF4-FFF2-40B4-BE49-F238E27FC236}">
                <a16:creationId xmlns:a16="http://schemas.microsoft.com/office/drawing/2014/main" id="{BAD7B011-7D3E-4612-BFF5-B0A3BBF16EAC}"/>
              </a:ext>
            </a:extLst>
          </p:cNvPr>
          <p:cNvSpPr>
            <a:spLocks xmlns:a="http://schemas.openxmlformats.org/drawingml/2006/main" noGrp="1"/>
          </p:cNvSpPr>
          <p:nvPr/>
        </p:nvSpPr>
        <p:spPr>
          <a:xfrm xmlns:a="http://schemas.openxmlformats.org/drawingml/2006/main" rot="0">
            <a:off x="609600" y="6562725"/>
            <a:ext cx="2857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LIVE REAL-WORLD ASSURANCE</a:t>
            </a:r>
          </a:p>
        </p:txBody>
      </p:sp>
      <p:sp>
        <p:nvSpPr>
          <p:cNvPr id="6" name="">
            <a:extLst xmlns:a="http://schemas.openxmlformats.org/drawingml/2006/main">
              <a:ext uri="{FF2B5EF4-FFF2-40B4-BE49-F238E27FC236}">
                <a16:creationId xmlns:a16="http://schemas.microsoft.com/office/drawing/2014/main" id="{90A0E5AB-E36F-4E79-827E-3FCA71AA078E}"/>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7" name="">
            <a:extLst xmlns:a="http://schemas.openxmlformats.org/drawingml/2006/main">
              <a:ext uri="{FF2B5EF4-FFF2-40B4-BE49-F238E27FC236}">
                <a16:creationId xmlns:a16="http://schemas.microsoft.com/office/drawing/2014/main" id="{54FA1356-10E3-45BE-A1A2-02892A94BFF5}"/>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Prove one wedge before building the platform.</a:t>
            </a:r>
          </a:p>
        </p:txBody>
      </p:sp>
      <p:sp>
        <p:nvSpPr>
          <p:cNvPr id="8" name="">
            <a:extLst xmlns:a="http://schemas.openxmlformats.org/drawingml/2006/main">
              <a:ext uri="{FF2B5EF4-FFF2-40B4-BE49-F238E27FC236}">
                <a16:creationId xmlns:a16="http://schemas.microsoft.com/office/drawing/2014/main" id="{C53A0D9E-4CC1-4E43-AF37-9D5447C56D0A}"/>
              </a:ext>
            </a:extLst>
          </p:cNvPr>
          <p:cNvSpPr>
            <a:spLocks xmlns:a="http://schemas.openxmlformats.org/drawingml/2006/main" noGrp="1"/>
          </p:cNvSpPr>
          <p:nvPr/>
        </p:nvSpPr>
        <p:spPr>
          <a:xfrm xmlns:a="http://schemas.openxmlformats.org/drawingml/2006/main" rot="0">
            <a:off x="609600" y="1390650"/>
            <a:ext cx="704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A6A3A0"/>
                </a:solidFill>
                <a:latin typeface="Arial"/>
                <a:ea typeface="Arial"/>
                <a:cs typeface="Arial"/>
              </a:defRPr>
            </a:pPr>
            <a:r>
              <a:rPr sz="1650" b="0">
                <a:solidFill>
                  <a:srgbClr val="A6A3A0"/>
                </a:solidFill>
                <a:latin typeface="Arial"/>
                <a:ea typeface="Arial"/>
                <a:cs typeface="Arial"/>
              </a:rPr>
              <a:t>The next round of evidence is commercial, not theatrical.</a:t>
            </a:r>
          </a:p>
        </p:txBody>
      </p:sp>
      <p:sp>
        <p:nvSpPr>
          <p:cNvPr id="9" name="">
            <a:extLst xmlns:a="http://schemas.openxmlformats.org/drawingml/2006/main">
              <a:ext uri="{FF2B5EF4-FFF2-40B4-BE49-F238E27FC236}">
                <a16:creationId xmlns:a16="http://schemas.microsoft.com/office/drawing/2014/main" id="{2641B1D0-CD70-4C1A-B955-DB84169B5F55}"/>
              </a:ext>
            </a:extLst>
          </p:cNvPr>
          <p:cNvSpPr>
            <a:spLocks xmlns:a="http://schemas.openxmlformats.org/drawingml/2006/main" noGrp="1"/>
          </p:cNvSpPr>
          <p:nvPr/>
        </p:nvSpPr>
        <p:spPr>
          <a:xfrm xmlns:a="http://schemas.openxmlformats.org/drawingml/2006/main">
            <a:off x="876300" y="2305050"/>
            <a:ext cx="8972550" cy="0"/>
          </a:xfrm>
          <a:prstGeom xmlns:a="http://schemas.openxmlformats.org/drawingml/2006/main" prst="line">
            <a:avLst/>
          </a:prstGeom>
          <a:noFill xmlns:a="http://schemas.openxmlformats.org/drawingml/2006/main"/>
          <a:ln xmlns:a="http://schemas.openxmlformats.org/drawingml/2006/main" w="28575">
            <a:solidFill>
              <a:srgbClr val="333337"/>
            </a:solidFill>
            <a:prstDash val="solid"/>
          </a:ln>
        </p:spPr>
      </p:sp>
      <p:sp>
        <p:nvSpPr>
          <p:cNvPr id="10" name="">
            <a:extLst xmlns:a="http://schemas.openxmlformats.org/drawingml/2006/main">
              <a:ext uri="{FF2B5EF4-FFF2-40B4-BE49-F238E27FC236}">
                <a16:creationId xmlns:a16="http://schemas.microsoft.com/office/drawing/2014/main" id="{C17802A4-C3A7-4EC2-9CB8-FF5B1965259D}"/>
              </a:ext>
            </a:extLst>
          </p:cNvPr>
          <p:cNvSpPr>
            <a:spLocks xmlns:a="http://schemas.openxmlformats.org/drawingml/2006/main" noGrp="1"/>
          </p:cNvSpPr>
          <p:nvPr/>
        </p:nvSpPr>
        <p:spPr>
          <a:xfrm xmlns:a="http://schemas.openxmlformats.org/drawingml/2006/main" rot="0">
            <a:off x="771525" y="2200275"/>
            <a:ext cx="209550" cy="209550"/>
          </a:xfrm>
          <a:prstGeom xmlns:a="http://schemas.openxmlformats.org/drawingml/2006/main" prst="ellipse">
            <a:avLst/>
          </a:prstGeom>
          <a:solidFill xmlns:a="http://schemas.openxmlformats.org/drawingml/2006/main">
            <a:srgbClr val="FF5B22"/>
          </a:solidFill>
          <a:ln xmlns:a="http://schemas.openxmlformats.org/drawingml/2006/main" w="28575">
            <a:solidFill>
              <a:srgbClr val="FF5B22"/>
            </a:solidFill>
            <a:prstDash val="solid"/>
          </a:ln>
        </p:spPr>
      </p:sp>
      <p:sp>
        <p:nvSpPr>
          <p:cNvPr id="11" name="">
            <a:extLst xmlns:a="http://schemas.openxmlformats.org/drawingml/2006/main">
              <a:ext uri="{FF2B5EF4-FFF2-40B4-BE49-F238E27FC236}">
                <a16:creationId xmlns:a16="http://schemas.microsoft.com/office/drawing/2014/main" id="{C2EE0C18-A264-4AA8-9B55-22541228FFD4}"/>
              </a:ext>
            </a:extLst>
          </p:cNvPr>
          <p:cNvSpPr>
            <a:spLocks xmlns:a="http://schemas.openxmlformats.org/drawingml/2006/main" noGrp="1"/>
          </p:cNvSpPr>
          <p:nvPr/>
        </p:nvSpPr>
        <p:spPr>
          <a:xfrm xmlns:a="http://schemas.openxmlformats.org/drawingml/2006/main" rot="0">
            <a:off x="32385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WORKING DEMO</a:t>
            </a:r>
          </a:p>
        </p:txBody>
      </p:sp>
      <p:sp>
        <p:nvSpPr>
          <p:cNvPr id="12" name="">
            <a:extLst xmlns:a="http://schemas.openxmlformats.org/drawingml/2006/main">
              <a:ext uri="{FF2B5EF4-FFF2-40B4-BE49-F238E27FC236}">
                <a16:creationId xmlns:a16="http://schemas.microsoft.com/office/drawing/2014/main" id="{96214333-560A-4B28-8205-125C6A7FADA0}"/>
              </a:ext>
            </a:extLst>
          </p:cNvPr>
          <p:cNvSpPr>
            <a:spLocks xmlns:a="http://schemas.openxmlformats.org/drawingml/2006/main" noGrp="1"/>
          </p:cNvSpPr>
          <p:nvPr/>
        </p:nvSpPr>
        <p:spPr>
          <a:xfrm xmlns:a="http://schemas.openxmlformats.org/drawingml/2006/main" rot="0">
            <a:off x="32385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FF5B22"/>
                </a:solidFill>
                <a:latin typeface="Courier New"/>
                <a:ea typeface="Courier New"/>
                <a:cs typeface="Courier New"/>
              </a:defRPr>
            </a:pPr>
            <a:r>
              <a:rPr sz="900" b="1">
                <a:solidFill>
                  <a:srgbClr val="FF5B22"/>
                </a:solidFill>
                <a:latin typeface="Courier New"/>
                <a:ea typeface="Courier New"/>
                <a:cs typeface="Courier New"/>
              </a:rPr>
              <a:t>COMPLETE</a:t>
            </a:r>
          </a:p>
        </p:txBody>
      </p:sp>
      <p:sp>
        <p:nvSpPr>
          <p:cNvPr id="13" name="">
            <a:extLst xmlns:a="http://schemas.openxmlformats.org/drawingml/2006/main">
              <a:ext uri="{FF2B5EF4-FFF2-40B4-BE49-F238E27FC236}">
                <a16:creationId xmlns:a16="http://schemas.microsoft.com/office/drawing/2014/main" id="{ABC8B1D1-3F85-493A-96A4-D212BC3A8C65}"/>
              </a:ext>
            </a:extLst>
          </p:cNvPr>
          <p:cNvSpPr>
            <a:spLocks xmlns:a="http://schemas.openxmlformats.org/drawingml/2006/main" noGrp="1"/>
          </p:cNvSpPr>
          <p:nvPr/>
        </p:nvSpPr>
        <p:spPr>
          <a:xfrm xmlns:a="http://schemas.openxmlformats.org/drawingml/2006/main" rot="0">
            <a:off x="3762375" y="2200275"/>
            <a:ext cx="209550" cy="209550"/>
          </a:xfrm>
          <a:prstGeom xmlns:a="http://schemas.openxmlformats.org/drawingml/2006/main" prst="ellipse">
            <a:avLst/>
          </a:prstGeom>
          <a:solidFill xmlns:a="http://schemas.openxmlformats.org/drawingml/2006/main">
            <a:srgbClr val="0D0D0F"/>
          </a:solidFill>
          <a:ln xmlns:a="http://schemas.openxmlformats.org/drawingml/2006/main" w="28575">
            <a:solidFill>
              <a:srgbClr val="333337"/>
            </a:solidFill>
            <a:prstDash val="solid"/>
          </a:ln>
        </p:spPr>
      </p:sp>
      <p:sp>
        <p:nvSpPr>
          <p:cNvPr id="14" name="">
            <a:extLst xmlns:a="http://schemas.openxmlformats.org/drawingml/2006/main">
              <a:ext uri="{FF2B5EF4-FFF2-40B4-BE49-F238E27FC236}">
                <a16:creationId xmlns:a16="http://schemas.microsoft.com/office/drawing/2014/main" id="{47DE3C6A-8B6F-45D4-A8B8-F69B382482B9}"/>
              </a:ext>
            </a:extLst>
          </p:cNvPr>
          <p:cNvSpPr>
            <a:spLocks xmlns:a="http://schemas.openxmlformats.org/drawingml/2006/main" noGrp="1"/>
          </p:cNvSpPr>
          <p:nvPr/>
        </p:nvSpPr>
        <p:spPr>
          <a:xfrm xmlns:a="http://schemas.openxmlformats.org/drawingml/2006/main" rot="0">
            <a:off x="331470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a:solidFill>
                  <a:srgbClr val="F4F3EF"/>
                </a:solidFill>
                <a:latin typeface="Courier New"/>
                <a:ea typeface="Courier New"/>
                <a:cs typeface="Courier New"/>
              </a:defRPr>
            </a:pPr>
            <a:r>
              <a:rPr sz="1050" b="1">
                <a:solidFill>
                  <a:srgbClr val="F4F3EF"/>
                </a:solidFill>
                <a:latin typeface="Courier New"/>
                <a:ea typeface="Courier New"/>
                <a:cs typeface="Courier New"/>
              </a:rPr>
              <a:t>DESIGN PARTNER</a:t>
            </a:r>
          </a:p>
        </p:txBody>
      </p:sp>
      <p:sp>
        <p:nvSpPr>
          <p:cNvPr id="15" name="">
            <a:extLst xmlns:a="http://schemas.openxmlformats.org/drawingml/2006/main">
              <a:ext uri="{FF2B5EF4-FFF2-40B4-BE49-F238E27FC236}">
                <a16:creationId xmlns:a16="http://schemas.microsoft.com/office/drawing/2014/main" id="{F0F54FB0-4263-4E82-B7C6-6EFDDBEA7868}"/>
              </a:ext>
            </a:extLst>
          </p:cNvPr>
          <p:cNvSpPr>
            <a:spLocks xmlns:a="http://schemas.openxmlformats.org/drawingml/2006/main" noGrp="1"/>
          </p:cNvSpPr>
          <p:nvPr/>
        </p:nvSpPr>
        <p:spPr>
          <a:xfrm xmlns:a="http://schemas.openxmlformats.org/drawingml/2006/main" rot="0">
            <a:off x="331470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900" b="1">
                <a:solidFill>
                  <a:srgbClr val="6F6D6B"/>
                </a:solidFill>
                <a:latin typeface="Courier New"/>
                <a:ea typeface="Courier New"/>
                <a:cs typeface="Courier New"/>
              </a:defRPr>
            </a:pPr>
            <a:r>
              <a:rPr sz="900" b="1">
                <a:solidFill>
                  <a:srgbClr val="6F6D6B"/>
                </a:solidFill>
                <a:latin typeface="Courier New"/>
                <a:ea typeface="Courier New"/>
                <a:cs typeface="Courier New"/>
              </a:rPr>
              <a:t>TARGET</a:t>
            </a:r>
          </a:p>
        </p:txBody>
      </p:sp>
      <p:sp>
        <p:nvSpPr>
          <p:cNvPr id="16" name="">
            <a:extLst xmlns:a="http://schemas.openxmlformats.org/drawingml/2006/main">
              <a:ext uri="{FF2B5EF4-FFF2-40B4-BE49-F238E27FC236}">
                <a16:creationId xmlns:a16="http://schemas.microsoft.com/office/drawing/2014/main" id="{AFF3A65C-2A49-40D4-8A2A-6A27275EE9A8}"/>
              </a:ext>
            </a:extLst>
          </p:cNvPr>
          <p:cNvSpPr>
            <a:spLocks xmlns:a="http://schemas.openxmlformats.org/drawingml/2006/main" noGrp="1"/>
          </p:cNvSpPr>
          <p:nvPr/>
        </p:nvSpPr>
        <p:spPr>
          <a:xfrm xmlns:a="http://schemas.openxmlformats.org/drawingml/2006/main" rot="0">
            <a:off x="6753225" y="2200275"/>
            <a:ext cx="209550" cy="209550"/>
          </a:xfrm>
          <a:prstGeom xmlns:a="http://schemas.openxmlformats.org/drawingml/2006/main" prst="ellipse">
            <a:avLst/>
          </a:prstGeom>
          <a:solidFill xmlns:a="http://schemas.openxmlformats.org/drawingml/2006/main">
            <a:srgbClr val="0D0D0F"/>
          </a:solidFill>
          <a:ln xmlns:a="http://schemas.openxmlformats.org/drawingml/2006/main" w="28575">
            <a:solidFill>
              <a:srgbClr val="333337"/>
            </a:solidFill>
            <a:prstDash val="solid"/>
          </a:ln>
        </p:spPr>
      </p:sp>
      <p:sp>
        <p:nvSpPr>
          <p:cNvPr id="17" name="">
            <a:extLst xmlns:a="http://schemas.openxmlformats.org/drawingml/2006/main">
              <a:ext uri="{FF2B5EF4-FFF2-40B4-BE49-F238E27FC236}">
                <a16:creationId xmlns:a16="http://schemas.microsoft.com/office/drawing/2014/main" id="{66258927-9B8B-4A48-96FE-A67167941D6F}"/>
              </a:ext>
            </a:extLst>
          </p:cNvPr>
          <p:cNvSpPr>
            <a:spLocks xmlns:a="http://schemas.openxmlformats.org/drawingml/2006/main" noGrp="1"/>
          </p:cNvSpPr>
          <p:nvPr/>
        </p:nvSpPr>
        <p:spPr>
          <a:xfrm xmlns:a="http://schemas.openxmlformats.org/drawingml/2006/main" rot="0">
            <a:off x="630555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a:solidFill>
                  <a:srgbClr val="F4F3EF"/>
                </a:solidFill>
                <a:latin typeface="Courier New"/>
                <a:ea typeface="Courier New"/>
                <a:cs typeface="Courier New"/>
              </a:defRPr>
            </a:pPr>
            <a:r>
              <a:rPr sz="1050" b="1">
                <a:solidFill>
                  <a:srgbClr val="F4F3EF"/>
                </a:solidFill>
                <a:latin typeface="Courier New"/>
                <a:ea typeface="Courier New"/>
                <a:cs typeface="Courier New"/>
              </a:rPr>
              <a:t>PAID PILOT</a:t>
            </a:r>
          </a:p>
        </p:txBody>
      </p:sp>
      <p:sp>
        <p:nvSpPr>
          <p:cNvPr id="18" name="">
            <a:extLst xmlns:a="http://schemas.openxmlformats.org/drawingml/2006/main">
              <a:ext uri="{FF2B5EF4-FFF2-40B4-BE49-F238E27FC236}">
                <a16:creationId xmlns:a16="http://schemas.microsoft.com/office/drawing/2014/main" id="{AE8A1E4C-4A83-4EFC-B450-39CCA65B651C}"/>
              </a:ext>
            </a:extLst>
          </p:cNvPr>
          <p:cNvSpPr>
            <a:spLocks xmlns:a="http://schemas.openxmlformats.org/drawingml/2006/main" noGrp="1"/>
          </p:cNvSpPr>
          <p:nvPr/>
        </p:nvSpPr>
        <p:spPr>
          <a:xfrm xmlns:a="http://schemas.openxmlformats.org/drawingml/2006/main" rot="0">
            <a:off x="630555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900" b="1">
                <a:solidFill>
                  <a:srgbClr val="6F6D6B"/>
                </a:solidFill>
                <a:latin typeface="Courier New"/>
                <a:ea typeface="Courier New"/>
                <a:cs typeface="Courier New"/>
              </a:defRPr>
            </a:pPr>
            <a:r>
              <a:rPr sz="900" b="1">
                <a:solidFill>
                  <a:srgbClr val="6F6D6B"/>
                </a:solidFill>
                <a:latin typeface="Courier New"/>
                <a:ea typeface="Courier New"/>
                <a:cs typeface="Courier New"/>
              </a:rPr>
              <a:t>TARGET</a:t>
            </a:r>
          </a:p>
        </p:txBody>
      </p:sp>
      <p:sp>
        <p:nvSpPr>
          <p:cNvPr id="19" name="">
            <a:extLst xmlns:a="http://schemas.openxmlformats.org/drawingml/2006/main">
              <a:ext uri="{FF2B5EF4-FFF2-40B4-BE49-F238E27FC236}">
                <a16:creationId xmlns:a16="http://schemas.microsoft.com/office/drawing/2014/main" id="{5E151705-A246-4FB4-8139-F752285CE364}"/>
              </a:ext>
            </a:extLst>
          </p:cNvPr>
          <p:cNvSpPr>
            <a:spLocks xmlns:a="http://schemas.openxmlformats.org/drawingml/2006/main" noGrp="1"/>
          </p:cNvSpPr>
          <p:nvPr/>
        </p:nvSpPr>
        <p:spPr>
          <a:xfrm xmlns:a="http://schemas.openxmlformats.org/drawingml/2006/main" rot="0">
            <a:off x="9744075" y="2200275"/>
            <a:ext cx="209550" cy="209550"/>
          </a:xfrm>
          <a:prstGeom xmlns:a="http://schemas.openxmlformats.org/drawingml/2006/main" prst="ellipse">
            <a:avLst/>
          </a:prstGeom>
          <a:solidFill xmlns:a="http://schemas.openxmlformats.org/drawingml/2006/main">
            <a:srgbClr val="0D0D0F"/>
          </a:solidFill>
          <a:ln xmlns:a="http://schemas.openxmlformats.org/drawingml/2006/main" w="28575">
            <a:solidFill>
              <a:srgbClr val="333337"/>
            </a:solidFill>
            <a:prstDash val="solid"/>
          </a:ln>
        </p:spPr>
      </p:sp>
      <p:sp>
        <p:nvSpPr>
          <p:cNvPr id="20" name="">
            <a:extLst xmlns:a="http://schemas.openxmlformats.org/drawingml/2006/main">
              <a:ext uri="{FF2B5EF4-FFF2-40B4-BE49-F238E27FC236}">
                <a16:creationId xmlns:a16="http://schemas.microsoft.com/office/drawing/2014/main" id="{C40021B3-40CF-4D33-BCC6-F7E30B26C4FD}"/>
              </a:ext>
            </a:extLst>
          </p:cNvPr>
          <p:cNvSpPr>
            <a:spLocks xmlns:a="http://schemas.openxmlformats.org/drawingml/2006/main" noGrp="1"/>
          </p:cNvSpPr>
          <p:nvPr/>
        </p:nvSpPr>
        <p:spPr>
          <a:xfrm xmlns:a="http://schemas.openxmlformats.org/drawingml/2006/main" rot="0">
            <a:off x="929640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1">
                <a:solidFill>
                  <a:srgbClr val="F4F3EF"/>
                </a:solidFill>
                <a:latin typeface="Courier New"/>
                <a:ea typeface="Courier New"/>
                <a:cs typeface="Courier New"/>
              </a:defRPr>
            </a:pPr>
            <a:r>
              <a:rPr sz="1050" b="1">
                <a:solidFill>
                  <a:srgbClr val="F4F3EF"/>
                </a:solidFill>
                <a:latin typeface="Courier New"/>
                <a:ea typeface="Courier New"/>
                <a:cs typeface="Courier New"/>
              </a:rPr>
              <a:t>REPEATABLE MISSION</a:t>
            </a:r>
          </a:p>
        </p:txBody>
      </p:sp>
      <p:sp>
        <p:nvSpPr>
          <p:cNvPr id="21" name="">
            <a:extLst xmlns:a="http://schemas.openxmlformats.org/drawingml/2006/main">
              <a:ext uri="{FF2B5EF4-FFF2-40B4-BE49-F238E27FC236}">
                <a16:creationId xmlns:a16="http://schemas.microsoft.com/office/drawing/2014/main" id="{C8730B8A-CEB2-4055-B5BA-91DA57D1D023}"/>
              </a:ext>
            </a:extLst>
          </p:cNvPr>
          <p:cNvSpPr>
            <a:spLocks xmlns:a="http://schemas.openxmlformats.org/drawingml/2006/main" noGrp="1"/>
          </p:cNvSpPr>
          <p:nvPr/>
        </p:nvSpPr>
        <p:spPr>
          <a:xfrm xmlns:a="http://schemas.openxmlformats.org/drawingml/2006/main" rot="0">
            <a:off x="929640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a:solidFill>
                  <a:srgbClr val="6F6D6B"/>
                </a:solidFill>
                <a:latin typeface="Courier New"/>
                <a:ea typeface="Courier New"/>
                <a:cs typeface="Courier New"/>
              </a:defRPr>
            </a:pPr>
            <a:r>
              <a:rPr sz="900" b="1">
                <a:solidFill>
                  <a:srgbClr val="6F6D6B"/>
                </a:solidFill>
                <a:latin typeface="Courier New"/>
                <a:ea typeface="Courier New"/>
                <a:cs typeface="Courier New"/>
              </a:rPr>
              <a:t>TARGET</a:t>
            </a:r>
          </a:p>
        </p:txBody>
      </p:sp>
      <p:sp>
        <p:nvSpPr>
          <p:cNvPr id="22" name="">
            <a:extLst xmlns:a="http://schemas.openxmlformats.org/drawingml/2006/main">
              <a:ext uri="{FF2B5EF4-FFF2-40B4-BE49-F238E27FC236}">
                <a16:creationId xmlns:a16="http://schemas.microsoft.com/office/drawing/2014/main" id="{9D25095B-0488-4A0F-8860-36FAF0583B58}"/>
              </a:ext>
            </a:extLst>
          </p:cNvPr>
          <p:cNvSpPr>
            <a:spLocks xmlns:a="http://schemas.openxmlformats.org/drawingml/2006/main" noGrp="1"/>
          </p:cNvSpPr>
          <p:nvPr/>
        </p:nvSpPr>
        <p:spPr>
          <a:xfrm xmlns:a="http://schemas.openxmlformats.org/drawingml/2006/main" rot="0">
            <a:off x="609600" y="356235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WORKING TODAY</a:t>
            </a:r>
          </a:p>
        </p:txBody>
      </p:sp>
      <p:sp>
        <p:nvSpPr>
          <p:cNvPr id="23" name="">
            <a:extLst xmlns:a="http://schemas.openxmlformats.org/drawingml/2006/main">
              <a:ext uri="{FF2B5EF4-FFF2-40B4-BE49-F238E27FC236}">
                <a16:creationId xmlns:a16="http://schemas.microsoft.com/office/drawing/2014/main" id="{F028310E-CDE2-42A3-B803-4EAB60B2159B}"/>
              </a:ext>
            </a:extLst>
          </p:cNvPr>
          <p:cNvSpPr>
            <a:spLocks xmlns:a="http://schemas.openxmlformats.org/drawingml/2006/main" noGrp="1"/>
          </p:cNvSpPr>
          <p:nvPr/>
        </p:nvSpPr>
        <p:spPr>
          <a:xfrm xmlns:a="http://schemas.openxmlformats.org/drawingml/2006/main" rot="0">
            <a:off x="609600" y="3876675"/>
            <a:ext cx="495300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Reproducible synthetic Morrow Coffee mission</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1,024-probe ledger across five families</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Human-approved Skeptic replay</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Prioritized evidence action queue</a:t>
            </a:r>
          </a:p>
        </p:txBody>
      </p:sp>
      <p:sp>
        <p:nvSpPr>
          <p:cNvPr id="24" name="">
            <a:extLst xmlns:a="http://schemas.openxmlformats.org/drawingml/2006/main">
              <a:ext uri="{FF2B5EF4-FFF2-40B4-BE49-F238E27FC236}">
                <a16:creationId xmlns:a16="http://schemas.microsoft.com/office/drawing/2014/main" id="{F4D59240-0665-449A-90C4-12547F6B0183}"/>
              </a:ext>
            </a:extLst>
          </p:cNvPr>
          <p:cNvSpPr>
            <a:spLocks xmlns:a="http://schemas.openxmlformats.org/drawingml/2006/main" noGrp="1"/>
          </p:cNvSpPr>
          <p:nvPr/>
        </p:nvSpPr>
        <p:spPr>
          <a:xfrm xmlns:a="http://schemas.openxmlformats.org/drawingml/2006/main">
            <a:off x="5962650" y="3533775"/>
            <a:ext cx="0" cy="180975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5" name="">
            <a:extLst xmlns:a="http://schemas.openxmlformats.org/drawingml/2006/main">
              <a:ext uri="{FF2B5EF4-FFF2-40B4-BE49-F238E27FC236}">
                <a16:creationId xmlns:a16="http://schemas.microsoft.com/office/drawing/2014/main" id="{93BC350A-6D39-4DC1-B8F5-AE3949C52504}"/>
              </a:ext>
            </a:extLst>
          </p:cNvPr>
          <p:cNvSpPr>
            <a:spLocks xmlns:a="http://schemas.openxmlformats.org/drawingml/2006/main" noGrp="1"/>
          </p:cNvSpPr>
          <p:nvPr/>
        </p:nvSpPr>
        <p:spPr>
          <a:xfrm xmlns:a="http://schemas.openxmlformats.org/drawingml/2006/main" rot="0">
            <a:off x="6419850" y="356235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NEXT PROOF POINTS</a:t>
            </a:r>
          </a:p>
        </p:txBody>
      </p:sp>
      <p:sp>
        <p:nvSpPr>
          <p:cNvPr id="26" name="">
            <a:extLst xmlns:a="http://schemas.openxmlformats.org/drawingml/2006/main">
              <a:ext uri="{FF2B5EF4-FFF2-40B4-BE49-F238E27FC236}">
                <a16:creationId xmlns:a16="http://schemas.microsoft.com/office/drawing/2014/main" id="{8A554E32-7431-4E91-87BA-65E058AF63A8}"/>
              </a:ext>
            </a:extLst>
          </p:cNvPr>
          <p:cNvSpPr>
            <a:spLocks xmlns:a="http://schemas.openxmlformats.org/drawingml/2006/main" noGrp="1"/>
          </p:cNvSpPr>
          <p:nvPr/>
        </p:nvSpPr>
        <p:spPr>
          <a:xfrm xmlns:a="http://schemas.openxmlformats.org/drawingml/2006/main" rot="0">
            <a:off x="6419850" y="3876675"/>
            <a:ext cx="51625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Reproducible synthetic benchmark</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3 design partners</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1 paid authorized pilot</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1 licensed or customer-authorized connector</a:t>
            </a:r>
          </a:p>
        </p:txBody>
      </p:sp>
      <p:sp>
        <p:nvSpPr>
          <p:cNvPr id="27" name="">
            <a:extLst xmlns:a="http://schemas.openxmlformats.org/drawingml/2006/main">
              <a:ext uri="{FF2B5EF4-FFF2-40B4-BE49-F238E27FC236}">
                <a16:creationId xmlns:a16="http://schemas.microsoft.com/office/drawing/2014/main" id="{026A1C73-6A88-4577-A114-012C3F96A0BF}"/>
              </a:ext>
            </a:extLst>
          </p:cNvPr>
          <p:cNvSpPr>
            <a:spLocks xmlns:a="http://schemas.openxmlformats.org/drawingml/2006/main" noGrp="1"/>
          </p:cNvSpPr>
          <p:nvPr/>
        </p:nvSpPr>
        <p:spPr>
          <a:xfrm xmlns:a="http://schemas.openxmlformats.org/drawingml/2006/main" rot="0">
            <a:off x="609600" y="5572125"/>
            <a:ext cx="10972800" cy="638175"/>
          </a:xfrm>
          <a:prstGeom xmlns:a="http://schemas.openxmlformats.org/drawingml/2006/main" prst="roundRect">
            <a:avLst>
              <a:gd name="adj" fmla="val 14925"/>
            </a:avLst>
          </a:prstGeom>
          <a:solidFill xmlns:a="http://schemas.openxmlformats.org/drawingml/2006/main">
            <a:srgbClr val="FF5B22"/>
          </a:solidFill>
          <a:ln xmlns:a="http://schemas.openxmlformats.org/drawingml/2006/main" w="0">
            <a:solidFill>
              <a:srgbClr val="FF5B22"/>
            </a:solidFill>
            <a:prstDash val="solid"/>
          </a:ln>
        </p:spPr>
      </p:sp>
      <p:sp>
        <p:nvSpPr>
          <p:cNvPr id="28" name="">
            <a:extLst xmlns:a="http://schemas.openxmlformats.org/drawingml/2006/main">
              <a:ext uri="{FF2B5EF4-FFF2-40B4-BE49-F238E27FC236}">
                <a16:creationId xmlns:a16="http://schemas.microsoft.com/office/drawing/2014/main" id="{8041E606-0591-4DE1-A486-25F329EA9CF2}"/>
              </a:ext>
            </a:extLst>
          </p:cNvPr>
          <p:cNvSpPr>
            <a:spLocks xmlns:a="http://schemas.openxmlformats.org/drawingml/2006/main" noGrp="1"/>
          </p:cNvSpPr>
          <p:nvPr/>
        </p:nvSpPr>
        <p:spPr>
          <a:xfrm xmlns:a="http://schemas.openxmlformats.org/drawingml/2006/main" rot="0">
            <a:off x="838200" y="57340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080809"/>
                </a:solidFill>
                <a:latin typeface="Courier New"/>
                <a:ea typeface="Courier New"/>
                <a:cs typeface="Courier New"/>
              </a:defRPr>
            </a:pPr>
            <a:r>
              <a:rPr sz="1200" b="1">
                <a:solidFill>
                  <a:srgbClr val="080809"/>
                </a:solidFill>
                <a:latin typeface="Courier New"/>
                <a:ea typeface="Courier New"/>
                <a:cs typeface="Courier New"/>
              </a:rPr>
              <a:t>SEED ROUND</a:t>
            </a:r>
          </a:p>
        </p:txBody>
      </p:sp>
      <p:sp>
        <p:nvSpPr>
          <p:cNvPr id="29" name="">
            <a:extLst xmlns:a="http://schemas.openxmlformats.org/drawingml/2006/main">
              <a:ext uri="{FF2B5EF4-FFF2-40B4-BE49-F238E27FC236}">
                <a16:creationId xmlns:a16="http://schemas.microsoft.com/office/drawing/2014/main" id="{54917209-4660-4852-9938-A9AB60FF612D}"/>
              </a:ext>
            </a:extLst>
          </p:cNvPr>
          <p:cNvSpPr>
            <a:spLocks xmlns:a="http://schemas.openxmlformats.org/drawingml/2006/main" noGrp="1"/>
          </p:cNvSpPr>
          <p:nvPr/>
        </p:nvSpPr>
        <p:spPr>
          <a:xfrm xmlns:a="http://schemas.openxmlformats.org/drawingml/2006/main" rot="0">
            <a:off x="2533650" y="5734050"/>
            <a:ext cx="3867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080809"/>
                </a:solidFill>
                <a:latin typeface="Arial"/>
                <a:ea typeface="Arial"/>
                <a:cs typeface="Arial"/>
              </a:defRPr>
            </a:pPr>
            <a:r>
              <a:rPr sz="1350" b="1">
                <a:solidFill>
                  <a:srgbClr val="080809"/>
                </a:solidFill>
                <a:latin typeface="Arial"/>
                <a:ea typeface="Arial"/>
                <a:cs typeface="Arial"/>
              </a:rPr>
              <a:t>Terms and founder details shared privately</a:t>
            </a:r>
          </a:p>
        </p:txBody>
      </p:sp>
      <p:sp>
        <p:nvSpPr>
          <p:cNvPr id="30" name="">
            <a:extLst xmlns:a="http://schemas.openxmlformats.org/drawingml/2006/main">
              <a:ext uri="{FF2B5EF4-FFF2-40B4-BE49-F238E27FC236}">
                <a16:creationId xmlns:a16="http://schemas.microsoft.com/office/drawing/2014/main" id="{EFF926BC-DFF7-42E8-BB85-65467AC3EB9B}"/>
              </a:ext>
            </a:extLst>
          </p:cNvPr>
          <p:cNvSpPr>
            <a:spLocks xmlns:a="http://schemas.openxmlformats.org/drawingml/2006/main" noGrp="1"/>
          </p:cNvSpPr>
          <p:nvPr/>
        </p:nvSpPr>
        <p:spPr>
          <a:xfrm xmlns:a="http://schemas.openxmlformats.org/drawingml/2006/main" rot="0">
            <a:off x="6572250" y="56769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316"/>
          </a:bodyPr>
          <a:lstStyle xmlns:a="http://schemas.openxmlformats.org/drawingml/2006/main"/>
          <a:p xmlns:a="http://schemas.openxmlformats.org/drawingml/2006/main">
            <a:pPr algn="r">
              <a:lnSpc>
                <a:spcPct val="102000"/>
              </a:lnSpc>
              <a:buNone/>
              <a:defRPr sz="1350" b="1">
                <a:solidFill>
                  <a:srgbClr val="080809"/>
                </a:solidFill>
                <a:latin typeface="Arial"/>
                <a:ea typeface="Arial"/>
                <a:cs typeface="Arial"/>
              </a:defRPr>
            </a:pPr>
            <a:r>
              <a:rPr sz="1350" b="1">
                <a:solidFill>
                  <a:srgbClr val="080809"/>
                </a:solidFill>
                <a:latin typeface="Arial"/>
                <a:ea typeface="Arial"/>
                <a:cs typeface="Arial"/>
              </a:rPr>
              <a:t>Help us prove decision-changing contradictions with a better evidence trail.</a:t>
            </a:r>
          </a:p>
        </p:txBody>
      </p:sp>
    </p:spTree>
    <p:extLst>
      <p:ext uri="{BB962C8B-B14F-4D97-AF65-F5344CB8AC3E}">
        <p14:creationId xmlns:p14="http://schemas.microsoft.com/office/powerpoint/2010/main" val="13469828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2026-07-26T18:00:22.4920000Z</dcterms:created>
  <dcterms:modified xsi:type="dcterms:W3CDTF">2026-07-26T18:00:22.4920000Z</dcterms:modified>
</coreProperties>
</file>